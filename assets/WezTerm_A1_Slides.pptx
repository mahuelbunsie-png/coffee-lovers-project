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12192000"/>
  <p:embeddedFontLst>
    <p:embeddedFont>
      <p:font typeface="IBM Plex Sans"/>
      <p:regular r:id="rId24"/>
      <p:bold r:id="rId25"/>
      <p:italic r:id="rId26"/>
      <p:boldItalic r:id="rId27"/>
    </p:embeddedFont>
    <p:embeddedFont>
      <p:font typeface="JetBrains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MFFA4v4epjSWBH2+vg8CLGAfX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827639-78F7-40E3-955D-C64A3DE856FC}">
  <a:tblStyle styleId="{E7827639-78F7-40E3-955D-C64A3DE856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italic.fntdata"/><Relationship Id="rId25" Type="http://schemas.openxmlformats.org/officeDocument/2006/relationships/font" Target="fonts/IBMPlexSans-bold.fntdata"/><Relationship Id="rId28" Type="http://schemas.openxmlformats.org/officeDocument/2006/relationships/font" Target="fonts/JetBrainsMono-regular.fntdata"/><Relationship Id="rId27" Type="http://schemas.openxmlformats.org/officeDocument/2006/relationships/font" Target="fonts/IBMPlex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JetBrainsMon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JetBrainsMono-boldItalic.fntdata"/><Relationship Id="rId30" Type="http://schemas.openxmlformats.org/officeDocument/2006/relationships/font" Target="fonts/JetBrainsMono-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 Introduce the topic: the conceptual architecture of WezTerm, an open-source, cross-platform terminal emulator and multiplexer written in Rust. We are Group 20 in CISC 322.</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h470f9343440a3d41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 name="Google Shape;30;h470f9343440a3d41_1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h470f9343440a3d41_1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h470f9343440a3d41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h470f9343440a3d41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 GUI and mux are separate because the mux can run without a GUI, so sessions survive and can be remote. The mux routes input to the active pane, and each pane is its own session, so programs run side by side. The PTY hides OS differences such as ConPTY on Windows. Lua config hooks into the GUI and mux without changing WezTerm's code.</a:t>
            </a:r>
            <a:endParaRPr/>
          </a:p>
        </p:txBody>
      </p:sp>
      <p:sp>
        <p:nvSpPr>
          <p:cNvPr id="39" name="Google Shape;39;h470f9343440a3d41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We worked in four steps. We read the official docs, then the repository layout, the mux source and the release history. We traced two use cases, running a command and splitting a pane, to see who does what. Finally we drew the diagrams and checked them against each other and the sources. Component names come straight from the docs.</a:t>
            </a:r>
            <a:endParaRPr/>
          </a:p>
        </p:txBody>
      </p:sp>
      <p:sp>
        <p:nvSpPr>
          <p:cNvPr id="47" name="Google Shape;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 Four layers. The GUI has input handling, which checks key bindings and encodes keys, and the renderer, which draws the screen. The mux owns windows, tabs, panes and domains, and can reach a remote mux server over a Unix socket, SSH or TLS. Each pane holds one session: it parses escape sequences and keeps screen state. The PTY connects it to the shell and apps. Lua configuration reaches into the GUI and the mux. Orange is input going down, blue is output coming up, and each layer only talks to its neighbours.</a:t>
            </a:r>
            <a:endParaRPr/>
          </a:p>
        </p:txBody>
      </p:sp>
      <p:sp>
        <p:nvSpPr>
          <p:cNvPr id="74" name="Google Shape;7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 GUI and mux are separate because the mux can run without a GUI, so sessions survive and can be remote. The mux routes input to the active pane, and each pane is its own session, so programs run side by side. The PTY hides OS differences such as ConPTY on Windows. Lua config hooks into the GUI and mux without changing WezTerm's code.</a:t>
            </a:r>
            <a:endParaRPr/>
          </a:p>
        </p:txBody>
      </p:sp>
      <p:sp>
        <p:nvSpPr>
          <p:cNvPr id="141" name="Google Shape;14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 The style is a hybrid. Mainly layered: GUI to mux to pane to PTY, each depending only on the layer below. Event-driven: key presses, program output and config reloads start the work. And client–server for remote sessions, since the mux server became its own program in 2020. That is why sessions outlive windows and remote works like local.</a:t>
            </a:r>
            <a:endParaRP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 Pipe-and-filter fits the output path but ignores user events and session management. Letting the GUI own its sessions is simpler but contradicts the docs, since the mux runs without a GUI. Pure client–server fits remote sessions only. So we chose layered plus event-driven, with client–server as a sub-style.</a:t>
            </a:r>
            <a:endParaRPr/>
          </a:p>
        </p:txBody>
      </p:sp>
      <p:sp>
        <p:nvSpPr>
          <p:cNvPr id="185" name="Google Shape;18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WezTerm started in 2018. In 2019 it gained a tab bar, SSH multiplexing and config hot-reload. In 2020 the mux server became its own program. In 2022 the mux was exposed to Lua and WebGpu was added as a third renderer. New features were added beside old ones, and the boundaries meant one change didn't require rewriting the rest.</a:t>
            </a:r>
            <a:endParaRPr/>
          </a:p>
        </p:txBody>
      </p:sp>
      <p:sp>
        <p:nvSpPr>
          <p:cNvPr id="196" name="Google Shape;1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~25 s. Control flow is event-driven. When a key is pressed, WezTerm first decides what it means. A key binding like split pane is handled by WezTerm itself; anything else becomes input for the program. The mux manages sessions and can exist without a GUI.</a:t>
            </a:r>
            <a:endParaRPr/>
          </a:p>
        </p:txBody>
      </p:sp>
      <p:sp>
        <p:nvSpPr>
          <p:cNvPr id="220" name="Google Shape;2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Data moves both ways. Typed keys go through the pane and PTY to the program. Output comes back the other way, but it includes escape sequences for colour and cursor movement, so WezTerm parses it into screen state before drawing. Shell integration also sends extras like the current directory.</a:t>
            </a:r>
            <a:endParaRPr/>
          </a:p>
        </p:txBody>
      </p:sp>
      <p:sp>
        <p:nvSpPr>
          <p:cNvPr id="244" name="Google Shape;24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 Reading from a PTY can block, so WezTerm reads in background threads and hands the bytes to parser threads, which update the pane and notify the GUI. Each stream stays with its own pane, in order, and shared mux data is synchronised. The GUI and a mux server can also be separate processes. In Lua, callbacks may run in different states, so globals aren't shared.</a:t>
            </a:r>
            <a:endParaRPr/>
          </a:p>
        </p:txBody>
      </p:sp>
      <p:sp>
        <p:nvSpPr>
          <p:cNvPr id="275" name="Google Shape;2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 Same components as the box diagram. The user types ls. No key binding matches, so the GUI encodes the keys and the mux routes them to the active pane. The pane writes to the PTY, the shell reads the line and starts ls. Note that ls writes its output straight to the PTY, not through the shell. A reader thread picks it up, the pane parses it, the mux notifies the GUI, and the result is drawn.</a:t>
            </a:r>
            <a:endParaRPr/>
          </a:p>
        </p:txBody>
      </p:sp>
      <p:sp>
        <p:nvSpPr>
          <p:cNvPr id="302" name="Google Shape;30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 Here the key is a shortcut, so the GUI runs the SplitPane action instead of sending input. The mux creates a new pane with its own PTY and starts the default shell. Its prompt is read and parsed, the mux adds the pane to the tab, and the GUI draws the new layout. Splitting creates a whole new session, not just a visual change.</a:t>
            </a:r>
            <a:endParaRPr/>
          </a:p>
        </p:txBody>
      </p:sp>
      <p:sp>
        <p:nvSpPr>
          <p:cNvPr id="358" name="Google Shape;35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h470f9343440a3d41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5" name="Google Shape;405;h470f9343440a3d41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h470f9343440a3d41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~25 s. Our view is mostly from documentation, so the real code may divide things differently. We didn't run or profile WezTerm. There's been no stable release since 2024. And both diagrams are local sessions. Next time we'd read more source and diagram a remote session.</a:t>
            </a:r>
            <a:endParaRPr/>
          </a:p>
        </p:txBody>
      </p:sp>
      <p:sp>
        <p:nvSpPr>
          <p:cNvPr id="432" name="Google Shape;4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Four lessons. The GUI–mux split is the key architectural decision. Tracing real use cases revealed responsibilities better than reading descriptions. Checking diagrams against each other kept our model consistent. And AI was useful as a support teammate, but the decisions stayed with us.</a:t>
            </a:r>
            <a:endParaRPr/>
          </a:p>
        </p:txBody>
      </p:sp>
      <p:sp>
        <p:nvSpPr>
          <p:cNvPr id="457" name="Google Shape;45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 s. Full list of references used in the report and presentation.</a:t>
            </a:r>
            <a:endParaRPr/>
          </a:p>
        </p:txBody>
      </p:sp>
      <p:sp>
        <p:nvSpPr>
          <p:cNvPr id="476" name="Google Shape;47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4F0E8"/>
        </a:solidFill>
      </p:bgPr>
    </p:bg>
    <p:spTree>
      <p:nvGrpSpPr>
        <p:cNvPr id="12" name="Shape 12"/>
        <p:cNvGrpSpPr/>
        <p:nvPr/>
      </p:nvGrpSpPr>
      <p:grpSpPr>
        <a:xfrm>
          <a:off x="0" y="0"/>
          <a:ext cx="0" cy="0"/>
          <a:chOff x="0" y="0"/>
          <a:chExt cx="0" cy="0"/>
        </a:xfrm>
      </p:grpSpPr>
      <p:sp>
        <p:nvSpPr>
          <p:cNvPr id="13" name="Google Shape;13;p21"/>
          <p:cNvSpPr txBox="1"/>
          <p:nvPr>
            <p:ph type="title"/>
          </p:nvPr>
        </p:nvSpPr>
        <p:spPr>
          <a:xfrm>
            <a:off x="812800" y="1098550"/>
            <a:ext cx="10566400" cy="38735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1F27"/>
              </a:buClr>
              <a:buSzPts val="2800"/>
              <a:buFont typeface="IBM Plex Sans"/>
              <a:buNone/>
              <a:defRPr sz="2800">
                <a:solidFill>
                  <a:srgbClr val="1B1F27"/>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1"/>
          <p:cNvSpPr txBox="1"/>
          <p:nvPr>
            <p:ph idx="1" type="body"/>
          </p:nvPr>
        </p:nvSpPr>
        <p:spPr>
          <a:xfrm>
            <a:off x="812800" y="1790700"/>
            <a:ext cx="10566400" cy="42545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B1F27"/>
              </a:buClr>
              <a:buSzPts val="1600"/>
              <a:buNone/>
              <a:defRPr sz="1600">
                <a:solidFill>
                  <a:srgbClr val="1B1F27"/>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6" name="Shape 16"/>
        <p:cNvGrpSpPr/>
        <p:nvPr/>
      </p:nvGrpSpPr>
      <p:grpSpPr>
        <a:xfrm>
          <a:off x="0" y="0"/>
          <a:ext cx="0" cy="0"/>
          <a:chOff x="0" y="0"/>
          <a:chExt cx="0" cy="0"/>
        </a:xfrm>
      </p:grpSpPr>
      <p:sp>
        <p:nvSpPr>
          <p:cNvPr id="17" name="Google Shape;17;h17b66744c2f78c06_3_78"/>
          <p:cNvSpPr txBox="1"/>
          <p:nvPr>
            <p:ph type="title"/>
          </p:nvPr>
        </p:nvSpPr>
        <p:spPr>
          <a:xfrm>
            <a:off x="609600" y="365760"/>
            <a:ext cx="10972800" cy="975300"/>
          </a:xfrm>
          <a:prstGeom prst="rect">
            <a:avLst/>
          </a:prstGeom>
          <a:noFill/>
          <a:ln>
            <a:noFill/>
          </a:ln>
        </p:spPr>
        <p:txBody>
          <a:bodyPr anchorCtr="0" anchor="t" bIns="60925" lIns="121900" spcFirstLastPara="1" rIns="121900" wrap="square" tIns="60925">
            <a:noAutofit/>
          </a:bodyPr>
          <a:lstStyle>
            <a:lvl1pPr lvl="0" marR="0" algn="l">
              <a:spcBef>
                <a:spcPts val="0"/>
              </a:spcBef>
              <a:spcAft>
                <a:spcPts val="0"/>
              </a:spcAft>
              <a:buClr>
                <a:schemeClr val="dk2"/>
              </a:buClr>
              <a:buSzPts val="4300"/>
              <a:buFont typeface="Cambria"/>
              <a:buNone/>
              <a:defRPr b="1" i="0" sz="43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2400"/>
            </a:lvl2pPr>
            <a:lvl3pPr lvl="2">
              <a:spcBef>
                <a:spcPts val="0"/>
              </a:spcBef>
              <a:spcAft>
                <a:spcPts val="0"/>
              </a:spcAft>
              <a:buSzPts val="1400"/>
              <a:buNone/>
              <a:defRPr sz="2400"/>
            </a:lvl3pPr>
            <a:lvl4pPr lvl="3">
              <a:spcBef>
                <a:spcPts val="0"/>
              </a:spcBef>
              <a:spcAft>
                <a:spcPts val="0"/>
              </a:spcAft>
              <a:buSzPts val="1400"/>
              <a:buNone/>
              <a:defRPr sz="2400"/>
            </a:lvl4pPr>
            <a:lvl5pPr lvl="4">
              <a:spcBef>
                <a:spcPts val="0"/>
              </a:spcBef>
              <a:spcAft>
                <a:spcPts val="0"/>
              </a:spcAft>
              <a:buSzPts val="1400"/>
              <a:buNone/>
              <a:defRPr sz="2400"/>
            </a:lvl5pPr>
            <a:lvl6pPr lvl="5">
              <a:spcBef>
                <a:spcPts val="0"/>
              </a:spcBef>
              <a:spcAft>
                <a:spcPts val="0"/>
              </a:spcAft>
              <a:buSzPts val="1400"/>
              <a:buNone/>
              <a:defRPr sz="2400"/>
            </a:lvl6pPr>
            <a:lvl7pPr lvl="6">
              <a:spcBef>
                <a:spcPts val="0"/>
              </a:spcBef>
              <a:spcAft>
                <a:spcPts val="0"/>
              </a:spcAft>
              <a:buSzPts val="1400"/>
              <a:buNone/>
              <a:defRPr sz="2400"/>
            </a:lvl7pPr>
            <a:lvl8pPr lvl="7">
              <a:spcBef>
                <a:spcPts val="0"/>
              </a:spcBef>
              <a:spcAft>
                <a:spcPts val="0"/>
              </a:spcAft>
              <a:buSzPts val="1400"/>
              <a:buNone/>
              <a:defRPr sz="2400"/>
            </a:lvl8pPr>
            <a:lvl9pPr lvl="8">
              <a:spcBef>
                <a:spcPts val="0"/>
              </a:spcBef>
              <a:spcAft>
                <a:spcPts val="0"/>
              </a:spcAft>
              <a:buSzPts val="1400"/>
              <a:buNone/>
              <a:defRPr sz="2400"/>
            </a:lvl9pPr>
          </a:lstStyle>
          <a:p/>
        </p:txBody>
      </p:sp>
      <p:sp>
        <p:nvSpPr>
          <p:cNvPr id="18" name="Google Shape;18;h17b66744c2f78c06_3_78"/>
          <p:cNvSpPr txBox="1"/>
          <p:nvPr>
            <p:ph idx="12" type="sldNum"/>
          </p:nvPr>
        </p:nvSpPr>
        <p:spPr>
          <a:xfrm>
            <a:off x="11216640" y="6400800"/>
            <a:ext cx="1066800" cy="399900"/>
          </a:xfrm>
          <a:prstGeom prst="rect">
            <a:avLst/>
          </a:prstGeom>
          <a:noFill/>
          <a:ln>
            <a:noFill/>
          </a:ln>
        </p:spPr>
        <p:txBody>
          <a:bodyPr anchorCtr="0" anchor="t" bIns="60925" lIns="121900" spcFirstLastPara="1" rIns="121900" wrap="square" tIns="60925">
            <a:noAutofit/>
          </a:bodyPr>
          <a:lstStyle>
            <a:lvl1pPr indent="0" lvl="0" marL="0" marR="0" algn="l">
              <a:spcBef>
                <a:spcPts val="0"/>
              </a:spcBef>
              <a:buNone/>
              <a:defRPr b="0" i="0" sz="1300" u="none" cap="none" strike="noStrike">
                <a:solidFill>
                  <a:schemeClr val="accent2"/>
                </a:solidFill>
                <a:latin typeface="Calibri"/>
                <a:ea typeface="Calibri"/>
                <a:cs typeface="Calibri"/>
                <a:sym typeface="Calibri"/>
              </a:defRPr>
            </a:lvl1pPr>
            <a:lvl2pPr indent="0" lvl="1" marL="0" marR="0" algn="l">
              <a:spcBef>
                <a:spcPts val="0"/>
              </a:spcBef>
              <a:buNone/>
              <a:defRPr b="0" i="0" sz="1300" u="none" cap="none" strike="noStrike">
                <a:solidFill>
                  <a:schemeClr val="accent2"/>
                </a:solidFill>
                <a:latin typeface="Calibri"/>
                <a:ea typeface="Calibri"/>
                <a:cs typeface="Calibri"/>
                <a:sym typeface="Calibri"/>
              </a:defRPr>
            </a:lvl2pPr>
            <a:lvl3pPr indent="0" lvl="2" marL="0" marR="0" algn="l">
              <a:spcBef>
                <a:spcPts val="0"/>
              </a:spcBef>
              <a:buNone/>
              <a:defRPr b="0" i="0" sz="1300" u="none" cap="none" strike="noStrike">
                <a:solidFill>
                  <a:schemeClr val="accent2"/>
                </a:solidFill>
                <a:latin typeface="Calibri"/>
                <a:ea typeface="Calibri"/>
                <a:cs typeface="Calibri"/>
                <a:sym typeface="Calibri"/>
              </a:defRPr>
            </a:lvl3pPr>
            <a:lvl4pPr indent="0" lvl="3" marL="0" marR="0" algn="l">
              <a:spcBef>
                <a:spcPts val="0"/>
              </a:spcBef>
              <a:buNone/>
              <a:defRPr b="0" i="0" sz="1300" u="none" cap="none" strike="noStrike">
                <a:solidFill>
                  <a:schemeClr val="accent2"/>
                </a:solidFill>
                <a:latin typeface="Calibri"/>
                <a:ea typeface="Calibri"/>
                <a:cs typeface="Calibri"/>
                <a:sym typeface="Calibri"/>
              </a:defRPr>
            </a:lvl4pPr>
            <a:lvl5pPr indent="0" lvl="4" marL="0" marR="0" algn="l">
              <a:spcBef>
                <a:spcPts val="0"/>
              </a:spcBef>
              <a:buNone/>
              <a:defRPr b="0" i="0" sz="1300" u="none" cap="none" strike="noStrike">
                <a:solidFill>
                  <a:schemeClr val="accent2"/>
                </a:solidFill>
                <a:latin typeface="Calibri"/>
                <a:ea typeface="Calibri"/>
                <a:cs typeface="Calibri"/>
                <a:sym typeface="Calibri"/>
              </a:defRPr>
            </a:lvl5pPr>
            <a:lvl6pPr indent="0" lvl="5" marL="0" marR="0" algn="l">
              <a:spcBef>
                <a:spcPts val="0"/>
              </a:spcBef>
              <a:buNone/>
              <a:defRPr b="0" i="0" sz="1300" u="none" cap="none" strike="noStrike">
                <a:solidFill>
                  <a:schemeClr val="accent2"/>
                </a:solidFill>
                <a:latin typeface="Calibri"/>
                <a:ea typeface="Calibri"/>
                <a:cs typeface="Calibri"/>
                <a:sym typeface="Calibri"/>
              </a:defRPr>
            </a:lvl6pPr>
            <a:lvl7pPr indent="0" lvl="6" marL="0" marR="0" algn="l">
              <a:spcBef>
                <a:spcPts val="0"/>
              </a:spcBef>
              <a:buNone/>
              <a:defRPr b="0" i="0" sz="1300" u="none" cap="none" strike="noStrike">
                <a:solidFill>
                  <a:schemeClr val="accent2"/>
                </a:solidFill>
                <a:latin typeface="Calibri"/>
                <a:ea typeface="Calibri"/>
                <a:cs typeface="Calibri"/>
                <a:sym typeface="Calibri"/>
              </a:defRPr>
            </a:lvl7pPr>
            <a:lvl8pPr indent="0" lvl="7" marL="0" marR="0" algn="l">
              <a:spcBef>
                <a:spcPts val="0"/>
              </a:spcBef>
              <a:buNone/>
              <a:defRPr b="0" i="0" sz="1300" u="none" cap="none" strike="noStrike">
                <a:solidFill>
                  <a:schemeClr val="accent2"/>
                </a:solidFill>
                <a:latin typeface="Calibri"/>
                <a:ea typeface="Calibri"/>
                <a:cs typeface="Calibri"/>
                <a:sym typeface="Calibri"/>
              </a:defRPr>
            </a:lvl8pPr>
            <a:lvl9pPr indent="0" lvl="8" marL="0" marR="0" algn="l">
              <a:spcBef>
                <a:spcPts val="0"/>
              </a:spcBef>
              <a:buNone/>
              <a:defRPr b="0" i="0" sz="1300" u="none" cap="none" strike="noStrike">
                <a:solidFill>
                  <a:schemeClr val="accent2"/>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12800" y="1098550"/>
            <a:ext cx="10566400" cy="38735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1F27"/>
              </a:buClr>
              <a:buSzPts val="2800"/>
              <a:buFont typeface="IBM Plex Sans"/>
              <a:buNone/>
              <a:defRPr b="0" i="0" sz="2800" u="none" cap="none" strike="noStrike">
                <a:solidFill>
                  <a:srgbClr val="1B1F27"/>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812800" y="1790700"/>
            <a:ext cx="10566400" cy="425450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B1F27"/>
              </a:buClr>
              <a:buSzPts val="1600"/>
              <a:buFont typeface="Arial"/>
              <a:buNone/>
              <a:defRPr b="0" i="0" sz="1600" u="none" cap="none" strike="noStrike">
                <a:solidFill>
                  <a:srgbClr val="1B1F27"/>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60.png"/><Relationship Id="rId13" Type="http://schemas.openxmlformats.org/officeDocument/2006/relationships/image" Target="../media/image20.png"/><Relationship Id="rId12" Type="http://schemas.openxmlformats.org/officeDocument/2006/relationships/image" Target="../media/image19.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5.png"/><Relationship Id="rId15" Type="http://schemas.openxmlformats.org/officeDocument/2006/relationships/image" Target="../media/image22.png"/><Relationship Id="rId14" Type="http://schemas.openxmlformats.org/officeDocument/2006/relationships/image" Target="../media/image32.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17.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9.png"/><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9.png"/><Relationship Id="rId4" Type="http://schemas.openxmlformats.org/officeDocument/2006/relationships/image" Target="../media/image6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81E"/>
        </a:solidFill>
      </p:bgPr>
    </p:bg>
    <p:spTree>
      <p:nvGrpSpPr>
        <p:cNvPr id="23" name="Shape 23"/>
        <p:cNvGrpSpPr/>
        <p:nvPr/>
      </p:nvGrpSpPr>
      <p:grpSpPr>
        <a:xfrm>
          <a:off x="0" y="0"/>
          <a:ext cx="0" cy="0"/>
          <a:chOff x="0" y="0"/>
          <a:chExt cx="0" cy="0"/>
        </a:xfrm>
      </p:grpSpPr>
      <p:sp>
        <p:nvSpPr>
          <p:cNvPr id="24" name="Google Shape;24;p1"/>
          <p:cNvSpPr/>
          <p:nvPr/>
        </p:nvSpPr>
        <p:spPr>
          <a:xfrm>
            <a:off x="812800" y="2054225"/>
            <a:ext cx="10883392" cy="304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A35E"/>
              </a:buClr>
              <a:buSzPts val="1600"/>
              <a:buFont typeface="JetBrains Mono"/>
              <a:buNone/>
            </a:pPr>
            <a:r>
              <a:rPr b="0" i="0" lang="en-US" spc="100" sz="1600" u="none" cap="none" strike="noStrike">
                <a:solidFill>
                  <a:srgbClr val="F0A35E"/>
                </a:solidFill>
                <a:latin typeface="JetBrains Mono"/>
                <a:ea typeface="JetBrains Mono"/>
                <a:cs typeface="JetBrains Mono"/>
                <a:sym typeface="JetBrains Mono"/>
              </a:rPr>
              <a:t>CISC 322</a:t>
            </a:r>
            <a:endParaRPr b="0" i="0" sz="1600" u="none" cap="none" strike="noStrike">
              <a:solidFill>
                <a:schemeClr val="dk1"/>
              </a:solidFill>
              <a:latin typeface="IBM Plex Sans"/>
              <a:ea typeface="IBM Plex Sans"/>
              <a:cs typeface="IBM Plex Sans"/>
              <a:sym typeface="IBM Plex Sans"/>
            </a:endParaRPr>
          </a:p>
        </p:txBody>
      </p:sp>
      <p:sp>
        <p:nvSpPr>
          <p:cNvPr id="25" name="Google Shape;25;p1"/>
          <p:cNvSpPr txBox="1"/>
          <p:nvPr>
            <p:ph type="title"/>
          </p:nvPr>
        </p:nvSpPr>
        <p:spPr>
          <a:xfrm>
            <a:off x="812800" y="2587625"/>
            <a:ext cx="10883392" cy="1333500"/>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F4F0E8"/>
              </a:buClr>
              <a:buSzPts val="4800"/>
              <a:buFont typeface="IBM Plex Sans"/>
              <a:buNone/>
            </a:pPr>
            <a:r>
              <a:rPr b="1" i="0" lang="en-US" sz="4800">
                <a:solidFill>
                  <a:srgbClr val="F4F0E8"/>
                </a:solidFill>
                <a:latin typeface="IBM Plex Sans"/>
                <a:ea typeface="IBM Plex Sans"/>
                <a:cs typeface="IBM Plex Sans"/>
                <a:sym typeface="IBM Plex Sans"/>
              </a:rPr>
              <a:t>Conceptual Architecture</a:t>
            </a:r>
            <a:endParaRPr sz="4800"/>
          </a:p>
          <a:p>
            <a:pPr indent="0" lvl="0" marL="0" rtl="0" algn="l">
              <a:lnSpc>
                <a:spcPct val="108000"/>
              </a:lnSpc>
              <a:spcBef>
                <a:spcPts val="0"/>
              </a:spcBef>
              <a:spcAft>
                <a:spcPts val="0"/>
              </a:spcAft>
              <a:buClr>
                <a:srgbClr val="F4F0E8"/>
              </a:buClr>
              <a:buSzPts val="4800"/>
              <a:buFont typeface="IBM Plex Sans"/>
              <a:buNone/>
            </a:pPr>
            <a:r>
              <a:rPr b="1" i="0" lang="en-US" sz="4800">
                <a:solidFill>
                  <a:srgbClr val="F4F0E8"/>
                </a:solidFill>
                <a:latin typeface="IBM Plex Sans"/>
                <a:ea typeface="IBM Plex Sans"/>
                <a:cs typeface="IBM Plex Sans"/>
                <a:sym typeface="IBM Plex Sans"/>
              </a:rPr>
              <a:t>of WezTerm</a:t>
            </a:r>
            <a:endParaRPr sz="4800"/>
          </a:p>
        </p:txBody>
      </p:sp>
      <p:cxnSp>
        <p:nvCxnSpPr>
          <p:cNvPr id="26" name="Google Shape;26;p1"/>
          <p:cNvCxnSpPr/>
          <p:nvPr/>
        </p:nvCxnSpPr>
        <p:spPr>
          <a:xfrm>
            <a:off x="812800" y="4156075"/>
            <a:ext cx="10566400" cy="0"/>
          </a:xfrm>
          <a:prstGeom prst="straightConnector1">
            <a:avLst/>
          </a:prstGeom>
          <a:noFill/>
          <a:ln cap="flat" cmpd="sng" w="12700">
            <a:solidFill>
              <a:srgbClr val="333A46"/>
            </a:solidFill>
            <a:prstDash val="solid"/>
            <a:round/>
            <a:headEnd len="sm" w="sm" type="none"/>
            <a:tailEnd len="sm" w="sm" type="none"/>
          </a:ln>
        </p:spPr>
      </p:cxnSp>
      <p:sp>
        <p:nvSpPr>
          <p:cNvPr id="27" name="Google Shape;27;p1"/>
          <p:cNvSpPr/>
          <p:nvPr/>
        </p:nvSpPr>
        <p:spPr>
          <a:xfrm>
            <a:off x="812800" y="4416425"/>
            <a:ext cx="10883392" cy="4127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9BFCA"/>
              </a:buClr>
              <a:buSzPts val="2200"/>
              <a:buFont typeface="IBM Plex Sans"/>
              <a:buNone/>
            </a:pPr>
            <a:r>
              <a:rPr b="0" i="0" lang="en-US" sz="2200" u="none" cap="none" strike="noStrike">
                <a:solidFill>
                  <a:srgbClr val="B9BFCA"/>
                </a:solidFill>
                <a:latin typeface="IBM Plex Sans"/>
                <a:ea typeface="IBM Plex Sans"/>
                <a:cs typeface="IBM Plex Sans"/>
                <a:sym typeface="IBM Plex Sans"/>
              </a:rPr>
              <a:t>Group 20 - https://youtu.be/g_ZeLQwuBT0</a:t>
            </a:r>
            <a:endParaRPr b="0" i="0" sz="2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h470f9343440a3d41_1_23"/>
          <p:cNvSpPr txBox="1"/>
          <p:nvPr>
            <p:ph type="title"/>
          </p:nvPr>
        </p:nvSpPr>
        <p:spPr>
          <a:xfrm>
            <a:off x="812800" y="1098550"/>
            <a:ext cx="10566300" cy="38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 name="Google Shape;34;h470f9343440a3d41_1_23"/>
          <p:cNvSpPr txBox="1"/>
          <p:nvPr>
            <p:ph idx="1" type="body"/>
          </p:nvPr>
        </p:nvSpPr>
        <p:spPr>
          <a:xfrm>
            <a:off x="812800" y="1790700"/>
            <a:ext cx="10566300" cy="4254600"/>
          </a:xfrm>
          <a:prstGeom prst="rect">
            <a:avLst/>
          </a:prstGeom>
        </p:spPr>
        <p:txBody>
          <a:bodyPr anchorCtr="0" anchor="t" bIns="0" lIns="0" spcFirstLastPara="1" rIns="0" wrap="square" tIns="0">
            <a:noAutofit/>
          </a:bodyPr>
          <a:lstStyle/>
          <a:p>
            <a:pPr indent="0" lvl="0" marL="0" rtl="0" algn="l">
              <a:spcBef>
                <a:spcPts val="320"/>
              </a:spcBef>
              <a:spcAft>
                <a:spcPts val="0"/>
              </a:spcAft>
              <a:buNone/>
            </a:pPr>
            <a:r>
              <a:t/>
            </a:r>
            <a:endParaRPr/>
          </a:p>
        </p:txBody>
      </p:sp>
      <p:pic>
        <p:nvPicPr>
          <p:cNvPr id="35" name="Google Shape;35;h470f9343440a3d41_1_23"/>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40" name="Shape 40"/>
        <p:cNvGrpSpPr/>
        <p:nvPr/>
      </p:nvGrpSpPr>
      <p:grpSpPr>
        <a:xfrm>
          <a:off x="0" y="0"/>
          <a:ext cx="0" cy="0"/>
          <a:chOff x="0" y="0"/>
          <a:chExt cx="0" cy="0"/>
        </a:xfrm>
      </p:grpSpPr>
      <p:sp>
        <p:nvSpPr>
          <p:cNvPr id="41" name="Google Shape;41;h470f9343440a3d41_0_6"/>
          <p:cNvSpPr/>
          <p:nvPr/>
        </p:nvSpPr>
        <p:spPr>
          <a:xfrm>
            <a:off x="812800" y="812800"/>
            <a:ext cx="10883400" cy="234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0F"/>
              </a:buClr>
              <a:buSzPts val="1200"/>
              <a:buFont typeface="JetBrains Mono"/>
              <a:buNone/>
            </a:pPr>
            <a:r>
              <a:rPr lang="en-US" spc="100" sz="1200">
                <a:solidFill>
                  <a:srgbClr val="B5530F"/>
                </a:solidFill>
                <a:latin typeface="JetBrains Mono"/>
                <a:ea typeface="JetBrains Mono"/>
                <a:cs typeface="JetBrains Mono"/>
                <a:sym typeface="JetBrains Mono"/>
              </a:rPr>
              <a:t>INTRODUCTION</a:t>
            </a:r>
            <a:endParaRPr b="0" i="0" sz="1200" u="none" cap="none" strike="noStrike">
              <a:solidFill>
                <a:schemeClr val="dk1"/>
              </a:solidFill>
              <a:latin typeface="IBM Plex Sans"/>
              <a:ea typeface="IBM Plex Sans"/>
              <a:cs typeface="IBM Plex Sans"/>
              <a:sym typeface="IBM Plex Sans"/>
            </a:endParaRPr>
          </a:p>
        </p:txBody>
      </p:sp>
      <p:sp>
        <p:nvSpPr>
          <p:cNvPr id="42" name="Google Shape;42;h470f9343440a3d41_0_6"/>
          <p:cNvSpPr txBox="1"/>
          <p:nvPr>
            <p:ph type="title"/>
          </p:nvPr>
        </p:nvSpPr>
        <p:spPr>
          <a:xfrm>
            <a:off x="812800" y="1098550"/>
            <a:ext cx="10883400" cy="412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lang="en-US"/>
              <a:t>What is WezTerm?</a:t>
            </a:r>
            <a:endParaRPr sz="2800"/>
          </a:p>
        </p:txBody>
      </p:sp>
      <p:sp>
        <p:nvSpPr>
          <p:cNvPr id="43" name="Google Shape;43;h470f9343440a3d41_0_6"/>
          <p:cNvSpPr txBox="1"/>
          <p:nvPr/>
        </p:nvSpPr>
        <p:spPr>
          <a:xfrm>
            <a:off x="812800" y="1714525"/>
            <a:ext cx="10736100" cy="38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B1F27"/>
                </a:solidFill>
                <a:latin typeface="IBM Plex Sans"/>
                <a:ea typeface="IBM Plex Sans"/>
                <a:cs typeface="IBM Plex Sans"/>
                <a:sym typeface="IBM Plex Sans"/>
              </a:rPr>
              <a:t>An open-source, cross-platform terminal emulator and multiplexer.</a:t>
            </a:r>
            <a:br>
              <a:rPr b="1" lang="en-US" sz="2400">
                <a:solidFill>
                  <a:srgbClr val="1B1F27"/>
                </a:solidFill>
                <a:latin typeface="IBM Plex Sans"/>
                <a:ea typeface="IBM Plex Sans"/>
                <a:cs typeface="IBM Plex Sans"/>
                <a:sym typeface="IBM Plex Sans"/>
              </a:rPr>
            </a:br>
            <a:endParaRPr b="1" sz="2400">
              <a:solidFill>
                <a:srgbClr val="1B1F27"/>
              </a:solidFill>
              <a:latin typeface="IBM Plex Sans"/>
              <a:ea typeface="IBM Plex Sans"/>
              <a:cs typeface="IBM Plex Sans"/>
              <a:sym typeface="IBM Plex Sans"/>
            </a:endParaRPr>
          </a:p>
          <a:p>
            <a:pPr indent="457200" lvl="0" marL="0" rtl="0" algn="l">
              <a:lnSpc>
                <a:spcPct val="115000"/>
              </a:lnSpc>
              <a:spcBef>
                <a:spcPts val="0"/>
              </a:spcBef>
              <a:spcAft>
                <a:spcPts val="0"/>
              </a:spcAft>
              <a:buNone/>
            </a:pPr>
            <a:r>
              <a:rPr lang="en-US" sz="2800"/>
              <a:t>• </a:t>
            </a:r>
            <a:r>
              <a:rPr lang="en-US" sz="2800">
                <a:solidFill>
                  <a:srgbClr val="2B1B12"/>
                </a:solidFill>
                <a:latin typeface="Calibri"/>
                <a:ea typeface="Calibri"/>
                <a:cs typeface="Calibri"/>
                <a:sym typeface="Calibri"/>
              </a:rPr>
              <a:t>Windows, tabs and split panes</a:t>
            </a:r>
            <a:endParaRPr sz="2800">
              <a:solidFill>
                <a:srgbClr val="2B1B12"/>
              </a:solidFill>
              <a:latin typeface="Calibri"/>
              <a:ea typeface="Calibri"/>
              <a:cs typeface="Calibri"/>
              <a:sym typeface="Calibri"/>
            </a:endParaRPr>
          </a:p>
          <a:p>
            <a:pPr indent="457200" lvl="0" marL="0" rtl="0" algn="l">
              <a:lnSpc>
                <a:spcPct val="115000"/>
              </a:lnSpc>
              <a:spcBef>
                <a:spcPts val="800"/>
              </a:spcBef>
              <a:spcAft>
                <a:spcPts val="0"/>
              </a:spcAft>
              <a:buNone/>
            </a:pPr>
            <a:r>
              <a:rPr lang="en-US" sz="2800"/>
              <a:t>•</a:t>
            </a:r>
            <a:r>
              <a:rPr lang="en-US" sz="2800"/>
              <a:t> </a:t>
            </a:r>
            <a:r>
              <a:rPr lang="en-US" sz="2800">
                <a:solidFill>
                  <a:srgbClr val="2B1B12"/>
                </a:solidFill>
                <a:latin typeface="Calibri"/>
                <a:ea typeface="Calibri"/>
                <a:cs typeface="Calibri"/>
                <a:sym typeface="Calibri"/>
              </a:rPr>
              <a:t>Searchable scrollback</a:t>
            </a:r>
            <a:endParaRPr sz="2800">
              <a:solidFill>
                <a:srgbClr val="2B1B12"/>
              </a:solidFill>
              <a:latin typeface="Calibri"/>
              <a:ea typeface="Calibri"/>
              <a:cs typeface="Calibri"/>
              <a:sym typeface="Calibri"/>
            </a:endParaRPr>
          </a:p>
          <a:p>
            <a:pPr indent="457200" lvl="0" marL="0" rtl="0" algn="l">
              <a:lnSpc>
                <a:spcPct val="115000"/>
              </a:lnSpc>
              <a:spcBef>
                <a:spcPts val="800"/>
              </a:spcBef>
              <a:spcAft>
                <a:spcPts val="0"/>
              </a:spcAft>
              <a:buNone/>
            </a:pPr>
            <a:r>
              <a:rPr lang="en-US" sz="2800"/>
              <a:t>• </a:t>
            </a:r>
            <a:r>
              <a:rPr lang="en-US" sz="2800">
                <a:solidFill>
                  <a:srgbClr val="2B1B12"/>
                </a:solidFill>
                <a:latin typeface="Calibri"/>
                <a:ea typeface="Calibri"/>
                <a:cs typeface="Calibri"/>
                <a:sym typeface="Calibri"/>
              </a:rPr>
              <a:t>Built-in SSH client</a:t>
            </a:r>
            <a:endParaRPr sz="2800">
              <a:solidFill>
                <a:srgbClr val="2B1B12"/>
              </a:solidFill>
              <a:latin typeface="Calibri"/>
              <a:ea typeface="Calibri"/>
              <a:cs typeface="Calibri"/>
              <a:sym typeface="Calibri"/>
            </a:endParaRPr>
          </a:p>
          <a:p>
            <a:pPr indent="457200" lvl="0" marL="0" rtl="0" algn="l">
              <a:lnSpc>
                <a:spcPct val="115000"/>
              </a:lnSpc>
              <a:spcBef>
                <a:spcPts val="800"/>
              </a:spcBef>
              <a:spcAft>
                <a:spcPts val="0"/>
              </a:spcAft>
              <a:buNone/>
            </a:pPr>
            <a:r>
              <a:rPr lang="en-US" sz="2800"/>
              <a:t>• </a:t>
            </a:r>
            <a:r>
              <a:rPr lang="en-US" sz="2800">
                <a:solidFill>
                  <a:srgbClr val="2B1B12"/>
                </a:solidFill>
                <a:latin typeface="Calibri"/>
                <a:ea typeface="Calibri"/>
                <a:cs typeface="Calibri"/>
                <a:sym typeface="Calibri"/>
              </a:rPr>
              <a:t>Local and remote multiplexing</a:t>
            </a:r>
            <a:endParaRPr sz="2800">
              <a:solidFill>
                <a:srgbClr val="2B1B12"/>
              </a:solidFill>
              <a:latin typeface="Calibri"/>
              <a:ea typeface="Calibri"/>
              <a:cs typeface="Calibri"/>
              <a:sym typeface="Calibri"/>
            </a:endParaRPr>
          </a:p>
          <a:p>
            <a:pPr indent="0" lvl="0" marL="0" rtl="0" algn="l">
              <a:spcBef>
                <a:spcPts val="800"/>
              </a:spcBef>
              <a:spcAft>
                <a:spcPts val="0"/>
              </a:spcAft>
              <a:buNone/>
            </a:pPr>
            <a:r>
              <a:t/>
            </a:r>
            <a:endParaRPr b="1" sz="1600">
              <a:solidFill>
                <a:srgbClr val="1B1F27"/>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48" name="Shape 48"/>
        <p:cNvGrpSpPr/>
        <p:nvPr/>
      </p:nvGrpSpPr>
      <p:grpSpPr>
        <a:xfrm>
          <a:off x="0" y="0"/>
          <a:ext cx="0" cy="0"/>
          <a:chOff x="0" y="0"/>
          <a:chExt cx="0" cy="0"/>
        </a:xfrm>
      </p:grpSpPr>
      <p:sp>
        <p:nvSpPr>
          <p:cNvPr id="49" name="Google Shape;49;p4"/>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DERIVATION</a:t>
            </a:r>
            <a:r>
              <a:rPr lang="en-US" spc="100" sz="1200">
                <a:solidFill>
                  <a:srgbClr val="B5530F"/>
                </a:solidFill>
                <a:latin typeface="JetBrains Mono"/>
                <a:ea typeface="JetBrains Mono"/>
                <a:cs typeface="JetBrains Mono"/>
                <a:sym typeface="JetBrains Mono"/>
              </a:rPr>
              <a:t>  </a:t>
            </a:r>
            <a:r>
              <a:rPr b="0" i="0" lang="en-US" spc="100" sz="1200" u="none" cap="none" strike="noStrike">
                <a:solidFill>
                  <a:srgbClr val="B5530F"/>
                </a:solidFill>
                <a:latin typeface="JetBrains Mono"/>
                <a:ea typeface="JetBrains Mono"/>
                <a:cs typeface="JetBrains Mono"/>
                <a:sym typeface="JetBrains Mono"/>
              </a:rPr>
              <a:t>PROCESS</a:t>
            </a:r>
            <a:endParaRPr b="0" i="0" sz="1200" u="none" cap="none" strike="noStrike">
              <a:solidFill>
                <a:schemeClr val="dk1"/>
              </a:solidFill>
              <a:latin typeface="IBM Plex Sans"/>
              <a:ea typeface="IBM Plex Sans"/>
              <a:cs typeface="IBM Plex Sans"/>
              <a:sym typeface="IBM Plex Sans"/>
            </a:endParaRPr>
          </a:p>
        </p:txBody>
      </p:sp>
      <p:sp>
        <p:nvSpPr>
          <p:cNvPr id="50" name="Google Shape;50;p4"/>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lang="en-US"/>
              <a:t>Architecture Development</a:t>
            </a:r>
            <a:endParaRPr sz="2800"/>
          </a:p>
        </p:txBody>
      </p:sp>
      <p:sp>
        <p:nvSpPr>
          <p:cNvPr id="51" name="Google Shape;51;p4"/>
          <p:cNvSpPr/>
          <p:nvPr/>
        </p:nvSpPr>
        <p:spPr>
          <a:xfrm>
            <a:off x="815975" y="1858282"/>
            <a:ext cx="2254200" cy="2692500"/>
          </a:xfrm>
          <a:prstGeom prst="roundRect">
            <a:avLst>
              <a:gd fmla="val 4366"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1047750" y="2076450"/>
            <a:ext cx="1844421"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800"/>
              <a:buFont typeface="JetBrains Mono"/>
              <a:buNone/>
            </a:pPr>
            <a:r>
              <a:rPr b="1" i="0" lang="en-US" sz="2800" u="none" cap="none" strike="noStrike">
                <a:solidFill>
                  <a:srgbClr val="B5530F"/>
                </a:solidFill>
                <a:latin typeface="JetBrains Mono"/>
                <a:ea typeface="JetBrains Mono"/>
                <a:cs typeface="JetBrains Mono"/>
                <a:sym typeface="JetBrains Mono"/>
              </a:rPr>
              <a:t>1</a:t>
            </a:r>
            <a:endParaRPr b="0" i="0" sz="2800" u="none" cap="none" strike="noStrike">
              <a:solidFill>
                <a:schemeClr val="dk1"/>
              </a:solidFill>
              <a:latin typeface="IBM Plex Sans"/>
              <a:ea typeface="IBM Plex Sans"/>
              <a:cs typeface="IBM Plex Sans"/>
              <a:sym typeface="IBM Plex Sans"/>
            </a:endParaRPr>
          </a:p>
        </p:txBody>
      </p:sp>
      <p:sp>
        <p:nvSpPr>
          <p:cNvPr id="53" name="Google Shape;53;p4"/>
          <p:cNvSpPr/>
          <p:nvPr/>
        </p:nvSpPr>
        <p:spPr>
          <a:xfrm>
            <a:off x="1047750" y="2673350"/>
            <a:ext cx="2022600"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Read the documentation</a:t>
            </a:r>
            <a:endParaRPr b="0" i="0" sz="1600" u="none" cap="none" strike="noStrike">
              <a:solidFill>
                <a:schemeClr val="dk1"/>
              </a:solidFill>
              <a:latin typeface="IBM Plex Sans"/>
              <a:ea typeface="IBM Plex Sans"/>
              <a:cs typeface="IBM Plex Sans"/>
              <a:sym typeface="IBM Plex Sans"/>
            </a:endParaRPr>
          </a:p>
        </p:txBody>
      </p:sp>
      <p:sp>
        <p:nvSpPr>
          <p:cNvPr id="54" name="Google Shape;54;p4"/>
          <p:cNvSpPr/>
          <p:nvPr/>
        </p:nvSpPr>
        <p:spPr>
          <a:xfrm>
            <a:off x="994050" y="3257500"/>
            <a:ext cx="1844400" cy="863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What is a Terminal, Multiplexing, Pane object, wezterm.mux, Keyboard Concepts.</a:t>
            </a:r>
            <a:endParaRPr b="0" i="0" sz="1200" u="none" cap="none" strike="noStrike">
              <a:solidFill>
                <a:schemeClr val="dk1"/>
              </a:solidFill>
              <a:latin typeface="IBM Plex Sans"/>
              <a:ea typeface="IBM Plex Sans"/>
              <a:cs typeface="IBM Plex Sans"/>
              <a:sym typeface="IBM Plex Sans"/>
            </a:endParaRPr>
          </a:p>
        </p:txBody>
      </p:sp>
      <p:pic>
        <p:nvPicPr>
          <p:cNvPr descr="connector" id="55" name="Google Shape;55;p4"/>
          <p:cNvPicPr preferRelativeResize="0"/>
          <p:nvPr/>
        </p:nvPicPr>
        <p:blipFill rotWithShape="1">
          <a:blip r:embed="rId3">
            <a:alphaModFix/>
          </a:blip>
          <a:srcRect b="0" l="0" r="0" t="0"/>
          <a:stretch/>
        </p:blipFill>
        <p:spPr>
          <a:xfrm>
            <a:off x="3200400" y="3140075"/>
            <a:ext cx="254000" cy="101600"/>
          </a:xfrm>
          <a:prstGeom prst="rect">
            <a:avLst/>
          </a:prstGeom>
          <a:noFill/>
          <a:ln>
            <a:noFill/>
          </a:ln>
        </p:spPr>
      </p:pic>
      <p:sp>
        <p:nvSpPr>
          <p:cNvPr id="56" name="Google Shape;56;p4"/>
          <p:cNvSpPr/>
          <p:nvPr/>
        </p:nvSpPr>
        <p:spPr>
          <a:xfrm>
            <a:off x="3584575" y="1844675"/>
            <a:ext cx="2254250" cy="2692400"/>
          </a:xfrm>
          <a:prstGeom prst="roundRect">
            <a:avLst>
              <a:gd fmla="val 4366"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3816350" y="2076450"/>
            <a:ext cx="1844421"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800"/>
              <a:buFont typeface="JetBrains Mono"/>
              <a:buNone/>
            </a:pPr>
            <a:r>
              <a:rPr b="1" i="0" lang="en-US" sz="2800" u="none" cap="none" strike="noStrike">
                <a:solidFill>
                  <a:srgbClr val="B5530F"/>
                </a:solidFill>
                <a:latin typeface="JetBrains Mono"/>
                <a:ea typeface="JetBrains Mono"/>
                <a:cs typeface="JetBrains Mono"/>
                <a:sym typeface="JetBrains Mono"/>
              </a:rPr>
              <a:t>2</a:t>
            </a:r>
            <a:endParaRPr b="0" i="0" sz="2800" u="none" cap="none" strike="noStrike">
              <a:solidFill>
                <a:schemeClr val="dk1"/>
              </a:solidFill>
              <a:latin typeface="IBM Plex Sans"/>
              <a:ea typeface="IBM Plex Sans"/>
              <a:cs typeface="IBM Plex Sans"/>
              <a:sym typeface="IBM Plex Sans"/>
            </a:endParaRPr>
          </a:p>
        </p:txBody>
      </p:sp>
      <p:sp>
        <p:nvSpPr>
          <p:cNvPr id="58" name="Google Shape;58;p4"/>
          <p:cNvSpPr/>
          <p:nvPr/>
        </p:nvSpPr>
        <p:spPr>
          <a:xfrm>
            <a:off x="3816350" y="2673350"/>
            <a:ext cx="1844421" cy="508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lang="en-US" sz="1600">
                <a:solidFill>
                  <a:srgbClr val="1B1F27"/>
                </a:solidFill>
                <a:latin typeface="IBM Plex Sans"/>
                <a:ea typeface="IBM Plex Sans"/>
                <a:cs typeface="IBM Plex Sans"/>
                <a:sym typeface="IBM Plex Sans"/>
              </a:rPr>
              <a:t>Check </a:t>
            </a:r>
            <a:r>
              <a:rPr b="1" i="0" lang="en-US" sz="1600" u="none" cap="none" strike="noStrike">
                <a:solidFill>
                  <a:srgbClr val="1B1F27"/>
                </a:solidFill>
                <a:latin typeface="IBM Plex Sans"/>
                <a:ea typeface="IBM Plex Sans"/>
                <a:cs typeface="IBM Plex Sans"/>
                <a:sym typeface="IBM Plex Sans"/>
              </a:rPr>
              <a:t>source and history</a:t>
            </a:r>
            <a:endParaRPr b="0" i="0" sz="1600" u="none" cap="none" strike="noStrike">
              <a:solidFill>
                <a:schemeClr val="dk1"/>
              </a:solidFill>
              <a:latin typeface="IBM Plex Sans"/>
              <a:ea typeface="IBM Plex Sans"/>
              <a:cs typeface="IBM Plex Sans"/>
              <a:sym typeface="IBM Plex Sans"/>
            </a:endParaRPr>
          </a:p>
        </p:txBody>
      </p:sp>
      <p:sp>
        <p:nvSpPr>
          <p:cNvPr id="59" name="Google Shape;59;p4"/>
          <p:cNvSpPr/>
          <p:nvPr/>
        </p:nvSpPr>
        <p:spPr>
          <a:xfrm>
            <a:off x="3816350" y="3257550"/>
            <a:ext cx="1844421" cy="8636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Repository layout, mux/src/lib.rs, release notes 2019–2024, maintainer discussions.</a:t>
            </a:r>
            <a:endParaRPr b="0" i="0" sz="1200" u="none" cap="none" strike="noStrike">
              <a:solidFill>
                <a:schemeClr val="dk1"/>
              </a:solidFill>
              <a:latin typeface="IBM Plex Sans"/>
              <a:ea typeface="IBM Plex Sans"/>
              <a:cs typeface="IBM Plex Sans"/>
              <a:sym typeface="IBM Plex Sans"/>
            </a:endParaRPr>
          </a:p>
        </p:txBody>
      </p:sp>
      <p:pic>
        <p:nvPicPr>
          <p:cNvPr descr="connector" id="60" name="Google Shape;60;p4"/>
          <p:cNvPicPr preferRelativeResize="0"/>
          <p:nvPr/>
        </p:nvPicPr>
        <p:blipFill rotWithShape="1">
          <a:blip r:embed="rId3">
            <a:alphaModFix/>
          </a:blip>
          <a:srcRect b="0" l="0" r="0" t="0"/>
          <a:stretch/>
        </p:blipFill>
        <p:spPr>
          <a:xfrm>
            <a:off x="5969000" y="3140075"/>
            <a:ext cx="254000" cy="101600"/>
          </a:xfrm>
          <a:prstGeom prst="rect">
            <a:avLst/>
          </a:prstGeom>
          <a:noFill/>
          <a:ln>
            <a:noFill/>
          </a:ln>
        </p:spPr>
      </p:pic>
      <p:sp>
        <p:nvSpPr>
          <p:cNvPr id="61" name="Google Shape;61;p4"/>
          <p:cNvSpPr/>
          <p:nvPr/>
        </p:nvSpPr>
        <p:spPr>
          <a:xfrm>
            <a:off x="6353175" y="1844675"/>
            <a:ext cx="2254250" cy="2692400"/>
          </a:xfrm>
          <a:prstGeom prst="roundRect">
            <a:avLst>
              <a:gd fmla="val 4366"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6584950" y="2076450"/>
            <a:ext cx="1844421"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800"/>
              <a:buFont typeface="JetBrains Mono"/>
              <a:buNone/>
            </a:pPr>
            <a:r>
              <a:rPr b="1" i="0" lang="en-US" sz="2800" u="none" cap="none" strike="noStrike">
                <a:solidFill>
                  <a:srgbClr val="B5530F"/>
                </a:solidFill>
                <a:latin typeface="JetBrains Mono"/>
                <a:ea typeface="JetBrains Mono"/>
                <a:cs typeface="JetBrains Mono"/>
                <a:sym typeface="JetBrains Mono"/>
              </a:rPr>
              <a:t>3</a:t>
            </a:r>
            <a:endParaRPr b="0" i="0" sz="2800" u="none" cap="none" strike="noStrike">
              <a:solidFill>
                <a:schemeClr val="dk1"/>
              </a:solidFill>
              <a:latin typeface="IBM Plex Sans"/>
              <a:ea typeface="IBM Plex Sans"/>
              <a:cs typeface="IBM Plex Sans"/>
              <a:sym typeface="IBM Plex Sans"/>
            </a:endParaRPr>
          </a:p>
        </p:txBody>
      </p:sp>
      <p:sp>
        <p:nvSpPr>
          <p:cNvPr id="63" name="Google Shape;63;p4"/>
          <p:cNvSpPr/>
          <p:nvPr/>
        </p:nvSpPr>
        <p:spPr>
          <a:xfrm>
            <a:off x="6584950" y="2673350"/>
            <a:ext cx="1844421"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Trace use cases</a:t>
            </a:r>
            <a:endParaRPr b="0" i="0" sz="1600" u="none" cap="none" strike="noStrike">
              <a:solidFill>
                <a:schemeClr val="dk1"/>
              </a:solidFill>
              <a:latin typeface="IBM Plex Sans"/>
              <a:ea typeface="IBM Plex Sans"/>
              <a:cs typeface="IBM Plex Sans"/>
              <a:sym typeface="IBM Plex Sans"/>
            </a:endParaRPr>
          </a:p>
        </p:txBody>
      </p:sp>
      <p:sp>
        <p:nvSpPr>
          <p:cNvPr id="64" name="Google Shape;64;p4"/>
          <p:cNvSpPr/>
          <p:nvPr/>
        </p:nvSpPr>
        <p:spPr>
          <a:xfrm>
            <a:off x="6584950" y="3016250"/>
            <a:ext cx="1844421" cy="8636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Followed a keystroke and a pane split from end to end to see which part does what.</a:t>
            </a:r>
            <a:endParaRPr b="0" i="0" sz="1200" u="none" cap="none" strike="noStrike">
              <a:solidFill>
                <a:schemeClr val="dk1"/>
              </a:solidFill>
              <a:latin typeface="IBM Plex Sans"/>
              <a:ea typeface="IBM Plex Sans"/>
              <a:cs typeface="IBM Plex Sans"/>
              <a:sym typeface="IBM Plex Sans"/>
            </a:endParaRPr>
          </a:p>
        </p:txBody>
      </p:sp>
      <p:pic>
        <p:nvPicPr>
          <p:cNvPr descr="connector" id="65" name="Google Shape;65;p4"/>
          <p:cNvPicPr preferRelativeResize="0"/>
          <p:nvPr/>
        </p:nvPicPr>
        <p:blipFill rotWithShape="1">
          <a:blip r:embed="rId3">
            <a:alphaModFix/>
          </a:blip>
          <a:srcRect b="0" l="0" r="0" t="0"/>
          <a:stretch/>
        </p:blipFill>
        <p:spPr>
          <a:xfrm>
            <a:off x="8737600" y="3140075"/>
            <a:ext cx="254000" cy="101600"/>
          </a:xfrm>
          <a:prstGeom prst="rect">
            <a:avLst/>
          </a:prstGeom>
          <a:noFill/>
          <a:ln>
            <a:noFill/>
          </a:ln>
        </p:spPr>
      </p:pic>
      <p:sp>
        <p:nvSpPr>
          <p:cNvPr id="66" name="Google Shape;66;p4"/>
          <p:cNvSpPr/>
          <p:nvPr/>
        </p:nvSpPr>
        <p:spPr>
          <a:xfrm>
            <a:off x="9121775" y="1844675"/>
            <a:ext cx="2254250" cy="2692400"/>
          </a:xfrm>
          <a:prstGeom prst="roundRect">
            <a:avLst>
              <a:gd fmla="val 4366"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9353550" y="2076450"/>
            <a:ext cx="1844421"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800"/>
              <a:buFont typeface="JetBrains Mono"/>
              <a:buNone/>
            </a:pPr>
            <a:r>
              <a:rPr b="1" i="0" lang="en-US" sz="2800" u="none" cap="none" strike="noStrike">
                <a:solidFill>
                  <a:srgbClr val="B5530F"/>
                </a:solidFill>
                <a:latin typeface="JetBrains Mono"/>
                <a:ea typeface="JetBrains Mono"/>
                <a:cs typeface="JetBrains Mono"/>
                <a:sym typeface="JetBrains Mono"/>
              </a:rPr>
              <a:t>4</a:t>
            </a:r>
            <a:endParaRPr b="0" i="0" sz="2800" u="none" cap="none" strike="noStrike">
              <a:solidFill>
                <a:schemeClr val="dk1"/>
              </a:solidFill>
              <a:latin typeface="IBM Plex Sans"/>
              <a:ea typeface="IBM Plex Sans"/>
              <a:cs typeface="IBM Plex Sans"/>
              <a:sym typeface="IBM Plex Sans"/>
            </a:endParaRPr>
          </a:p>
        </p:txBody>
      </p:sp>
      <p:sp>
        <p:nvSpPr>
          <p:cNvPr id="68" name="Google Shape;68;p4"/>
          <p:cNvSpPr/>
          <p:nvPr/>
        </p:nvSpPr>
        <p:spPr>
          <a:xfrm>
            <a:off x="9353550" y="2673350"/>
            <a:ext cx="1844421" cy="508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Draw and cross-check</a:t>
            </a:r>
            <a:endParaRPr b="0" i="0" sz="1600" u="none" cap="none" strike="noStrike">
              <a:solidFill>
                <a:schemeClr val="dk1"/>
              </a:solidFill>
              <a:latin typeface="IBM Plex Sans"/>
              <a:ea typeface="IBM Plex Sans"/>
              <a:cs typeface="IBM Plex Sans"/>
              <a:sym typeface="IBM Plex Sans"/>
            </a:endParaRPr>
          </a:p>
        </p:txBody>
      </p:sp>
      <p:sp>
        <p:nvSpPr>
          <p:cNvPr id="69" name="Google Shape;69;p4"/>
          <p:cNvSpPr/>
          <p:nvPr/>
        </p:nvSpPr>
        <p:spPr>
          <a:xfrm>
            <a:off x="9353550" y="3257550"/>
            <a:ext cx="1844421" cy="10731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Checked the box-and-arrow and sequence diagrams against each other and against the docs.</a:t>
            </a:r>
            <a:endParaRPr b="0" i="0" sz="1200" u="none" cap="none" strike="noStrike">
              <a:solidFill>
                <a:schemeClr val="dk1"/>
              </a:solidFill>
              <a:latin typeface="IBM Plex Sans"/>
              <a:ea typeface="IBM Plex Sans"/>
              <a:cs typeface="IBM Plex Sans"/>
              <a:sym typeface="IBM Plex Sans"/>
            </a:endParaRPr>
          </a:p>
        </p:txBody>
      </p:sp>
      <p:sp>
        <p:nvSpPr>
          <p:cNvPr id="70" name="Google Shape;70;p4"/>
          <p:cNvSpPr/>
          <p:nvPr/>
        </p:nvSpPr>
        <p:spPr>
          <a:xfrm>
            <a:off x="1054100" y="5435600"/>
            <a:ext cx="10634853" cy="58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1F27"/>
              </a:buClr>
              <a:buSzPts val="1600"/>
              <a:buFont typeface="IBM Plex Sans"/>
              <a:buNone/>
            </a:pPr>
            <a:r>
              <a:t/>
            </a:r>
            <a:endParaRPr b="0" i="0" sz="16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75" name="Shape 75"/>
        <p:cNvGrpSpPr/>
        <p:nvPr/>
      </p:nvGrpSpPr>
      <p:grpSpPr>
        <a:xfrm>
          <a:off x="0" y="0"/>
          <a:ext cx="0" cy="0"/>
          <a:chOff x="0" y="0"/>
          <a:chExt cx="0" cy="0"/>
        </a:xfrm>
      </p:grpSpPr>
      <p:sp>
        <p:nvSpPr>
          <p:cNvPr id="76" name="Google Shape;76;p5"/>
          <p:cNvSpPr/>
          <p:nvPr/>
        </p:nvSpPr>
        <p:spPr>
          <a:xfrm>
            <a:off x="812800" y="812800"/>
            <a:ext cx="784860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BOX-AND-ARROW  DIAGRAM</a:t>
            </a:r>
            <a:endParaRPr b="0" i="0" sz="1200" u="none" cap="none" strike="noStrike">
              <a:solidFill>
                <a:schemeClr val="dk1"/>
              </a:solidFill>
              <a:latin typeface="IBM Plex Sans"/>
              <a:ea typeface="IBM Plex Sans"/>
              <a:cs typeface="IBM Plex Sans"/>
              <a:sym typeface="IBM Plex Sans"/>
            </a:endParaRPr>
          </a:p>
        </p:txBody>
      </p:sp>
      <p:sp>
        <p:nvSpPr>
          <p:cNvPr id="77" name="Google Shape;77;p5"/>
          <p:cNvSpPr txBox="1"/>
          <p:nvPr>
            <p:ph type="title"/>
          </p:nvPr>
        </p:nvSpPr>
        <p:spPr>
          <a:xfrm>
            <a:off x="812800" y="1073150"/>
            <a:ext cx="10464800"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i="0" lang="en-US" sz="2800">
                <a:solidFill>
                  <a:srgbClr val="1B1F27"/>
                </a:solidFill>
                <a:latin typeface="IBM Plex Sans"/>
                <a:ea typeface="IBM Plex Sans"/>
                <a:cs typeface="IBM Plex Sans"/>
                <a:sym typeface="IBM Plex Sans"/>
              </a:rPr>
              <a:t>Conceptual </a:t>
            </a:r>
            <a:r>
              <a:rPr b="1" lang="en-US"/>
              <a:t>A</a:t>
            </a:r>
            <a:r>
              <a:rPr b="1" i="0" lang="en-US" sz="2800">
                <a:solidFill>
                  <a:srgbClr val="1B1F27"/>
                </a:solidFill>
                <a:latin typeface="IBM Plex Sans"/>
                <a:ea typeface="IBM Plex Sans"/>
                <a:cs typeface="IBM Plex Sans"/>
                <a:sym typeface="IBM Plex Sans"/>
              </a:rPr>
              <a:t>rchitecture</a:t>
            </a:r>
            <a:endParaRPr sz="2800"/>
          </a:p>
        </p:txBody>
      </p:sp>
      <p:sp>
        <p:nvSpPr>
          <p:cNvPr id="78" name="Google Shape;78;p5"/>
          <p:cNvSpPr/>
          <p:nvPr/>
        </p:nvSpPr>
        <p:spPr>
          <a:xfrm>
            <a:off x="812800" y="2489200"/>
            <a:ext cx="10566400" cy="501650"/>
          </a:xfrm>
          <a:prstGeom prst="roundRect">
            <a:avLst>
              <a:gd fmla="val 15190" name="adj"/>
            </a:avLst>
          </a:prstGeom>
          <a:solidFill>
            <a:srgbClr val="E9E2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965200" y="2781300"/>
            <a:ext cx="10569448"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4A12"/>
              </a:buClr>
              <a:buSzPts val="1200"/>
              <a:buFont typeface="JetBrains Mono"/>
              <a:buNone/>
            </a:pPr>
            <a:r>
              <a:rPr b="1" i="0" lang="en-US" spc="100" sz="1200" u="none" cap="none" strike="noStrike">
                <a:solidFill>
                  <a:srgbClr val="8A4A12"/>
                </a:solidFill>
                <a:latin typeface="JetBrains Mono"/>
                <a:ea typeface="JetBrains Mono"/>
                <a:cs typeface="JetBrains Mono"/>
                <a:sym typeface="JetBrains Mono"/>
              </a:rPr>
              <a:t>GUI</a:t>
            </a:r>
            <a:endParaRPr b="0" i="0" sz="1200" u="none" cap="none" strike="noStrike">
              <a:solidFill>
                <a:schemeClr val="dk1"/>
              </a:solidFill>
              <a:latin typeface="IBM Plex Sans"/>
              <a:ea typeface="IBM Plex Sans"/>
              <a:cs typeface="IBM Plex Sans"/>
              <a:sym typeface="IBM Plex Sans"/>
            </a:endParaRPr>
          </a:p>
        </p:txBody>
      </p:sp>
      <p:sp>
        <p:nvSpPr>
          <p:cNvPr id="80" name="Google Shape;80;p5"/>
          <p:cNvSpPr/>
          <p:nvPr/>
        </p:nvSpPr>
        <p:spPr>
          <a:xfrm>
            <a:off x="812800" y="3378200"/>
            <a:ext cx="10566400" cy="501650"/>
          </a:xfrm>
          <a:prstGeom prst="roundRect">
            <a:avLst>
              <a:gd fmla="val 15190" name="adj"/>
            </a:avLst>
          </a:prstGeom>
          <a:solidFill>
            <a:srgbClr val="E9E2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965200" y="3670300"/>
            <a:ext cx="10569448"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4A12"/>
              </a:buClr>
              <a:buSzPts val="1200"/>
              <a:buFont typeface="JetBrains Mono"/>
              <a:buNone/>
            </a:pPr>
            <a:r>
              <a:rPr b="1" i="0" lang="en-US" spc="100" sz="1200" u="none" cap="none" strike="noStrike">
                <a:solidFill>
                  <a:srgbClr val="8A4A12"/>
                </a:solidFill>
                <a:latin typeface="JetBrains Mono"/>
                <a:ea typeface="JetBrains Mono"/>
                <a:cs typeface="JetBrains Mono"/>
                <a:sym typeface="JetBrains Mono"/>
              </a:rPr>
              <a:t>SESSION</a:t>
            </a:r>
            <a:endParaRPr b="0" i="0" sz="1200" u="none" cap="none" strike="noStrike">
              <a:solidFill>
                <a:schemeClr val="dk1"/>
              </a:solidFill>
              <a:latin typeface="IBM Plex Sans"/>
              <a:ea typeface="IBM Plex Sans"/>
              <a:cs typeface="IBM Plex Sans"/>
              <a:sym typeface="IBM Plex Sans"/>
            </a:endParaRPr>
          </a:p>
        </p:txBody>
      </p:sp>
      <p:sp>
        <p:nvSpPr>
          <p:cNvPr id="82" name="Google Shape;82;p5"/>
          <p:cNvSpPr/>
          <p:nvPr/>
        </p:nvSpPr>
        <p:spPr>
          <a:xfrm>
            <a:off x="812800" y="4267200"/>
            <a:ext cx="10566400" cy="501650"/>
          </a:xfrm>
          <a:prstGeom prst="roundRect">
            <a:avLst>
              <a:gd fmla="val 15190" name="adj"/>
            </a:avLst>
          </a:prstGeom>
          <a:solidFill>
            <a:srgbClr val="E9E2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965200" y="4559300"/>
            <a:ext cx="10569448"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4A12"/>
              </a:buClr>
              <a:buSzPts val="1200"/>
              <a:buFont typeface="JetBrains Mono"/>
              <a:buNone/>
            </a:pPr>
            <a:r>
              <a:rPr b="1" i="0" lang="en-US" spc="100" sz="1200" u="none" cap="none" strike="noStrike">
                <a:solidFill>
                  <a:srgbClr val="8A4A12"/>
                </a:solidFill>
                <a:latin typeface="JetBrains Mono"/>
                <a:ea typeface="JetBrains Mono"/>
                <a:cs typeface="JetBrains Mono"/>
                <a:sym typeface="JetBrains Mono"/>
              </a:rPr>
              <a:t>TERMINAL</a:t>
            </a:r>
            <a:endParaRPr b="0" i="0" sz="1200" u="none" cap="none" strike="noStrike">
              <a:solidFill>
                <a:schemeClr val="dk1"/>
              </a:solidFill>
              <a:latin typeface="IBM Plex Sans"/>
              <a:ea typeface="IBM Plex Sans"/>
              <a:cs typeface="IBM Plex Sans"/>
              <a:sym typeface="IBM Plex Sans"/>
            </a:endParaRPr>
          </a:p>
        </p:txBody>
      </p:sp>
      <p:sp>
        <p:nvSpPr>
          <p:cNvPr id="84" name="Google Shape;84;p5"/>
          <p:cNvSpPr/>
          <p:nvPr/>
        </p:nvSpPr>
        <p:spPr>
          <a:xfrm>
            <a:off x="812800" y="5156200"/>
            <a:ext cx="10566400" cy="501650"/>
          </a:xfrm>
          <a:prstGeom prst="roundRect">
            <a:avLst>
              <a:gd fmla="val 15190" name="adj"/>
            </a:avLst>
          </a:prstGeom>
          <a:solidFill>
            <a:srgbClr val="E9E2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965200" y="5448300"/>
            <a:ext cx="10569448"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4A12"/>
              </a:buClr>
              <a:buSzPts val="1200"/>
              <a:buFont typeface="JetBrains Mono"/>
              <a:buNone/>
            </a:pPr>
            <a:r>
              <a:rPr b="1" i="0" lang="en-US" spc="100" sz="1200" u="none" cap="none" strike="noStrike">
                <a:solidFill>
                  <a:srgbClr val="8A4A12"/>
                </a:solidFill>
                <a:latin typeface="JetBrains Mono"/>
                <a:ea typeface="JetBrains Mono"/>
                <a:cs typeface="JetBrains Mono"/>
                <a:sym typeface="JetBrains Mono"/>
              </a:rPr>
              <a:t>OS / PROCESS</a:t>
            </a:r>
            <a:endParaRPr b="0" i="0" sz="1200" u="none" cap="none" strike="noStrike">
              <a:solidFill>
                <a:schemeClr val="dk1"/>
              </a:solidFill>
              <a:latin typeface="IBM Plex Sans"/>
              <a:ea typeface="IBM Plex Sans"/>
              <a:cs typeface="IBM Plex Sans"/>
              <a:sym typeface="IBM Plex Sans"/>
            </a:endParaRPr>
          </a:p>
        </p:txBody>
      </p:sp>
      <p:sp>
        <p:nvSpPr>
          <p:cNvPr id="86" name="Google Shape;86;p5"/>
          <p:cNvSpPr/>
          <p:nvPr/>
        </p:nvSpPr>
        <p:spPr>
          <a:xfrm>
            <a:off x="2463800" y="1663700"/>
            <a:ext cx="5486400" cy="660400"/>
          </a:xfrm>
          <a:prstGeom prst="roundRect">
            <a:avLst>
              <a:gd fmla="val 11538"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4978648" y="1752600"/>
            <a:ext cx="456605"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User</a:t>
            </a:r>
            <a:endParaRPr b="0" i="0" sz="1400" u="none" cap="none" strike="noStrike">
              <a:solidFill>
                <a:schemeClr val="dk1"/>
              </a:solidFill>
              <a:latin typeface="IBM Plex Sans"/>
              <a:ea typeface="IBM Plex Sans"/>
              <a:cs typeface="IBM Plex Sans"/>
              <a:sym typeface="IBM Plex Sans"/>
            </a:endParaRPr>
          </a:p>
        </p:txBody>
      </p:sp>
      <p:sp>
        <p:nvSpPr>
          <p:cNvPr id="88" name="Google Shape;88;p5"/>
          <p:cNvSpPr/>
          <p:nvPr/>
        </p:nvSpPr>
        <p:spPr>
          <a:xfrm>
            <a:off x="4018518" y="1974850"/>
            <a:ext cx="2376964" cy="222250"/>
          </a:xfrm>
          <a:prstGeom prst="rect">
            <a:avLst/>
          </a:prstGeom>
          <a:noFill/>
          <a:ln>
            <a:noFill/>
          </a:ln>
        </p:spPr>
        <p:txBody>
          <a:bodyPr anchorCtr="0" anchor="t" bIns="0" lIns="0" spcFirstLastPara="1" rIns="0" wrap="square" tIns="0">
            <a:normAutofit/>
          </a:bodyPr>
          <a:lstStyle/>
          <a:p>
            <a:pPr indent="0" lvl="0" marL="0" marR="0" rtl="0" algn="ctr">
              <a:lnSpc>
                <a:spcPct val="130000"/>
              </a:lnSpc>
              <a:spcBef>
                <a:spcPts val="0"/>
              </a:spcBef>
              <a:spcAft>
                <a:spcPts val="0"/>
              </a:spcAft>
              <a:buClr>
                <a:srgbClr val="B9BFCA"/>
              </a:buClr>
              <a:buSzPts val="1200"/>
              <a:buFont typeface="IBM Plex Sans"/>
              <a:buNone/>
            </a:pPr>
            <a:r>
              <a:rPr b="0" i="0" lang="en-US" sz="1200" u="none" cap="none" strike="noStrike">
                <a:solidFill>
                  <a:srgbClr val="B9BFCA"/>
                </a:solidFill>
                <a:latin typeface="IBM Plex Sans"/>
                <a:ea typeface="IBM Plex Sans"/>
                <a:cs typeface="IBM Plex Sans"/>
                <a:sym typeface="IBM Plex Sans"/>
              </a:rPr>
              <a:t>types input, reads the screen</a:t>
            </a:r>
            <a:endParaRPr b="0" i="0" sz="1200" u="none" cap="none" strike="noStrike">
              <a:solidFill>
                <a:schemeClr val="dk1"/>
              </a:solidFill>
              <a:latin typeface="IBM Plex Sans"/>
              <a:ea typeface="IBM Plex Sans"/>
              <a:cs typeface="IBM Plex Sans"/>
              <a:sym typeface="IBM Plex Sans"/>
            </a:endParaRPr>
          </a:p>
        </p:txBody>
      </p:sp>
      <p:sp>
        <p:nvSpPr>
          <p:cNvPr id="89" name="Google Shape;89;p5"/>
          <p:cNvSpPr/>
          <p:nvPr/>
        </p:nvSpPr>
        <p:spPr>
          <a:xfrm>
            <a:off x="2470150" y="2559050"/>
            <a:ext cx="2527300" cy="647700"/>
          </a:xfrm>
          <a:prstGeom prst="roundRect">
            <a:avLst>
              <a:gd fmla="val 10784" name="adj"/>
            </a:avLst>
          </a:prstGeom>
          <a:solidFill>
            <a:srgbClr val="FFFDF9"/>
          </a:solidFill>
          <a:ln cap="flat" cmpd="sng" w="12700">
            <a:solidFill>
              <a:srgbClr val="1B1F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2603500" y="2654300"/>
            <a:ext cx="2328418" cy="23495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Input handling</a:t>
            </a:r>
            <a:endParaRPr b="0" i="0" sz="1400" u="none" cap="none" strike="noStrike">
              <a:solidFill>
                <a:schemeClr val="dk1"/>
              </a:solidFill>
              <a:latin typeface="IBM Plex Sans"/>
              <a:ea typeface="IBM Plex Sans"/>
              <a:cs typeface="IBM Plex Sans"/>
              <a:sym typeface="IBM Plex Sans"/>
            </a:endParaRPr>
          </a:p>
        </p:txBody>
      </p:sp>
      <p:sp>
        <p:nvSpPr>
          <p:cNvPr id="91" name="Google Shape;91;p5"/>
          <p:cNvSpPr/>
          <p:nvPr/>
        </p:nvSpPr>
        <p:spPr>
          <a:xfrm>
            <a:off x="2603500" y="2876550"/>
            <a:ext cx="2328418"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key bindings · encoding</a:t>
            </a:r>
            <a:endParaRPr b="0" i="0" sz="1200" u="none" cap="none" strike="noStrike">
              <a:solidFill>
                <a:schemeClr val="dk1"/>
              </a:solidFill>
              <a:latin typeface="IBM Plex Sans"/>
              <a:ea typeface="IBM Plex Sans"/>
              <a:cs typeface="IBM Plex Sans"/>
              <a:sym typeface="IBM Plex Sans"/>
            </a:endParaRPr>
          </a:p>
        </p:txBody>
      </p:sp>
      <p:sp>
        <p:nvSpPr>
          <p:cNvPr id="92" name="Google Shape;92;p5"/>
          <p:cNvSpPr/>
          <p:nvPr/>
        </p:nvSpPr>
        <p:spPr>
          <a:xfrm>
            <a:off x="5416550" y="2559050"/>
            <a:ext cx="2527300" cy="647700"/>
          </a:xfrm>
          <a:prstGeom prst="roundRect">
            <a:avLst>
              <a:gd fmla="val 10784" name="adj"/>
            </a:avLst>
          </a:prstGeom>
          <a:solidFill>
            <a:srgbClr val="FFFDF9"/>
          </a:solidFill>
          <a:ln cap="flat" cmpd="sng" w="12700">
            <a:solidFill>
              <a:srgbClr val="1B1F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5549900" y="2654300"/>
            <a:ext cx="2328418" cy="23495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Renderer</a:t>
            </a:r>
            <a:endParaRPr b="0" i="0" sz="1400" u="none" cap="none" strike="noStrike">
              <a:solidFill>
                <a:schemeClr val="dk1"/>
              </a:solidFill>
              <a:latin typeface="IBM Plex Sans"/>
              <a:ea typeface="IBM Plex Sans"/>
              <a:cs typeface="IBM Plex Sans"/>
              <a:sym typeface="IBM Plex Sans"/>
            </a:endParaRPr>
          </a:p>
        </p:txBody>
      </p:sp>
      <p:sp>
        <p:nvSpPr>
          <p:cNvPr id="94" name="Google Shape;94;p5"/>
          <p:cNvSpPr/>
          <p:nvPr/>
        </p:nvSpPr>
        <p:spPr>
          <a:xfrm>
            <a:off x="5549900" y="2876550"/>
            <a:ext cx="2328418"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draws screen state</a:t>
            </a:r>
            <a:endParaRPr b="0" i="0" sz="1200" u="none" cap="none" strike="noStrike">
              <a:solidFill>
                <a:schemeClr val="dk1"/>
              </a:solidFill>
              <a:latin typeface="IBM Plex Sans"/>
              <a:ea typeface="IBM Plex Sans"/>
              <a:cs typeface="IBM Plex Sans"/>
              <a:sym typeface="IBM Plex Sans"/>
            </a:endParaRPr>
          </a:p>
        </p:txBody>
      </p:sp>
      <p:sp>
        <p:nvSpPr>
          <p:cNvPr id="95" name="Google Shape;95;p5"/>
          <p:cNvSpPr/>
          <p:nvPr/>
        </p:nvSpPr>
        <p:spPr>
          <a:xfrm>
            <a:off x="8464550" y="2559050"/>
            <a:ext cx="2908300" cy="647700"/>
          </a:xfrm>
          <a:prstGeom prst="roundRect">
            <a:avLst>
              <a:gd fmla="val 10784" name="adj"/>
            </a:avLst>
          </a:prstGeom>
          <a:solidFill>
            <a:srgbClr val="FFFDF9"/>
          </a:solidFill>
          <a:ln cap="flat" cmpd="sng" w="12700">
            <a:solidFill>
              <a:srgbClr val="6B728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8597900" y="2654300"/>
            <a:ext cx="2720848" cy="23495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Lua configuration</a:t>
            </a:r>
            <a:endParaRPr b="0" i="0" sz="1400" u="none" cap="none" strike="noStrike">
              <a:solidFill>
                <a:schemeClr val="dk1"/>
              </a:solidFill>
              <a:latin typeface="IBM Plex Sans"/>
              <a:ea typeface="IBM Plex Sans"/>
              <a:cs typeface="IBM Plex Sans"/>
              <a:sym typeface="IBM Plex Sans"/>
            </a:endParaRPr>
          </a:p>
        </p:txBody>
      </p:sp>
      <p:sp>
        <p:nvSpPr>
          <p:cNvPr id="97" name="Google Shape;97;p5"/>
          <p:cNvSpPr/>
          <p:nvPr/>
        </p:nvSpPr>
        <p:spPr>
          <a:xfrm>
            <a:off x="8597900" y="2876550"/>
            <a:ext cx="2720848"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settings · events · scripts</a:t>
            </a:r>
            <a:endParaRPr b="0" i="0" sz="1200" u="none" cap="none" strike="noStrike">
              <a:solidFill>
                <a:schemeClr val="dk1"/>
              </a:solidFill>
              <a:latin typeface="IBM Plex Sans"/>
              <a:ea typeface="IBM Plex Sans"/>
              <a:cs typeface="IBM Plex Sans"/>
              <a:sym typeface="IBM Plex Sans"/>
            </a:endParaRPr>
          </a:p>
        </p:txBody>
      </p:sp>
      <p:sp>
        <p:nvSpPr>
          <p:cNvPr id="98" name="Google Shape;98;p5"/>
          <p:cNvSpPr/>
          <p:nvPr/>
        </p:nvSpPr>
        <p:spPr>
          <a:xfrm>
            <a:off x="2470150" y="3448050"/>
            <a:ext cx="5473700" cy="647700"/>
          </a:xfrm>
          <a:prstGeom prst="roundRect">
            <a:avLst>
              <a:gd fmla="val 10784" name="adj"/>
            </a:avLst>
          </a:prstGeom>
          <a:solidFill>
            <a:srgbClr val="FFFDF9"/>
          </a:solidFill>
          <a:ln cap="flat" cmpd="sng" w="12700">
            <a:solidFill>
              <a:srgbClr val="1B1F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2603500" y="3543300"/>
            <a:ext cx="5363210" cy="23495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Multiplexer (mux)</a:t>
            </a:r>
            <a:endParaRPr b="0" i="0" sz="1400" u="none" cap="none" strike="noStrike">
              <a:solidFill>
                <a:schemeClr val="dk1"/>
              </a:solidFill>
              <a:latin typeface="IBM Plex Sans"/>
              <a:ea typeface="IBM Plex Sans"/>
              <a:cs typeface="IBM Plex Sans"/>
              <a:sym typeface="IBM Plex Sans"/>
            </a:endParaRPr>
          </a:p>
        </p:txBody>
      </p:sp>
      <p:sp>
        <p:nvSpPr>
          <p:cNvPr id="100" name="Google Shape;100;p5"/>
          <p:cNvSpPr/>
          <p:nvPr/>
        </p:nvSpPr>
        <p:spPr>
          <a:xfrm>
            <a:off x="2603500" y="3765550"/>
            <a:ext cx="5363210"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windows · tabs · panes · workspaces · domains</a:t>
            </a:r>
            <a:endParaRPr b="0" i="0" sz="1200" u="none" cap="none" strike="noStrike">
              <a:solidFill>
                <a:schemeClr val="dk1"/>
              </a:solidFill>
              <a:latin typeface="IBM Plex Sans"/>
              <a:ea typeface="IBM Plex Sans"/>
              <a:cs typeface="IBM Plex Sans"/>
              <a:sym typeface="IBM Plex Sans"/>
            </a:endParaRPr>
          </a:p>
        </p:txBody>
      </p:sp>
      <p:sp>
        <p:nvSpPr>
          <p:cNvPr id="101" name="Google Shape;101;p5"/>
          <p:cNvSpPr/>
          <p:nvPr/>
        </p:nvSpPr>
        <p:spPr>
          <a:xfrm>
            <a:off x="8464550" y="3448050"/>
            <a:ext cx="2908300" cy="647700"/>
          </a:xfrm>
          <a:prstGeom prst="roundRect">
            <a:avLst>
              <a:gd fmla="val 10784" name="adj"/>
            </a:avLst>
          </a:prstGeom>
          <a:solidFill>
            <a:srgbClr val="FFFDF9"/>
          </a:solidFill>
          <a:ln cap="flat" cmpd="sng" w="12700">
            <a:solidFill>
              <a:srgbClr val="1B1F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8597900" y="3543300"/>
            <a:ext cx="2720848" cy="23495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Remote </a:t>
            </a:r>
            <a:r>
              <a:rPr b="1" i="0" lang="en-US" sz="1400" u="none" cap="none" strike="noStrike">
                <a:solidFill>
                  <a:srgbClr val="1B1F27"/>
                </a:solidFill>
                <a:latin typeface="IBM Plex Sans"/>
                <a:ea typeface="IBM Plex Sans"/>
                <a:cs typeface="IBM Plex Sans"/>
                <a:sym typeface="IBM Plex Sans"/>
              </a:rPr>
              <a:t>mux server</a:t>
            </a:r>
            <a:endParaRPr b="0" i="0" sz="1400" u="none" cap="none" strike="noStrike">
              <a:solidFill>
                <a:schemeClr val="dk1"/>
              </a:solidFill>
              <a:latin typeface="IBM Plex Sans"/>
              <a:ea typeface="IBM Plex Sans"/>
              <a:cs typeface="IBM Plex Sans"/>
              <a:sym typeface="IBM Plex Sans"/>
            </a:endParaRPr>
          </a:p>
        </p:txBody>
      </p:sp>
      <p:sp>
        <p:nvSpPr>
          <p:cNvPr id="103" name="Google Shape;103;p5"/>
          <p:cNvSpPr/>
          <p:nvPr/>
        </p:nvSpPr>
        <p:spPr>
          <a:xfrm>
            <a:off x="8597900" y="3765550"/>
            <a:ext cx="2720848"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Unix socket · SSH · TLS</a:t>
            </a:r>
            <a:endParaRPr b="0" i="0" sz="1200" u="none" cap="none" strike="noStrike">
              <a:solidFill>
                <a:schemeClr val="dk1"/>
              </a:solidFill>
              <a:latin typeface="IBM Plex Sans"/>
              <a:ea typeface="IBM Plex Sans"/>
              <a:cs typeface="IBM Plex Sans"/>
              <a:sym typeface="IBM Plex Sans"/>
            </a:endParaRPr>
          </a:p>
        </p:txBody>
      </p:sp>
      <p:sp>
        <p:nvSpPr>
          <p:cNvPr id="104" name="Google Shape;104;p5"/>
          <p:cNvSpPr/>
          <p:nvPr/>
        </p:nvSpPr>
        <p:spPr>
          <a:xfrm>
            <a:off x="2470150" y="4337050"/>
            <a:ext cx="5473700" cy="647700"/>
          </a:xfrm>
          <a:prstGeom prst="roundRect">
            <a:avLst>
              <a:gd fmla="val 10784" name="adj"/>
            </a:avLst>
          </a:prstGeom>
          <a:solidFill>
            <a:srgbClr val="FFFDF9"/>
          </a:solidFill>
          <a:ln cap="flat" cmpd="sng" w="12700">
            <a:solidFill>
              <a:srgbClr val="1B1F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2603500" y="4432300"/>
            <a:ext cx="5363210" cy="23495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Pane + terminal emulation</a:t>
            </a:r>
            <a:endParaRPr b="0" i="0" sz="1400" u="none" cap="none" strike="noStrike">
              <a:solidFill>
                <a:schemeClr val="dk1"/>
              </a:solidFill>
              <a:latin typeface="IBM Plex Sans"/>
              <a:ea typeface="IBM Plex Sans"/>
              <a:cs typeface="IBM Plex Sans"/>
              <a:sym typeface="IBM Plex Sans"/>
            </a:endParaRPr>
          </a:p>
        </p:txBody>
      </p:sp>
      <p:sp>
        <p:nvSpPr>
          <p:cNvPr id="106" name="Google Shape;106;p5"/>
          <p:cNvSpPr/>
          <p:nvPr/>
        </p:nvSpPr>
        <p:spPr>
          <a:xfrm>
            <a:off x="2603500" y="4654550"/>
            <a:ext cx="5363210"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escape-sequence parser · screen state · scrollback</a:t>
            </a:r>
            <a:endParaRPr b="0" i="0" sz="1200" u="none" cap="none" strike="noStrike">
              <a:solidFill>
                <a:schemeClr val="dk1"/>
              </a:solidFill>
              <a:latin typeface="IBM Plex Sans"/>
              <a:ea typeface="IBM Plex Sans"/>
              <a:cs typeface="IBM Plex Sans"/>
              <a:sym typeface="IBM Plex Sans"/>
            </a:endParaRPr>
          </a:p>
        </p:txBody>
      </p:sp>
      <p:sp>
        <p:nvSpPr>
          <p:cNvPr id="107" name="Google Shape;107;p5"/>
          <p:cNvSpPr/>
          <p:nvPr/>
        </p:nvSpPr>
        <p:spPr>
          <a:xfrm>
            <a:off x="2470150" y="5226050"/>
            <a:ext cx="2527300" cy="647700"/>
          </a:xfrm>
          <a:prstGeom prst="roundRect">
            <a:avLst>
              <a:gd fmla="val 10784" name="adj"/>
            </a:avLst>
          </a:prstGeom>
          <a:solidFill>
            <a:srgbClr val="FFFDF9"/>
          </a:solidFill>
          <a:ln cap="flat" cmpd="sng" w="12700">
            <a:solidFill>
              <a:srgbClr val="1B1F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2603500" y="5321300"/>
            <a:ext cx="2328418" cy="23495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PTY layer</a:t>
            </a:r>
            <a:endParaRPr b="0" i="0" sz="1400" u="none" cap="none" strike="noStrike">
              <a:solidFill>
                <a:schemeClr val="dk1"/>
              </a:solidFill>
              <a:latin typeface="IBM Plex Sans"/>
              <a:ea typeface="IBM Plex Sans"/>
              <a:cs typeface="IBM Plex Sans"/>
              <a:sym typeface="IBM Plex Sans"/>
            </a:endParaRPr>
          </a:p>
        </p:txBody>
      </p:sp>
      <p:sp>
        <p:nvSpPr>
          <p:cNvPr id="109" name="Google Shape;109;p5"/>
          <p:cNvSpPr/>
          <p:nvPr/>
        </p:nvSpPr>
        <p:spPr>
          <a:xfrm>
            <a:off x="2603500" y="5543550"/>
            <a:ext cx="2328418"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pseudo-terminal · ConPTY</a:t>
            </a:r>
            <a:endParaRPr b="0" i="0" sz="1200" u="none" cap="none" strike="noStrike">
              <a:solidFill>
                <a:schemeClr val="dk1"/>
              </a:solidFill>
              <a:latin typeface="IBM Plex Sans"/>
              <a:ea typeface="IBM Plex Sans"/>
              <a:cs typeface="IBM Plex Sans"/>
              <a:sym typeface="IBM Plex Sans"/>
            </a:endParaRPr>
          </a:p>
        </p:txBody>
      </p:sp>
      <p:sp>
        <p:nvSpPr>
          <p:cNvPr id="110" name="Google Shape;110;p5"/>
          <p:cNvSpPr/>
          <p:nvPr/>
        </p:nvSpPr>
        <p:spPr>
          <a:xfrm>
            <a:off x="5416550" y="5226050"/>
            <a:ext cx="2527300" cy="647700"/>
          </a:xfrm>
          <a:prstGeom prst="roundRect">
            <a:avLst>
              <a:gd fmla="val 10784" name="adj"/>
            </a:avLst>
          </a:prstGeom>
          <a:solidFill>
            <a:srgbClr val="FFFDF9"/>
          </a:solidFill>
          <a:ln cap="flat" cmpd="sng" w="12700">
            <a:solidFill>
              <a:srgbClr val="1B1F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5549900" y="5321300"/>
            <a:ext cx="2328418" cy="23495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Shell and apps</a:t>
            </a:r>
            <a:endParaRPr b="0" i="0" sz="1400" u="none" cap="none" strike="noStrike">
              <a:solidFill>
                <a:schemeClr val="dk1"/>
              </a:solidFill>
              <a:latin typeface="IBM Plex Sans"/>
              <a:ea typeface="IBM Plex Sans"/>
              <a:cs typeface="IBM Plex Sans"/>
              <a:sym typeface="IBM Plex Sans"/>
            </a:endParaRPr>
          </a:p>
        </p:txBody>
      </p:sp>
      <p:sp>
        <p:nvSpPr>
          <p:cNvPr id="112" name="Google Shape;112;p5"/>
          <p:cNvSpPr/>
          <p:nvPr/>
        </p:nvSpPr>
        <p:spPr>
          <a:xfrm>
            <a:off x="5549900" y="5543550"/>
            <a:ext cx="2328418"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bash · zsh · vim</a:t>
            </a:r>
            <a:endParaRPr b="0" i="0" sz="1200" u="none" cap="none" strike="noStrike">
              <a:solidFill>
                <a:schemeClr val="dk1"/>
              </a:solidFill>
              <a:latin typeface="IBM Plex Sans"/>
              <a:ea typeface="IBM Plex Sans"/>
              <a:cs typeface="IBM Plex Sans"/>
              <a:sym typeface="IBM Plex Sans"/>
            </a:endParaRPr>
          </a:p>
        </p:txBody>
      </p:sp>
      <p:sp>
        <p:nvSpPr>
          <p:cNvPr id="113" name="Google Shape;113;p5"/>
          <p:cNvSpPr/>
          <p:nvPr/>
        </p:nvSpPr>
        <p:spPr>
          <a:xfrm>
            <a:off x="8461375" y="4333875"/>
            <a:ext cx="2914650" cy="1543050"/>
          </a:xfrm>
          <a:prstGeom prst="roundRect">
            <a:avLst>
              <a:gd fmla="val 4733" name="adj"/>
            </a:avLst>
          </a:prstGeom>
          <a:solidFill>
            <a:srgbClr val="FFFDF9"/>
          </a:solidFill>
          <a:ln cap="flat" cmpd="sng" w="9525">
            <a:solidFill>
              <a:srgbClr val="D6CD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8616950" y="4464050"/>
            <a:ext cx="2681605" cy="210840"/>
          </a:xfrm>
          <a:prstGeom prst="rect">
            <a:avLst/>
          </a:prstGeom>
          <a:noFill/>
          <a:ln>
            <a:noFill/>
          </a:ln>
        </p:spPr>
        <p:txBody>
          <a:bodyPr anchorCtr="0" anchor="t" bIns="0" lIns="0" spcFirstLastPara="1" rIns="0" wrap="square" tIns="0">
            <a:normAutofit/>
          </a:bodyPr>
          <a:lstStyle/>
          <a:p>
            <a:pPr indent="0" lvl="0" marL="0" marR="0" rtl="0" algn="l">
              <a:lnSpc>
                <a:spcPct val="139943"/>
              </a:lnSpc>
              <a:spcBef>
                <a:spcPts val="0"/>
              </a:spcBef>
              <a:spcAft>
                <a:spcPts val="0"/>
              </a:spcAft>
              <a:buClr>
                <a:srgbClr val="1B1F27"/>
              </a:buClr>
              <a:buSzPts val="1069"/>
              <a:buFont typeface="JetBrains Mono"/>
              <a:buNone/>
            </a:pPr>
            <a:r>
              <a:rPr b="1" i="0" lang="en-US" sz="1069" u="none" cap="none" strike="noStrike">
                <a:solidFill>
                  <a:srgbClr val="1B1F27"/>
                </a:solidFill>
                <a:latin typeface="JetBrains Mono"/>
                <a:ea typeface="JetBrains Mono"/>
                <a:cs typeface="JetBrains Mono"/>
                <a:sym typeface="JetBrains Mono"/>
              </a:rPr>
              <a:t>LEGEND</a:t>
            </a:r>
            <a:endParaRPr b="0" i="0" sz="1069" u="none" cap="none" strike="noStrike">
              <a:solidFill>
                <a:schemeClr val="dk1"/>
              </a:solidFill>
              <a:latin typeface="IBM Plex Sans"/>
              <a:ea typeface="IBM Plex Sans"/>
              <a:cs typeface="IBM Plex Sans"/>
              <a:sym typeface="IBM Plex Sans"/>
            </a:endParaRPr>
          </a:p>
        </p:txBody>
      </p:sp>
      <p:pic>
        <p:nvPicPr>
          <p:cNvPr descr="line" id="115" name="Google Shape;115;p5"/>
          <p:cNvPicPr preferRelativeResize="0"/>
          <p:nvPr/>
        </p:nvPicPr>
        <p:blipFill rotWithShape="1">
          <a:blip r:embed="rId3">
            <a:alphaModFix/>
          </a:blip>
          <a:srcRect b="0" l="0" r="0" t="0"/>
          <a:stretch/>
        </p:blipFill>
        <p:spPr>
          <a:xfrm>
            <a:off x="8616950" y="4818360"/>
            <a:ext cx="355600" cy="25400"/>
          </a:xfrm>
          <a:prstGeom prst="rect">
            <a:avLst/>
          </a:prstGeom>
          <a:noFill/>
          <a:ln>
            <a:noFill/>
          </a:ln>
        </p:spPr>
      </p:pic>
      <p:sp>
        <p:nvSpPr>
          <p:cNvPr id="116" name="Google Shape;116;p5"/>
          <p:cNvSpPr/>
          <p:nvPr/>
        </p:nvSpPr>
        <p:spPr>
          <a:xfrm>
            <a:off x="9074150" y="4726384"/>
            <a:ext cx="1777484"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input / control (down)</a:t>
            </a:r>
            <a:endParaRPr b="0" i="0" sz="1200" u="none" cap="none" strike="noStrike">
              <a:solidFill>
                <a:schemeClr val="dk1"/>
              </a:solidFill>
              <a:latin typeface="IBM Plex Sans"/>
              <a:ea typeface="IBM Plex Sans"/>
              <a:cs typeface="IBM Plex Sans"/>
              <a:sym typeface="IBM Plex Sans"/>
            </a:endParaRPr>
          </a:p>
        </p:txBody>
      </p:sp>
      <p:pic>
        <p:nvPicPr>
          <p:cNvPr descr="line" id="117" name="Google Shape;117;p5"/>
          <p:cNvPicPr preferRelativeResize="0"/>
          <p:nvPr/>
        </p:nvPicPr>
        <p:blipFill rotWithShape="1">
          <a:blip r:embed="rId4">
            <a:alphaModFix/>
          </a:blip>
          <a:srcRect b="0" l="0" r="0" t="0"/>
          <a:stretch/>
        </p:blipFill>
        <p:spPr>
          <a:xfrm>
            <a:off x="8616950" y="5092700"/>
            <a:ext cx="355600" cy="25400"/>
          </a:xfrm>
          <a:prstGeom prst="rect">
            <a:avLst/>
          </a:prstGeom>
          <a:noFill/>
          <a:ln>
            <a:noFill/>
          </a:ln>
        </p:spPr>
      </p:pic>
      <p:sp>
        <p:nvSpPr>
          <p:cNvPr id="118" name="Google Shape;118;p5"/>
          <p:cNvSpPr/>
          <p:nvPr/>
        </p:nvSpPr>
        <p:spPr>
          <a:xfrm>
            <a:off x="9074150" y="5000724"/>
            <a:ext cx="1442204"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output / data (up)</a:t>
            </a:r>
            <a:endParaRPr b="0" i="0" sz="1200" u="none" cap="none" strike="noStrike">
              <a:solidFill>
                <a:schemeClr val="dk1"/>
              </a:solidFill>
              <a:latin typeface="IBM Plex Sans"/>
              <a:ea typeface="IBM Plex Sans"/>
              <a:cs typeface="IBM Plex Sans"/>
              <a:sym typeface="IBM Plex Sans"/>
            </a:endParaRPr>
          </a:p>
        </p:txBody>
      </p:sp>
      <p:pic>
        <p:nvPicPr>
          <p:cNvPr descr="line" id="119" name="Google Shape;119;p5"/>
          <p:cNvPicPr preferRelativeResize="0"/>
          <p:nvPr/>
        </p:nvPicPr>
        <p:blipFill rotWithShape="1">
          <a:blip r:embed="rId5">
            <a:alphaModFix/>
          </a:blip>
          <a:srcRect b="0" l="0" r="0" t="0"/>
          <a:stretch/>
        </p:blipFill>
        <p:spPr>
          <a:xfrm>
            <a:off x="8616950" y="5354340"/>
            <a:ext cx="355600" cy="50800"/>
          </a:xfrm>
          <a:prstGeom prst="rect">
            <a:avLst/>
          </a:prstGeom>
          <a:noFill/>
          <a:ln>
            <a:noFill/>
          </a:ln>
        </p:spPr>
      </p:pic>
      <p:sp>
        <p:nvSpPr>
          <p:cNvPr id="120" name="Google Shape;120;p5"/>
          <p:cNvSpPr/>
          <p:nvPr/>
        </p:nvSpPr>
        <p:spPr>
          <a:xfrm>
            <a:off x="9074150" y="5275064"/>
            <a:ext cx="1080849"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configuration</a:t>
            </a:r>
            <a:endParaRPr b="0" i="0" sz="1200" u="none" cap="none" strike="noStrike">
              <a:solidFill>
                <a:schemeClr val="dk1"/>
              </a:solidFill>
              <a:latin typeface="IBM Plex Sans"/>
              <a:ea typeface="IBM Plex Sans"/>
              <a:cs typeface="IBM Plex Sans"/>
              <a:sym typeface="IBM Plex Sans"/>
            </a:endParaRPr>
          </a:p>
        </p:txBody>
      </p:sp>
      <p:pic>
        <p:nvPicPr>
          <p:cNvPr descr="line" id="121" name="Google Shape;121;p5"/>
          <p:cNvPicPr preferRelativeResize="0"/>
          <p:nvPr/>
        </p:nvPicPr>
        <p:blipFill rotWithShape="1">
          <a:blip r:embed="rId6">
            <a:alphaModFix/>
          </a:blip>
          <a:srcRect b="0" l="0" r="0" t="0"/>
          <a:stretch/>
        </p:blipFill>
        <p:spPr>
          <a:xfrm>
            <a:off x="8616950" y="5641380"/>
            <a:ext cx="355600" cy="25400"/>
          </a:xfrm>
          <a:prstGeom prst="rect">
            <a:avLst/>
          </a:prstGeom>
          <a:noFill/>
          <a:ln>
            <a:noFill/>
          </a:ln>
        </p:spPr>
      </p:pic>
      <p:sp>
        <p:nvSpPr>
          <p:cNvPr id="122" name="Google Shape;122;p5"/>
          <p:cNvSpPr/>
          <p:nvPr/>
        </p:nvSpPr>
        <p:spPr>
          <a:xfrm>
            <a:off x="9074150" y="5549404"/>
            <a:ext cx="1957983"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session link (both ways)</a:t>
            </a:r>
            <a:endParaRPr b="0" i="0" sz="1200" u="none" cap="none" strike="noStrike">
              <a:solidFill>
                <a:schemeClr val="dk1"/>
              </a:solidFill>
              <a:latin typeface="IBM Plex Sans"/>
              <a:ea typeface="IBM Plex Sans"/>
              <a:cs typeface="IBM Plex Sans"/>
              <a:sym typeface="IBM Plex Sans"/>
            </a:endParaRPr>
          </a:p>
        </p:txBody>
      </p:sp>
      <p:pic>
        <p:nvPicPr>
          <p:cNvPr descr="connector" id="123" name="Google Shape;123;p5"/>
          <p:cNvPicPr preferRelativeResize="0"/>
          <p:nvPr/>
        </p:nvPicPr>
        <p:blipFill rotWithShape="1">
          <a:blip r:embed="rId7">
            <a:alphaModFix/>
          </a:blip>
          <a:srcRect b="0" l="0" r="0" t="0"/>
          <a:stretch/>
        </p:blipFill>
        <p:spPr>
          <a:xfrm>
            <a:off x="3365500" y="2260600"/>
            <a:ext cx="127000" cy="355600"/>
          </a:xfrm>
          <a:prstGeom prst="rect">
            <a:avLst/>
          </a:prstGeom>
          <a:noFill/>
          <a:ln>
            <a:noFill/>
          </a:ln>
        </p:spPr>
      </p:pic>
      <p:pic>
        <p:nvPicPr>
          <p:cNvPr descr="connector" id="124" name="Google Shape;124;p5"/>
          <p:cNvPicPr preferRelativeResize="0"/>
          <p:nvPr/>
        </p:nvPicPr>
        <p:blipFill rotWithShape="1">
          <a:blip r:embed="rId8">
            <a:alphaModFix/>
          </a:blip>
          <a:srcRect b="0" l="0" r="0" t="0"/>
          <a:stretch/>
        </p:blipFill>
        <p:spPr>
          <a:xfrm>
            <a:off x="6921500" y="2260600"/>
            <a:ext cx="127000" cy="355600"/>
          </a:xfrm>
          <a:prstGeom prst="rect">
            <a:avLst/>
          </a:prstGeom>
          <a:noFill/>
          <a:ln>
            <a:noFill/>
          </a:ln>
        </p:spPr>
      </p:pic>
      <p:pic>
        <p:nvPicPr>
          <p:cNvPr descr="connector" id="125" name="Google Shape;125;p5"/>
          <p:cNvPicPr preferRelativeResize="0"/>
          <p:nvPr/>
        </p:nvPicPr>
        <p:blipFill rotWithShape="1">
          <a:blip r:embed="rId7">
            <a:alphaModFix/>
          </a:blip>
          <a:srcRect b="0" l="0" r="0" t="0"/>
          <a:stretch/>
        </p:blipFill>
        <p:spPr>
          <a:xfrm>
            <a:off x="3365500" y="3149600"/>
            <a:ext cx="127000" cy="355600"/>
          </a:xfrm>
          <a:prstGeom prst="rect">
            <a:avLst/>
          </a:prstGeom>
          <a:noFill/>
          <a:ln>
            <a:noFill/>
          </a:ln>
        </p:spPr>
      </p:pic>
      <p:pic>
        <p:nvPicPr>
          <p:cNvPr descr="connector" id="126" name="Google Shape;126;p5"/>
          <p:cNvPicPr preferRelativeResize="0"/>
          <p:nvPr/>
        </p:nvPicPr>
        <p:blipFill rotWithShape="1">
          <a:blip r:embed="rId8">
            <a:alphaModFix/>
          </a:blip>
          <a:srcRect b="0" l="0" r="0" t="0"/>
          <a:stretch/>
        </p:blipFill>
        <p:spPr>
          <a:xfrm>
            <a:off x="6921500" y="3149600"/>
            <a:ext cx="127000" cy="355600"/>
          </a:xfrm>
          <a:prstGeom prst="rect">
            <a:avLst/>
          </a:prstGeom>
          <a:noFill/>
          <a:ln>
            <a:noFill/>
          </a:ln>
        </p:spPr>
      </p:pic>
      <p:pic>
        <p:nvPicPr>
          <p:cNvPr descr="connector" id="127" name="Google Shape;127;p5"/>
          <p:cNvPicPr preferRelativeResize="0"/>
          <p:nvPr/>
        </p:nvPicPr>
        <p:blipFill rotWithShape="1">
          <a:blip r:embed="rId7">
            <a:alphaModFix/>
          </a:blip>
          <a:srcRect b="0" l="0" r="0" t="0"/>
          <a:stretch/>
        </p:blipFill>
        <p:spPr>
          <a:xfrm>
            <a:off x="3365500" y="4038600"/>
            <a:ext cx="127000" cy="355600"/>
          </a:xfrm>
          <a:prstGeom prst="rect">
            <a:avLst/>
          </a:prstGeom>
          <a:noFill/>
          <a:ln>
            <a:noFill/>
          </a:ln>
        </p:spPr>
      </p:pic>
      <p:pic>
        <p:nvPicPr>
          <p:cNvPr descr="connector" id="128" name="Google Shape;128;p5"/>
          <p:cNvPicPr preferRelativeResize="0"/>
          <p:nvPr/>
        </p:nvPicPr>
        <p:blipFill rotWithShape="1">
          <a:blip r:embed="rId8">
            <a:alphaModFix/>
          </a:blip>
          <a:srcRect b="0" l="0" r="0" t="0"/>
          <a:stretch/>
        </p:blipFill>
        <p:spPr>
          <a:xfrm>
            <a:off x="6921500" y="4038600"/>
            <a:ext cx="127000" cy="355600"/>
          </a:xfrm>
          <a:prstGeom prst="rect">
            <a:avLst/>
          </a:prstGeom>
          <a:noFill/>
          <a:ln>
            <a:noFill/>
          </a:ln>
        </p:spPr>
      </p:pic>
      <p:pic>
        <p:nvPicPr>
          <p:cNvPr descr="connector" id="129" name="Google Shape;129;p5"/>
          <p:cNvPicPr preferRelativeResize="0"/>
          <p:nvPr/>
        </p:nvPicPr>
        <p:blipFill rotWithShape="1">
          <a:blip r:embed="rId7">
            <a:alphaModFix/>
          </a:blip>
          <a:srcRect b="0" l="0" r="0" t="0"/>
          <a:stretch/>
        </p:blipFill>
        <p:spPr>
          <a:xfrm>
            <a:off x="3365500" y="4927600"/>
            <a:ext cx="127000" cy="355600"/>
          </a:xfrm>
          <a:prstGeom prst="rect">
            <a:avLst/>
          </a:prstGeom>
          <a:noFill/>
          <a:ln>
            <a:noFill/>
          </a:ln>
        </p:spPr>
      </p:pic>
      <p:pic>
        <p:nvPicPr>
          <p:cNvPr descr="connector" id="130" name="Google Shape;130;p5"/>
          <p:cNvPicPr preferRelativeResize="0"/>
          <p:nvPr/>
        </p:nvPicPr>
        <p:blipFill rotWithShape="1">
          <a:blip r:embed="rId8">
            <a:alphaModFix/>
          </a:blip>
          <a:srcRect b="0" l="0" r="0" t="0"/>
          <a:stretch/>
        </p:blipFill>
        <p:spPr>
          <a:xfrm>
            <a:off x="4508500" y="4927600"/>
            <a:ext cx="127000" cy="355600"/>
          </a:xfrm>
          <a:prstGeom prst="rect">
            <a:avLst/>
          </a:prstGeom>
          <a:noFill/>
          <a:ln>
            <a:noFill/>
          </a:ln>
        </p:spPr>
      </p:pic>
      <p:pic>
        <p:nvPicPr>
          <p:cNvPr descr="connector" id="131" name="Google Shape;131;p5"/>
          <p:cNvPicPr preferRelativeResize="0"/>
          <p:nvPr/>
        </p:nvPicPr>
        <p:blipFill rotWithShape="1">
          <a:blip r:embed="rId9">
            <a:alphaModFix/>
          </a:blip>
          <a:srcRect b="0" l="0" r="0" t="0"/>
          <a:stretch/>
        </p:blipFill>
        <p:spPr>
          <a:xfrm>
            <a:off x="4940300" y="5346700"/>
            <a:ext cx="533400" cy="127000"/>
          </a:xfrm>
          <a:prstGeom prst="rect">
            <a:avLst/>
          </a:prstGeom>
          <a:noFill/>
          <a:ln>
            <a:noFill/>
          </a:ln>
        </p:spPr>
      </p:pic>
      <p:pic>
        <p:nvPicPr>
          <p:cNvPr descr="connector" id="132" name="Google Shape;132;p5"/>
          <p:cNvPicPr preferRelativeResize="0"/>
          <p:nvPr/>
        </p:nvPicPr>
        <p:blipFill rotWithShape="1">
          <a:blip r:embed="rId10">
            <a:alphaModFix/>
          </a:blip>
          <a:srcRect b="0" l="0" r="0" t="0"/>
          <a:stretch/>
        </p:blipFill>
        <p:spPr>
          <a:xfrm>
            <a:off x="4940300" y="5626100"/>
            <a:ext cx="533400" cy="127000"/>
          </a:xfrm>
          <a:prstGeom prst="rect">
            <a:avLst/>
          </a:prstGeom>
          <a:noFill/>
          <a:ln>
            <a:noFill/>
          </a:ln>
        </p:spPr>
      </p:pic>
      <p:pic>
        <p:nvPicPr>
          <p:cNvPr descr="connector" id="133" name="Google Shape;133;p5"/>
          <p:cNvPicPr preferRelativeResize="0"/>
          <p:nvPr/>
        </p:nvPicPr>
        <p:blipFill rotWithShape="1">
          <a:blip r:embed="rId11">
            <a:alphaModFix/>
          </a:blip>
          <a:srcRect b="0" l="0" r="0" t="0"/>
          <a:stretch/>
        </p:blipFill>
        <p:spPr>
          <a:xfrm>
            <a:off x="7886700" y="3708400"/>
            <a:ext cx="635000" cy="127000"/>
          </a:xfrm>
          <a:prstGeom prst="rect">
            <a:avLst/>
          </a:prstGeom>
          <a:noFill/>
          <a:ln>
            <a:noFill/>
          </a:ln>
        </p:spPr>
      </p:pic>
      <p:pic>
        <p:nvPicPr>
          <p:cNvPr descr="connector" id="134" name="Google Shape;134;p5"/>
          <p:cNvPicPr preferRelativeResize="0"/>
          <p:nvPr/>
        </p:nvPicPr>
        <p:blipFill rotWithShape="1">
          <a:blip r:embed="rId12">
            <a:alphaModFix/>
          </a:blip>
          <a:srcRect b="0" l="0" r="0" t="0"/>
          <a:stretch/>
        </p:blipFill>
        <p:spPr>
          <a:xfrm>
            <a:off x="7899400" y="2832100"/>
            <a:ext cx="609600" cy="101600"/>
          </a:xfrm>
          <a:prstGeom prst="rect">
            <a:avLst/>
          </a:prstGeom>
          <a:noFill/>
          <a:ln>
            <a:noFill/>
          </a:ln>
        </p:spPr>
      </p:pic>
      <p:pic>
        <p:nvPicPr>
          <p:cNvPr descr="connector" id="135" name="Google Shape;135;p5"/>
          <p:cNvPicPr preferRelativeResize="0"/>
          <p:nvPr/>
        </p:nvPicPr>
        <p:blipFill rotWithShape="1">
          <a:blip r:embed="rId13">
            <a:alphaModFix/>
          </a:blip>
          <a:srcRect b="0" l="0" r="0" t="0"/>
          <a:stretch/>
        </p:blipFill>
        <p:spPr>
          <a:xfrm>
            <a:off x="8839200" y="3162300"/>
            <a:ext cx="101600" cy="215900"/>
          </a:xfrm>
          <a:prstGeom prst="rect">
            <a:avLst/>
          </a:prstGeom>
          <a:noFill/>
          <a:ln>
            <a:noFill/>
          </a:ln>
        </p:spPr>
      </p:pic>
      <p:pic>
        <p:nvPicPr>
          <p:cNvPr descr="connector" id="136" name="Google Shape;136;p5"/>
          <p:cNvPicPr preferRelativeResize="0"/>
          <p:nvPr/>
        </p:nvPicPr>
        <p:blipFill rotWithShape="1">
          <a:blip r:embed="rId14">
            <a:alphaModFix/>
          </a:blip>
          <a:srcRect b="0" l="0" r="0" t="0"/>
          <a:stretch/>
        </p:blipFill>
        <p:spPr>
          <a:xfrm>
            <a:off x="7569200" y="3276600"/>
            <a:ext cx="1371600" cy="101600"/>
          </a:xfrm>
          <a:prstGeom prst="rect">
            <a:avLst/>
          </a:prstGeom>
          <a:noFill/>
          <a:ln>
            <a:noFill/>
          </a:ln>
        </p:spPr>
      </p:pic>
      <p:pic>
        <p:nvPicPr>
          <p:cNvPr descr="connector" id="137" name="Google Shape;137;p5"/>
          <p:cNvPicPr preferRelativeResize="0"/>
          <p:nvPr/>
        </p:nvPicPr>
        <p:blipFill rotWithShape="1">
          <a:blip r:embed="rId15">
            <a:alphaModFix/>
          </a:blip>
          <a:srcRect b="0" l="0" r="0" t="0"/>
          <a:stretch/>
        </p:blipFill>
        <p:spPr>
          <a:xfrm>
            <a:off x="7569200" y="3276600"/>
            <a:ext cx="101600" cy="215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142" name="Shape 142"/>
        <p:cNvGrpSpPr/>
        <p:nvPr/>
      </p:nvGrpSpPr>
      <p:grpSpPr>
        <a:xfrm>
          <a:off x="0" y="0"/>
          <a:ext cx="0" cy="0"/>
          <a:chOff x="0" y="0"/>
          <a:chExt cx="0" cy="0"/>
        </a:xfrm>
      </p:grpSpPr>
      <p:sp>
        <p:nvSpPr>
          <p:cNvPr id="143" name="Google Shape;143;p6"/>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INTERACTIONS  AND RATIONALE</a:t>
            </a:r>
            <a:endParaRPr b="0" i="0" sz="1200" u="none" cap="none" strike="noStrike">
              <a:solidFill>
                <a:schemeClr val="dk1"/>
              </a:solidFill>
              <a:latin typeface="IBM Plex Sans"/>
              <a:ea typeface="IBM Plex Sans"/>
              <a:cs typeface="IBM Plex Sans"/>
              <a:sym typeface="IBM Plex Sans"/>
            </a:endParaRPr>
          </a:p>
        </p:txBody>
      </p:sp>
      <p:sp>
        <p:nvSpPr>
          <p:cNvPr id="144" name="Google Shape;144;p6"/>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lang="en-US"/>
              <a:t>How Subsystems Interact</a:t>
            </a:r>
            <a:endParaRPr sz="2800"/>
          </a:p>
        </p:txBody>
      </p:sp>
      <p:sp>
        <p:nvSpPr>
          <p:cNvPr id="145" name="Google Shape;145;p6"/>
          <p:cNvSpPr/>
          <p:nvPr/>
        </p:nvSpPr>
        <p:spPr>
          <a:xfrm>
            <a:off x="815975" y="1793875"/>
            <a:ext cx="5175250" cy="1600200"/>
          </a:xfrm>
          <a:prstGeom prst="roundRect">
            <a:avLst>
              <a:gd fmla="val 6151"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1073150" y="2025650"/>
            <a:ext cx="4800727"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GUI ↔ Mux</a:t>
            </a:r>
            <a:endParaRPr b="0" i="0" sz="1600" u="none" cap="none" strike="noStrike">
              <a:solidFill>
                <a:schemeClr val="dk1"/>
              </a:solidFill>
              <a:latin typeface="IBM Plex Sans"/>
              <a:ea typeface="IBM Plex Sans"/>
              <a:cs typeface="IBM Plex Sans"/>
              <a:sym typeface="IBM Plex Sans"/>
            </a:endParaRPr>
          </a:p>
        </p:txBody>
      </p:sp>
      <p:sp>
        <p:nvSpPr>
          <p:cNvPr id="147" name="Google Shape;147;p6"/>
          <p:cNvSpPr/>
          <p:nvPr/>
        </p:nvSpPr>
        <p:spPr>
          <a:xfrm>
            <a:off x="1073150" y="2343150"/>
            <a:ext cx="4800727" cy="273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400"/>
              <a:buFont typeface="IBM Plex Sans"/>
              <a:buNone/>
            </a:pPr>
            <a:r>
              <a:rPr b="0" i="0" lang="en-US" sz="1400" u="none" cap="none" strike="noStrike">
                <a:solidFill>
                  <a:srgbClr val="4A505C"/>
                </a:solidFill>
                <a:latin typeface="IBM Plex Sans"/>
                <a:ea typeface="IBM Plex Sans"/>
                <a:cs typeface="IBM Plex Sans"/>
                <a:sym typeface="IBM Plex Sans"/>
              </a:rPr>
              <a:t>Input goes down; change notices come up.</a:t>
            </a:r>
            <a:endParaRPr b="0" i="0" sz="1400" u="none" cap="none" strike="noStrike">
              <a:solidFill>
                <a:schemeClr val="dk1"/>
              </a:solidFill>
              <a:latin typeface="IBM Plex Sans"/>
              <a:ea typeface="IBM Plex Sans"/>
              <a:cs typeface="IBM Plex Sans"/>
              <a:sym typeface="IBM Plex Sans"/>
            </a:endParaRPr>
          </a:p>
        </p:txBody>
      </p:sp>
      <p:sp>
        <p:nvSpPr>
          <p:cNvPr id="148" name="Google Shape;148;p6"/>
          <p:cNvSpPr/>
          <p:nvPr/>
        </p:nvSpPr>
        <p:spPr>
          <a:xfrm>
            <a:off x="1073150" y="2667000"/>
            <a:ext cx="4800727"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400"/>
              <a:buFont typeface="IBM Plex Sans"/>
              <a:buNone/>
            </a:pPr>
            <a:r>
              <a:rPr b="1" i="0" lang="en-US" sz="1400" u="none" cap="none" strike="noStrike">
                <a:solidFill>
                  <a:srgbClr val="B5530F"/>
                </a:solidFill>
                <a:latin typeface="IBM Plex Sans"/>
                <a:ea typeface="IBM Plex Sans"/>
                <a:cs typeface="IBM Plex Sans"/>
                <a:sym typeface="IBM Plex Sans"/>
              </a:rPr>
              <a:t>Why:</a:t>
            </a:r>
            <a:r>
              <a:rPr b="0" i="0" lang="en-US" sz="1400" u="none" cap="none" strike="noStrike">
                <a:solidFill>
                  <a:srgbClr val="1B1F27"/>
                </a:solidFill>
                <a:latin typeface="IBM Plex Sans"/>
                <a:ea typeface="IBM Plex Sans"/>
                <a:cs typeface="IBM Plex Sans"/>
                <a:sym typeface="IBM Plex Sans"/>
              </a:rPr>
              <a:t> </a:t>
            </a:r>
            <a:r>
              <a:rPr lang="en-US">
                <a:solidFill>
                  <a:srgbClr val="1B1F27"/>
                </a:solidFill>
                <a:latin typeface="IBM Plex Sans"/>
                <a:ea typeface="IBM Plex Sans"/>
                <a:cs typeface="IBM Plex Sans"/>
                <a:sym typeface="IBM Plex Sans"/>
              </a:rPr>
              <a:t>Managing sessions </a:t>
            </a:r>
            <a:r>
              <a:rPr lang="en-US">
                <a:solidFill>
                  <a:srgbClr val="1B1F27"/>
                </a:solidFill>
                <a:latin typeface="IBM Plex Sans"/>
                <a:ea typeface="IBM Plex Sans"/>
                <a:cs typeface="IBM Plex Sans"/>
                <a:sym typeface="IBM Plex Sans"/>
              </a:rPr>
              <a:t>separately</a:t>
            </a:r>
            <a:r>
              <a:rPr lang="en-US">
                <a:solidFill>
                  <a:srgbClr val="1B1F27"/>
                </a:solidFill>
                <a:latin typeface="IBM Plex Sans"/>
                <a:ea typeface="IBM Plex Sans"/>
                <a:cs typeface="IBM Plex Sans"/>
                <a:sym typeface="IBM Plex Sans"/>
              </a:rPr>
              <a:t> from displaying them supports both local and </a:t>
            </a:r>
            <a:r>
              <a:rPr lang="en-US">
                <a:solidFill>
                  <a:srgbClr val="1B1F27"/>
                </a:solidFill>
                <a:latin typeface="IBM Plex Sans"/>
                <a:ea typeface="IBM Plex Sans"/>
                <a:cs typeface="IBM Plex Sans"/>
                <a:sym typeface="IBM Plex Sans"/>
              </a:rPr>
              <a:t>remote</a:t>
            </a:r>
            <a:r>
              <a:rPr lang="en-US">
                <a:solidFill>
                  <a:srgbClr val="1B1F27"/>
                </a:solidFill>
                <a:latin typeface="IBM Plex Sans"/>
                <a:ea typeface="IBM Plex Sans"/>
                <a:cs typeface="IBM Plex Sans"/>
                <a:sym typeface="IBM Plex Sans"/>
              </a:rPr>
              <a:t> connections</a:t>
            </a:r>
            <a:endParaRPr b="0" i="0" sz="1400" u="none" cap="none" strike="noStrike">
              <a:solidFill>
                <a:schemeClr val="dk1"/>
              </a:solidFill>
              <a:latin typeface="IBM Plex Sans"/>
              <a:ea typeface="IBM Plex Sans"/>
              <a:cs typeface="IBM Plex Sans"/>
              <a:sym typeface="IBM Plex Sans"/>
            </a:endParaRPr>
          </a:p>
        </p:txBody>
      </p:sp>
      <p:sp>
        <p:nvSpPr>
          <p:cNvPr id="149" name="Google Shape;149;p6"/>
          <p:cNvSpPr/>
          <p:nvPr/>
        </p:nvSpPr>
        <p:spPr>
          <a:xfrm>
            <a:off x="6200775" y="1793875"/>
            <a:ext cx="5175250" cy="1600200"/>
          </a:xfrm>
          <a:prstGeom prst="roundRect">
            <a:avLst>
              <a:gd fmla="val 6151"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6457950" y="2025650"/>
            <a:ext cx="4800727"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Mux ↔ Pane</a:t>
            </a:r>
            <a:endParaRPr b="0" i="0" sz="1600" u="none" cap="none" strike="noStrike">
              <a:solidFill>
                <a:schemeClr val="dk1"/>
              </a:solidFill>
              <a:latin typeface="IBM Plex Sans"/>
              <a:ea typeface="IBM Plex Sans"/>
              <a:cs typeface="IBM Plex Sans"/>
              <a:sym typeface="IBM Plex Sans"/>
            </a:endParaRPr>
          </a:p>
        </p:txBody>
      </p:sp>
      <p:sp>
        <p:nvSpPr>
          <p:cNvPr id="151" name="Google Shape;151;p6"/>
          <p:cNvSpPr/>
          <p:nvPr/>
        </p:nvSpPr>
        <p:spPr>
          <a:xfrm>
            <a:off x="6457950" y="2343150"/>
            <a:ext cx="4800727" cy="273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400"/>
              <a:buFont typeface="IBM Plex Sans"/>
              <a:buNone/>
            </a:pPr>
            <a:r>
              <a:rPr b="0" i="0" lang="en-US" sz="1400" u="none" cap="none" strike="noStrike">
                <a:solidFill>
                  <a:srgbClr val="4A505C"/>
                </a:solidFill>
                <a:latin typeface="IBM Plex Sans"/>
                <a:ea typeface="IBM Plex Sans"/>
                <a:cs typeface="IBM Plex Sans"/>
                <a:sym typeface="IBM Plex Sans"/>
              </a:rPr>
              <a:t>The mux sends input to the active pane.</a:t>
            </a:r>
            <a:endParaRPr b="0" i="0" sz="1400" u="none" cap="none" strike="noStrike">
              <a:solidFill>
                <a:schemeClr val="dk1"/>
              </a:solidFill>
              <a:latin typeface="IBM Plex Sans"/>
              <a:ea typeface="IBM Plex Sans"/>
              <a:cs typeface="IBM Plex Sans"/>
              <a:sym typeface="IBM Plex Sans"/>
            </a:endParaRPr>
          </a:p>
        </p:txBody>
      </p:sp>
      <p:sp>
        <p:nvSpPr>
          <p:cNvPr id="152" name="Google Shape;152;p6"/>
          <p:cNvSpPr/>
          <p:nvPr/>
        </p:nvSpPr>
        <p:spPr>
          <a:xfrm>
            <a:off x="6457950" y="2667000"/>
            <a:ext cx="4800727"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400"/>
              <a:buFont typeface="IBM Plex Sans"/>
              <a:buNone/>
            </a:pPr>
            <a:r>
              <a:rPr b="1" i="0" lang="en-US" sz="1400" u="none" cap="none" strike="noStrike">
                <a:solidFill>
                  <a:srgbClr val="B5530F"/>
                </a:solidFill>
                <a:latin typeface="IBM Plex Sans"/>
                <a:ea typeface="IBM Plex Sans"/>
                <a:cs typeface="IBM Plex Sans"/>
                <a:sym typeface="IBM Plex Sans"/>
              </a:rPr>
              <a:t>Why:</a:t>
            </a:r>
            <a:r>
              <a:rPr b="0" i="0" lang="en-US" sz="1400" u="none" cap="none" strike="noStrike">
                <a:solidFill>
                  <a:srgbClr val="1B1F27"/>
                </a:solidFill>
                <a:latin typeface="IBM Plex Sans"/>
                <a:ea typeface="IBM Plex Sans"/>
                <a:cs typeface="IBM Plex Sans"/>
                <a:sym typeface="IBM Plex Sans"/>
              </a:rPr>
              <a:t> </a:t>
            </a:r>
            <a:r>
              <a:rPr lang="en-US">
                <a:solidFill>
                  <a:srgbClr val="1B1F27"/>
                </a:solidFill>
                <a:latin typeface="IBM Plex Sans"/>
                <a:ea typeface="IBM Plex Sans"/>
                <a:cs typeface="IBM Plex Sans"/>
                <a:sym typeface="IBM Plex Sans"/>
              </a:rPr>
              <a:t>Input must reach the correct pane and each pane must keep its own terminal state</a:t>
            </a:r>
            <a:endParaRPr b="0" i="0" sz="1400" u="none" cap="none" strike="noStrike">
              <a:solidFill>
                <a:schemeClr val="dk1"/>
              </a:solidFill>
              <a:latin typeface="IBM Plex Sans"/>
              <a:ea typeface="IBM Plex Sans"/>
              <a:cs typeface="IBM Plex Sans"/>
              <a:sym typeface="IBM Plex Sans"/>
            </a:endParaRPr>
          </a:p>
        </p:txBody>
      </p:sp>
      <p:sp>
        <p:nvSpPr>
          <p:cNvPr id="153" name="Google Shape;153;p6"/>
          <p:cNvSpPr/>
          <p:nvPr/>
        </p:nvSpPr>
        <p:spPr>
          <a:xfrm>
            <a:off x="815975" y="3603625"/>
            <a:ext cx="5175250" cy="1600200"/>
          </a:xfrm>
          <a:prstGeom prst="roundRect">
            <a:avLst>
              <a:gd fmla="val 6151"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1073150" y="3835400"/>
            <a:ext cx="4800727"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Pane ↔ PTY ↔ Shell</a:t>
            </a:r>
            <a:endParaRPr b="0" i="0" sz="1600" u="none" cap="none" strike="noStrike">
              <a:solidFill>
                <a:schemeClr val="dk1"/>
              </a:solidFill>
              <a:latin typeface="IBM Plex Sans"/>
              <a:ea typeface="IBM Plex Sans"/>
              <a:cs typeface="IBM Plex Sans"/>
              <a:sym typeface="IBM Plex Sans"/>
            </a:endParaRPr>
          </a:p>
        </p:txBody>
      </p:sp>
      <p:sp>
        <p:nvSpPr>
          <p:cNvPr id="155" name="Google Shape;155;p6"/>
          <p:cNvSpPr/>
          <p:nvPr/>
        </p:nvSpPr>
        <p:spPr>
          <a:xfrm>
            <a:off x="1073150" y="4152900"/>
            <a:ext cx="4800727" cy="273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400"/>
              <a:buFont typeface="IBM Plex Sans"/>
              <a:buNone/>
            </a:pPr>
            <a:r>
              <a:rPr b="0" i="0" lang="en-US" sz="1400" u="none" cap="none" strike="noStrike">
                <a:solidFill>
                  <a:srgbClr val="4A505C"/>
                </a:solidFill>
                <a:latin typeface="IBM Plex Sans"/>
                <a:ea typeface="IBM Plex Sans"/>
                <a:cs typeface="IBM Plex Sans"/>
                <a:sym typeface="IBM Plex Sans"/>
              </a:rPr>
              <a:t>Bytes travel in both directions.</a:t>
            </a:r>
            <a:endParaRPr b="0" i="0" sz="1400" u="none" cap="none" strike="noStrike">
              <a:solidFill>
                <a:schemeClr val="dk1"/>
              </a:solidFill>
              <a:latin typeface="IBM Plex Sans"/>
              <a:ea typeface="IBM Plex Sans"/>
              <a:cs typeface="IBM Plex Sans"/>
              <a:sym typeface="IBM Plex Sans"/>
            </a:endParaRPr>
          </a:p>
        </p:txBody>
      </p:sp>
      <p:sp>
        <p:nvSpPr>
          <p:cNvPr id="156" name="Google Shape;156;p6"/>
          <p:cNvSpPr/>
          <p:nvPr/>
        </p:nvSpPr>
        <p:spPr>
          <a:xfrm>
            <a:off x="1073150" y="4476750"/>
            <a:ext cx="4800727"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400"/>
              <a:buFont typeface="IBM Plex Sans"/>
              <a:buNone/>
            </a:pPr>
            <a:r>
              <a:rPr b="1" i="0" lang="en-US" sz="1400" u="none" cap="none" strike="noStrike">
                <a:solidFill>
                  <a:srgbClr val="B5530F"/>
                </a:solidFill>
                <a:latin typeface="IBM Plex Sans"/>
                <a:ea typeface="IBM Plex Sans"/>
                <a:cs typeface="IBM Plex Sans"/>
                <a:sym typeface="IBM Plex Sans"/>
              </a:rPr>
              <a:t>Why:</a:t>
            </a:r>
            <a:r>
              <a:rPr b="0" i="0" lang="en-US" sz="1400" u="none" cap="none" strike="noStrike">
                <a:solidFill>
                  <a:srgbClr val="1B1F27"/>
                </a:solidFill>
                <a:latin typeface="IBM Plex Sans"/>
                <a:ea typeface="IBM Plex Sans"/>
                <a:cs typeface="IBM Plex Sans"/>
                <a:sym typeface="IBM Plex Sans"/>
              </a:rPr>
              <a:t> </a:t>
            </a:r>
            <a:r>
              <a:rPr lang="en-US">
                <a:solidFill>
                  <a:srgbClr val="1B1F27"/>
                </a:solidFill>
                <a:latin typeface="IBM Plex Sans"/>
                <a:ea typeface="IBM Plex Sans"/>
                <a:cs typeface="IBM Plex Sans"/>
                <a:sym typeface="IBM Plex Sans"/>
              </a:rPr>
              <a:t>Th</a:t>
            </a:r>
            <a:r>
              <a:rPr b="0" i="0" lang="en-US" sz="1400" u="none" cap="none" strike="noStrike">
                <a:solidFill>
                  <a:srgbClr val="1B1F27"/>
                </a:solidFill>
                <a:latin typeface="IBM Plex Sans"/>
                <a:ea typeface="IBM Plex Sans"/>
                <a:cs typeface="IBM Plex Sans"/>
                <a:sym typeface="IBM Plex Sans"/>
              </a:rPr>
              <a:t>e PTY </a:t>
            </a:r>
            <a:r>
              <a:rPr lang="en-US">
                <a:solidFill>
                  <a:srgbClr val="1B1F27"/>
                </a:solidFill>
                <a:latin typeface="IBM Plex Sans"/>
                <a:ea typeface="IBM Plex Sans"/>
                <a:cs typeface="IBM Plex Sans"/>
                <a:sym typeface="IBM Plex Sans"/>
              </a:rPr>
              <a:t>provides the terminal connection between WezTerm and local shells</a:t>
            </a:r>
            <a:endParaRPr b="0" i="0" sz="1400" u="none" cap="none" strike="noStrike">
              <a:solidFill>
                <a:schemeClr val="dk1"/>
              </a:solidFill>
              <a:latin typeface="IBM Plex Sans"/>
              <a:ea typeface="IBM Plex Sans"/>
              <a:cs typeface="IBM Plex Sans"/>
              <a:sym typeface="IBM Plex Sans"/>
            </a:endParaRPr>
          </a:p>
        </p:txBody>
      </p:sp>
      <p:sp>
        <p:nvSpPr>
          <p:cNvPr id="157" name="Google Shape;157;p6"/>
          <p:cNvSpPr/>
          <p:nvPr/>
        </p:nvSpPr>
        <p:spPr>
          <a:xfrm>
            <a:off x="6200775" y="3603625"/>
            <a:ext cx="5175250" cy="1600200"/>
          </a:xfrm>
          <a:prstGeom prst="roundRect">
            <a:avLst>
              <a:gd fmla="val 6151"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6457950" y="3835400"/>
            <a:ext cx="4800727"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Lua config → GUI and Mux</a:t>
            </a:r>
            <a:endParaRPr b="0" i="0" sz="1600" u="none" cap="none" strike="noStrike">
              <a:solidFill>
                <a:schemeClr val="dk1"/>
              </a:solidFill>
              <a:latin typeface="IBM Plex Sans"/>
              <a:ea typeface="IBM Plex Sans"/>
              <a:cs typeface="IBM Plex Sans"/>
              <a:sym typeface="IBM Plex Sans"/>
            </a:endParaRPr>
          </a:p>
        </p:txBody>
      </p:sp>
      <p:sp>
        <p:nvSpPr>
          <p:cNvPr id="159" name="Google Shape;159;p6"/>
          <p:cNvSpPr/>
          <p:nvPr/>
        </p:nvSpPr>
        <p:spPr>
          <a:xfrm>
            <a:off x="6457950" y="4152900"/>
            <a:ext cx="4800727" cy="273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400"/>
              <a:buFont typeface="IBM Plex Sans"/>
              <a:buNone/>
            </a:pPr>
            <a:r>
              <a:rPr b="0" i="0" lang="en-US" sz="1400" u="none" cap="none" strike="noStrike">
                <a:solidFill>
                  <a:srgbClr val="4A505C"/>
                </a:solidFill>
                <a:latin typeface="IBM Plex Sans"/>
                <a:ea typeface="IBM Plex Sans"/>
                <a:cs typeface="IBM Plex Sans"/>
                <a:sym typeface="IBM Plex Sans"/>
              </a:rPr>
              <a:t>Settings and event callbacks.</a:t>
            </a:r>
            <a:endParaRPr b="0" i="0" sz="1400" u="none" cap="none" strike="noStrike">
              <a:solidFill>
                <a:schemeClr val="dk1"/>
              </a:solidFill>
              <a:latin typeface="IBM Plex Sans"/>
              <a:ea typeface="IBM Plex Sans"/>
              <a:cs typeface="IBM Plex Sans"/>
              <a:sym typeface="IBM Plex Sans"/>
            </a:endParaRPr>
          </a:p>
        </p:txBody>
      </p:sp>
      <p:sp>
        <p:nvSpPr>
          <p:cNvPr id="160" name="Google Shape;160;p6"/>
          <p:cNvSpPr/>
          <p:nvPr/>
        </p:nvSpPr>
        <p:spPr>
          <a:xfrm>
            <a:off x="6457950" y="4476750"/>
            <a:ext cx="4800727"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400"/>
              <a:buFont typeface="IBM Plex Sans"/>
              <a:buNone/>
            </a:pPr>
            <a:r>
              <a:rPr b="1" i="0" lang="en-US" sz="1400" u="none" cap="none" strike="noStrike">
                <a:solidFill>
                  <a:srgbClr val="B5530F"/>
                </a:solidFill>
                <a:latin typeface="IBM Plex Sans"/>
                <a:ea typeface="IBM Plex Sans"/>
                <a:cs typeface="IBM Plex Sans"/>
                <a:sym typeface="IBM Plex Sans"/>
              </a:rPr>
              <a:t>Why:</a:t>
            </a:r>
            <a:r>
              <a:rPr b="0" i="0" lang="en-US" sz="1400" u="none" cap="none" strike="noStrike">
                <a:solidFill>
                  <a:srgbClr val="1B1F27"/>
                </a:solidFill>
                <a:latin typeface="IBM Plex Sans"/>
                <a:ea typeface="IBM Plex Sans"/>
                <a:cs typeface="IBM Plex Sans"/>
                <a:sym typeface="IBM Plex Sans"/>
              </a:rPr>
              <a:t> </a:t>
            </a:r>
            <a:r>
              <a:rPr lang="en-US">
                <a:solidFill>
                  <a:srgbClr val="1B1F27"/>
                </a:solidFill>
                <a:latin typeface="IBM Plex Sans"/>
                <a:ea typeface="IBM Plex Sans"/>
                <a:cs typeface="IBM Plex Sans"/>
                <a:sym typeface="IBM Plex Sans"/>
              </a:rPr>
              <a:t>Us</a:t>
            </a:r>
            <a:r>
              <a:rPr b="0" i="0" lang="en-US" sz="1400" u="none" cap="none" strike="noStrike">
                <a:solidFill>
                  <a:srgbClr val="1B1F27"/>
                </a:solidFill>
                <a:latin typeface="IBM Plex Sans"/>
                <a:ea typeface="IBM Plex Sans"/>
                <a:cs typeface="IBM Plex Sans"/>
                <a:sym typeface="IBM Plex Sans"/>
              </a:rPr>
              <a:t>ers can change behaviour without changing WezTerm's code.</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7"/>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A35E"/>
              </a:buClr>
              <a:buSzPts val="1200"/>
              <a:buFont typeface="JetBrains Mono"/>
              <a:buNone/>
            </a:pPr>
            <a:r>
              <a:rPr b="0" i="0" lang="en-US" spc="100" sz="1200" u="none" cap="none" strike="noStrike">
                <a:solidFill>
                  <a:srgbClr val="F0A35E"/>
                </a:solidFill>
                <a:latin typeface="JetBrains Mono"/>
                <a:ea typeface="JetBrains Mono"/>
                <a:cs typeface="JetBrains Mono"/>
                <a:sym typeface="JetBrains Mono"/>
              </a:rPr>
              <a:t>ARCHITECTURAL  STYLE</a:t>
            </a:r>
            <a:endParaRPr b="0" i="0" sz="1200" u="none" cap="none" strike="noStrike">
              <a:solidFill>
                <a:schemeClr val="dk1"/>
              </a:solidFill>
              <a:latin typeface="IBM Plex Sans"/>
              <a:ea typeface="IBM Plex Sans"/>
              <a:cs typeface="IBM Plex Sans"/>
              <a:sym typeface="IBM Plex Sans"/>
            </a:endParaRPr>
          </a:p>
        </p:txBody>
      </p:sp>
      <p:sp>
        <p:nvSpPr>
          <p:cNvPr id="167" name="Google Shape;167;p7"/>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4F0E8"/>
              </a:buClr>
              <a:buSzPct val="100000"/>
              <a:buFont typeface="IBM Plex Sans"/>
              <a:buNone/>
            </a:pPr>
            <a:r>
              <a:rPr b="1" lang="en-US">
                <a:solidFill>
                  <a:schemeClr val="dk1"/>
                </a:solidFill>
              </a:rPr>
              <a:t>Description of WezTerm’s architecture</a:t>
            </a:r>
            <a:endParaRPr sz="2800">
              <a:solidFill>
                <a:schemeClr val="dk1"/>
              </a:solidFill>
            </a:endParaRPr>
          </a:p>
        </p:txBody>
      </p:sp>
      <p:sp>
        <p:nvSpPr>
          <p:cNvPr id="168" name="Google Shape;168;p7"/>
          <p:cNvSpPr/>
          <p:nvPr/>
        </p:nvSpPr>
        <p:spPr>
          <a:xfrm>
            <a:off x="815975" y="1793875"/>
            <a:ext cx="3380284" cy="2330450"/>
          </a:xfrm>
          <a:prstGeom prst="roundRect">
            <a:avLst>
              <a:gd fmla="val 4223" name="adj"/>
            </a:avLst>
          </a:prstGeom>
          <a:solidFill>
            <a:srgbClr val="1F242D"/>
          </a:solidFill>
          <a:ln cap="flat" cmpd="sng" w="9525">
            <a:solidFill>
              <a:srgbClr val="333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1073150" y="2051050"/>
            <a:ext cx="2951912"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0A35E"/>
              </a:buClr>
              <a:buSzPts val="1600"/>
              <a:buFont typeface="IBM Plex Sans"/>
              <a:buNone/>
            </a:pPr>
            <a:r>
              <a:rPr b="1" i="0" lang="en-US" sz="1600" u="none" cap="none" strike="noStrike">
                <a:solidFill>
                  <a:srgbClr val="F0A35E"/>
                </a:solidFill>
                <a:latin typeface="IBM Plex Sans"/>
                <a:ea typeface="IBM Plex Sans"/>
                <a:cs typeface="IBM Plex Sans"/>
                <a:sym typeface="IBM Plex Sans"/>
              </a:rPr>
              <a:t>Layered</a:t>
            </a:r>
            <a:endParaRPr b="0" i="0" sz="1600" u="none" cap="none" strike="noStrike">
              <a:solidFill>
                <a:schemeClr val="dk1"/>
              </a:solidFill>
              <a:latin typeface="IBM Plex Sans"/>
              <a:ea typeface="IBM Plex Sans"/>
              <a:cs typeface="IBM Plex Sans"/>
              <a:sym typeface="IBM Plex Sans"/>
            </a:endParaRPr>
          </a:p>
        </p:txBody>
      </p:sp>
      <p:sp>
        <p:nvSpPr>
          <p:cNvPr id="170" name="Google Shape;170;p7"/>
          <p:cNvSpPr/>
          <p:nvPr/>
        </p:nvSpPr>
        <p:spPr>
          <a:xfrm>
            <a:off x="1073150" y="2393950"/>
            <a:ext cx="2951912" cy="7683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0E8"/>
              </a:buClr>
              <a:buSzPts val="1400"/>
              <a:buFont typeface="IBM Plex Sans"/>
              <a:buNone/>
            </a:pPr>
            <a:r>
              <a:rPr b="0" i="0" lang="en-US" sz="1400" u="none" cap="none" strike="noStrike">
                <a:solidFill>
                  <a:srgbClr val="F4F0E8"/>
                </a:solidFill>
                <a:latin typeface="IBM Plex Sans"/>
                <a:ea typeface="IBM Plex Sans"/>
                <a:cs typeface="IBM Plex Sans"/>
                <a:sym typeface="IBM Plex Sans"/>
              </a:rPr>
              <a:t>GUI → Mux → Pane → PTY → OS. Each layer talks only to its neighbours.</a:t>
            </a:r>
            <a:endParaRPr b="0" i="0" sz="1400" u="none" cap="none" strike="noStrike">
              <a:solidFill>
                <a:schemeClr val="dk1"/>
              </a:solidFill>
              <a:latin typeface="IBM Plex Sans"/>
              <a:ea typeface="IBM Plex Sans"/>
              <a:cs typeface="IBM Plex Sans"/>
              <a:sym typeface="IBM Plex Sans"/>
            </a:endParaRPr>
          </a:p>
        </p:txBody>
      </p:sp>
      <p:sp>
        <p:nvSpPr>
          <p:cNvPr id="171" name="Google Shape;171;p7"/>
          <p:cNvSpPr/>
          <p:nvPr/>
        </p:nvSpPr>
        <p:spPr>
          <a:xfrm>
            <a:off x="1073150" y="3238500"/>
            <a:ext cx="2951912" cy="654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9BFCA"/>
              </a:buClr>
              <a:buSzPts val="1200"/>
              <a:buFont typeface="IBM Plex Sans"/>
              <a:buNone/>
            </a:pPr>
            <a:r>
              <a:rPr b="0" i="0" lang="en-US" sz="1200" u="none" cap="none" strike="noStrike">
                <a:solidFill>
                  <a:srgbClr val="B9BFCA"/>
                </a:solidFill>
                <a:latin typeface="IBM Plex Sans"/>
                <a:ea typeface="IBM Plex Sans"/>
                <a:cs typeface="IBM Plex Sans"/>
                <a:sym typeface="IBM Plex Sans"/>
              </a:rPr>
              <a:t>Evidence: the same chain appears in the docs, our box diagram and both sequence diagrams.</a:t>
            </a:r>
            <a:endParaRPr b="0" i="0" sz="1200" u="none" cap="none" strike="noStrike">
              <a:solidFill>
                <a:schemeClr val="dk1"/>
              </a:solidFill>
              <a:latin typeface="IBM Plex Sans"/>
              <a:ea typeface="IBM Plex Sans"/>
              <a:cs typeface="IBM Plex Sans"/>
              <a:sym typeface="IBM Plex Sans"/>
            </a:endParaRPr>
          </a:p>
        </p:txBody>
      </p:sp>
      <p:sp>
        <p:nvSpPr>
          <p:cNvPr id="172" name="Google Shape;172;p7"/>
          <p:cNvSpPr/>
          <p:nvPr/>
        </p:nvSpPr>
        <p:spPr>
          <a:xfrm>
            <a:off x="4405809" y="1793875"/>
            <a:ext cx="3380284" cy="2330450"/>
          </a:xfrm>
          <a:prstGeom prst="roundRect">
            <a:avLst>
              <a:gd fmla="val 4223" name="adj"/>
            </a:avLst>
          </a:prstGeom>
          <a:solidFill>
            <a:srgbClr val="1F242D"/>
          </a:solidFill>
          <a:ln cap="flat" cmpd="sng" w="9525">
            <a:solidFill>
              <a:srgbClr val="333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4662984" y="2051050"/>
            <a:ext cx="2951912"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0A35E"/>
              </a:buClr>
              <a:buSzPts val="1600"/>
              <a:buFont typeface="IBM Plex Sans"/>
              <a:buNone/>
            </a:pPr>
            <a:r>
              <a:rPr b="1" i="0" lang="en-US" sz="1600" u="none" cap="none" strike="noStrike">
                <a:solidFill>
                  <a:srgbClr val="F0A35E"/>
                </a:solidFill>
                <a:latin typeface="IBM Plex Sans"/>
                <a:ea typeface="IBM Plex Sans"/>
                <a:cs typeface="IBM Plex Sans"/>
                <a:sym typeface="IBM Plex Sans"/>
              </a:rPr>
              <a:t>Event-driven</a:t>
            </a:r>
            <a:endParaRPr b="0" i="0" sz="1600" u="none" cap="none" strike="noStrike">
              <a:solidFill>
                <a:schemeClr val="dk1"/>
              </a:solidFill>
              <a:latin typeface="IBM Plex Sans"/>
              <a:ea typeface="IBM Plex Sans"/>
              <a:cs typeface="IBM Plex Sans"/>
              <a:sym typeface="IBM Plex Sans"/>
            </a:endParaRPr>
          </a:p>
        </p:txBody>
      </p:sp>
      <p:sp>
        <p:nvSpPr>
          <p:cNvPr id="174" name="Google Shape;174;p7"/>
          <p:cNvSpPr/>
          <p:nvPr/>
        </p:nvSpPr>
        <p:spPr>
          <a:xfrm>
            <a:off x="4662984" y="2393950"/>
            <a:ext cx="2951912"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0E8"/>
              </a:buClr>
              <a:buSzPts val="1400"/>
              <a:buFont typeface="IBM Plex Sans"/>
              <a:buNone/>
            </a:pPr>
            <a:r>
              <a:rPr b="0" i="0" lang="en-US" sz="1400" u="none" cap="none" strike="noStrike">
                <a:solidFill>
                  <a:srgbClr val="F4F0E8"/>
                </a:solidFill>
                <a:latin typeface="IBM Plex Sans"/>
                <a:ea typeface="IBM Plex Sans"/>
                <a:cs typeface="IBM Plex Sans"/>
                <a:sym typeface="IBM Plex Sans"/>
              </a:rPr>
              <a:t>Key presses, program output and config reloads start the work.</a:t>
            </a:r>
            <a:endParaRPr b="0" i="0" sz="1400" u="none" cap="none" strike="noStrike">
              <a:solidFill>
                <a:schemeClr val="dk1"/>
              </a:solidFill>
              <a:latin typeface="IBM Plex Sans"/>
              <a:ea typeface="IBM Plex Sans"/>
              <a:cs typeface="IBM Plex Sans"/>
              <a:sym typeface="IBM Plex Sans"/>
            </a:endParaRPr>
          </a:p>
        </p:txBody>
      </p:sp>
      <p:sp>
        <p:nvSpPr>
          <p:cNvPr id="175" name="Google Shape;175;p7"/>
          <p:cNvSpPr/>
          <p:nvPr/>
        </p:nvSpPr>
        <p:spPr>
          <a:xfrm>
            <a:off x="4662984" y="2990850"/>
            <a:ext cx="2951912" cy="654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9BFCA"/>
              </a:buClr>
              <a:buSzPts val="1200"/>
              <a:buFont typeface="IBM Plex Sans"/>
              <a:buNone/>
            </a:pPr>
            <a:r>
              <a:rPr b="0" i="0" lang="en-US" sz="1200" u="none" cap="none" strike="noStrike">
                <a:solidFill>
                  <a:srgbClr val="B9BFCA"/>
                </a:solidFill>
                <a:latin typeface="IBM Plex Sans"/>
                <a:ea typeface="IBM Plex Sans"/>
                <a:cs typeface="IBM Plex Sans"/>
                <a:sym typeface="IBM Plex Sans"/>
              </a:rPr>
              <a:t>Evidence: key bindings decide what an event means; reader threads notify panes of new output.</a:t>
            </a:r>
            <a:endParaRPr b="0" i="0" sz="1200" u="none" cap="none" strike="noStrike">
              <a:solidFill>
                <a:schemeClr val="dk1"/>
              </a:solidFill>
              <a:latin typeface="IBM Plex Sans"/>
              <a:ea typeface="IBM Plex Sans"/>
              <a:cs typeface="IBM Plex Sans"/>
              <a:sym typeface="IBM Plex Sans"/>
            </a:endParaRPr>
          </a:p>
        </p:txBody>
      </p:sp>
      <p:sp>
        <p:nvSpPr>
          <p:cNvPr id="176" name="Google Shape;176;p7"/>
          <p:cNvSpPr/>
          <p:nvPr/>
        </p:nvSpPr>
        <p:spPr>
          <a:xfrm>
            <a:off x="7995642" y="1793875"/>
            <a:ext cx="3380383" cy="2330450"/>
          </a:xfrm>
          <a:prstGeom prst="roundRect">
            <a:avLst>
              <a:gd fmla="val 4223" name="adj"/>
            </a:avLst>
          </a:prstGeom>
          <a:solidFill>
            <a:srgbClr val="1F242D"/>
          </a:solidFill>
          <a:ln cap="flat" cmpd="sng" w="9525">
            <a:solidFill>
              <a:srgbClr val="333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8252817" y="2051050"/>
            <a:ext cx="2952014"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0A35E"/>
              </a:buClr>
              <a:buSzPts val="1600"/>
              <a:buFont typeface="IBM Plex Sans"/>
              <a:buNone/>
            </a:pPr>
            <a:r>
              <a:rPr b="1" i="0" lang="en-US" sz="1600" u="none" cap="none" strike="noStrike">
                <a:solidFill>
                  <a:srgbClr val="F0A35E"/>
                </a:solidFill>
                <a:latin typeface="IBM Plex Sans"/>
                <a:ea typeface="IBM Plex Sans"/>
                <a:cs typeface="IBM Plex Sans"/>
                <a:sym typeface="IBM Plex Sans"/>
              </a:rPr>
              <a:t>Client–server (remote)</a:t>
            </a:r>
            <a:endParaRPr b="0" i="0" sz="1600" u="none" cap="none" strike="noStrike">
              <a:solidFill>
                <a:schemeClr val="dk1"/>
              </a:solidFill>
              <a:latin typeface="IBM Plex Sans"/>
              <a:ea typeface="IBM Plex Sans"/>
              <a:cs typeface="IBM Plex Sans"/>
              <a:sym typeface="IBM Plex Sans"/>
            </a:endParaRPr>
          </a:p>
        </p:txBody>
      </p:sp>
      <p:sp>
        <p:nvSpPr>
          <p:cNvPr id="178" name="Google Shape;178;p7"/>
          <p:cNvSpPr/>
          <p:nvPr/>
        </p:nvSpPr>
        <p:spPr>
          <a:xfrm>
            <a:off x="8252817" y="2393950"/>
            <a:ext cx="2952014"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0E8"/>
              </a:buClr>
              <a:buSzPts val="1400"/>
              <a:buFont typeface="IBM Plex Sans"/>
              <a:buNone/>
            </a:pPr>
            <a:r>
              <a:rPr b="0" i="0" lang="en-US" sz="1400" u="none" cap="none" strike="noStrike">
                <a:solidFill>
                  <a:srgbClr val="F4F0E8"/>
                </a:solidFill>
                <a:latin typeface="IBM Plex Sans"/>
                <a:ea typeface="IBM Plex Sans"/>
                <a:cs typeface="IBM Plex Sans"/>
                <a:sym typeface="IBM Plex Sans"/>
              </a:rPr>
              <a:t>The GUI is a client of a local or remote mux.</a:t>
            </a:r>
            <a:endParaRPr b="0" i="0" sz="1400" u="none" cap="none" strike="noStrike">
              <a:solidFill>
                <a:schemeClr val="dk1"/>
              </a:solidFill>
              <a:latin typeface="IBM Plex Sans"/>
              <a:ea typeface="IBM Plex Sans"/>
              <a:cs typeface="IBM Plex Sans"/>
              <a:sym typeface="IBM Plex Sans"/>
            </a:endParaRPr>
          </a:p>
        </p:txBody>
      </p:sp>
      <p:sp>
        <p:nvSpPr>
          <p:cNvPr id="179" name="Google Shape;179;p7"/>
          <p:cNvSpPr/>
          <p:nvPr/>
        </p:nvSpPr>
        <p:spPr>
          <a:xfrm>
            <a:off x="8252817" y="2990850"/>
            <a:ext cx="2952014" cy="444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9BFCA"/>
              </a:buClr>
              <a:buSzPts val="1200"/>
              <a:buFont typeface="IBM Plex Sans"/>
              <a:buNone/>
            </a:pPr>
            <a:r>
              <a:rPr b="0" i="0" lang="en-US" sz="1200" u="none" cap="none" strike="noStrike">
                <a:solidFill>
                  <a:srgbClr val="B9BFCA"/>
                </a:solidFill>
                <a:latin typeface="IBM Plex Sans"/>
                <a:ea typeface="IBM Plex Sans"/>
                <a:cs typeface="IBM Plex Sans"/>
                <a:sym typeface="IBM Plex Sans"/>
              </a:rPr>
              <a:t>Evidence: wezterm-mux-server became its own program in October 2020.</a:t>
            </a:r>
            <a:endParaRPr b="0" i="0" sz="1200" u="none" cap="none" strike="noStrike">
              <a:solidFill>
                <a:schemeClr val="dk1"/>
              </a:solidFill>
              <a:latin typeface="IBM Plex Sans"/>
              <a:ea typeface="IBM Plex Sans"/>
              <a:cs typeface="IBM Plex Sans"/>
              <a:sym typeface="IBM Plex Sans"/>
            </a:endParaRPr>
          </a:p>
        </p:txBody>
      </p:sp>
      <p:cxnSp>
        <p:nvCxnSpPr>
          <p:cNvPr id="180" name="Google Shape;180;p7"/>
          <p:cNvCxnSpPr/>
          <p:nvPr/>
        </p:nvCxnSpPr>
        <p:spPr>
          <a:xfrm>
            <a:off x="815975" y="5262050"/>
            <a:ext cx="0" cy="381000"/>
          </a:xfrm>
          <a:prstGeom prst="straightConnector1">
            <a:avLst/>
          </a:prstGeom>
          <a:noFill/>
          <a:ln cap="flat" cmpd="sng" w="38100">
            <a:solidFill>
              <a:srgbClr val="F0A35E"/>
            </a:solidFill>
            <a:prstDash val="solid"/>
            <a:round/>
            <a:headEnd len="sm" w="sm" type="none"/>
            <a:tailEnd len="sm" w="sm" type="none"/>
          </a:ln>
        </p:spPr>
      </p:cxnSp>
      <p:sp>
        <p:nvSpPr>
          <p:cNvPr id="181" name="Google Shape;181;p7"/>
          <p:cNvSpPr/>
          <p:nvPr/>
        </p:nvSpPr>
        <p:spPr>
          <a:xfrm>
            <a:off x="1054100" y="5727212"/>
            <a:ext cx="10635000" cy="304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0E8"/>
              </a:buClr>
              <a:buSzPts val="1600"/>
              <a:buFont typeface="IBM Plex Sans"/>
              <a:buNone/>
            </a:pPr>
            <a:r>
              <a:rPr lang="en-US" sz="1600">
                <a:solidFill>
                  <a:schemeClr val="dk1"/>
                </a:solidFill>
                <a:latin typeface="IBM Plex Sans"/>
                <a:ea typeface="IBM Plex Sans"/>
                <a:cs typeface="IBM Plex Sans"/>
                <a:sym typeface="IBM Plex Sans"/>
              </a:rPr>
              <a:t>These styles describe different aspects of WezTerm. Together, they explain its </a:t>
            </a:r>
            <a:r>
              <a:rPr lang="en-US" sz="1600">
                <a:solidFill>
                  <a:schemeClr val="dk1"/>
                </a:solidFill>
                <a:latin typeface="IBM Plex Sans"/>
                <a:ea typeface="IBM Plex Sans"/>
                <a:cs typeface="IBM Plex Sans"/>
                <a:sym typeface="IBM Plex Sans"/>
              </a:rPr>
              <a:t>responsibilities</a:t>
            </a:r>
            <a:r>
              <a:rPr lang="en-US" sz="1600">
                <a:solidFill>
                  <a:schemeClr val="dk1"/>
                </a:solidFill>
                <a:latin typeface="IBM Plex Sans"/>
                <a:ea typeface="IBM Plex Sans"/>
                <a:cs typeface="IBM Plex Sans"/>
                <a:sym typeface="IBM Plex Sans"/>
              </a:rPr>
              <a:t>, behaviour and remote connections</a:t>
            </a:r>
            <a:endParaRPr b="0" i="0" sz="16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186" name="Shape 186"/>
        <p:cNvGrpSpPr/>
        <p:nvPr/>
      </p:nvGrpSpPr>
      <p:grpSpPr>
        <a:xfrm>
          <a:off x="0" y="0"/>
          <a:ext cx="0" cy="0"/>
          <a:chOff x="0" y="0"/>
          <a:chExt cx="0" cy="0"/>
        </a:xfrm>
      </p:grpSpPr>
      <p:sp>
        <p:nvSpPr>
          <p:cNvPr id="187" name="Google Shape;187;p8"/>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CONSIDERED ALTERNATIVES</a:t>
            </a:r>
            <a:endParaRPr b="0" i="0" sz="1200" u="none" cap="none" strike="noStrike">
              <a:solidFill>
                <a:schemeClr val="dk1"/>
              </a:solidFill>
              <a:latin typeface="IBM Plex Sans"/>
              <a:ea typeface="IBM Plex Sans"/>
              <a:cs typeface="IBM Plex Sans"/>
              <a:sym typeface="IBM Plex Sans"/>
            </a:endParaRPr>
          </a:p>
        </p:txBody>
      </p:sp>
      <p:sp>
        <p:nvSpPr>
          <p:cNvPr id="188" name="Google Shape;188;p8"/>
          <p:cNvSpPr txBox="1"/>
          <p:nvPr>
            <p:ph type="title"/>
          </p:nvPr>
        </p:nvSpPr>
        <p:spPr>
          <a:xfrm>
            <a:off x="812800" y="1098550"/>
            <a:ext cx="10883392" cy="8001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1F27"/>
              </a:buClr>
              <a:buSzPts val="2800"/>
              <a:buFont typeface="IBM Plex Sans"/>
              <a:buNone/>
            </a:pPr>
            <a:r>
              <a:rPr b="1" lang="en-US"/>
              <a:t>Alternative views we considered</a:t>
            </a:r>
            <a:endParaRPr sz="2800"/>
          </a:p>
        </p:txBody>
      </p:sp>
      <p:sp>
        <p:nvSpPr>
          <p:cNvPr id="189" name="Google Shape;189;p8"/>
          <p:cNvSpPr/>
          <p:nvPr/>
        </p:nvSpPr>
        <p:spPr>
          <a:xfrm>
            <a:off x="812800" y="2127250"/>
            <a:ext cx="10566400" cy="2934692"/>
          </a:xfrm>
          <a:prstGeom prst="roundRect">
            <a:avLst>
              <a:gd fmla="val 2597"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812800" y="2127250"/>
            <a:ext cx="10566400" cy="2934692"/>
          </a:xfrm>
          <a:custGeom>
            <a:rect b="b" l="l" r="r" t="t"/>
            <a:pathLst>
              <a:path extrusionOk="0" h="2934692" w="10566400">
                <a:moveTo>
                  <a:pt x="10490200" y="0"/>
                </a:moveTo>
                <a:lnTo>
                  <a:pt x="10490200" y="0"/>
                </a:lnTo>
                <a:cubicBezTo>
                  <a:pt x="10510409" y="0"/>
                  <a:pt x="10529791" y="8028"/>
                  <a:pt x="10544082" y="22318"/>
                </a:cubicBezTo>
                <a:cubicBezTo>
                  <a:pt x="10558372" y="36609"/>
                  <a:pt x="10566400" y="55991"/>
                  <a:pt x="10566400" y="76200"/>
                </a:cubicBezTo>
                <a:lnTo>
                  <a:pt x="10566400" y="2858492"/>
                </a:lnTo>
                <a:cubicBezTo>
                  <a:pt x="10566400" y="2900576"/>
                  <a:pt x="10532284" y="2934692"/>
                  <a:pt x="10490200" y="2934692"/>
                </a:cubicBezTo>
                <a:lnTo>
                  <a:pt x="76200" y="2934692"/>
                </a:lnTo>
                <a:cubicBezTo>
                  <a:pt x="34116" y="2934692"/>
                  <a:pt x="0" y="2900576"/>
                  <a:pt x="0" y="2858492"/>
                </a:cubicBezTo>
                <a:lnTo>
                  <a:pt x="0" y="2858492"/>
                </a:lnTo>
                <a:cubicBezTo>
                  <a:pt x="0" y="2897069"/>
                  <a:pt x="34116" y="2928342"/>
                  <a:pt x="76200" y="2928342"/>
                </a:cubicBezTo>
                <a:lnTo>
                  <a:pt x="10490200" y="2928342"/>
                </a:lnTo>
                <a:cubicBezTo>
                  <a:pt x="10528777" y="2928342"/>
                  <a:pt x="10560050" y="2897069"/>
                  <a:pt x="10560050" y="2858492"/>
                </a:cubicBezTo>
                <a:lnTo>
                  <a:pt x="10560050" y="76200"/>
                </a:lnTo>
                <a:cubicBezTo>
                  <a:pt x="10560050" y="34116"/>
                  <a:pt x="10528777" y="0"/>
                  <a:pt x="10490200" y="0"/>
                </a:cubicBezTo>
                <a:close/>
              </a:path>
            </a:pathLst>
          </a:custGeom>
          <a:solidFill>
            <a:srgbClr val="E2D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812800" y="2127250"/>
            <a:ext cx="10566400" cy="2934692"/>
          </a:xfrm>
          <a:custGeom>
            <a:rect b="b" l="l" r="r" t="t"/>
            <a:pathLst>
              <a:path extrusionOk="0" h="2934692" w="10566400">
                <a:moveTo>
                  <a:pt x="76200" y="2934692"/>
                </a:moveTo>
                <a:lnTo>
                  <a:pt x="76200" y="2934692"/>
                </a:lnTo>
                <a:cubicBezTo>
                  <a:pt x="34116" y="2934692"/>
                  <a:pt x="0" y="2900576"/>
                  <a:pt x="0" y="2858492"/>
                </a:cubicBezTo>
                <a:lnTo>
                  <a:pt x="0" y="76200"/>
                </a:lnTo>
                <a:cubicBezTo>
                  <a:pt x="0" y="34116"/>
                  <a:pt x="34116" y="0"/>
                  <a:pt x="76200" y="0"/>
                </a:cubicBezTo>
                <a:lnTo>
                  <a:pt x="10490200" y="0"/>
                </a:lnTo>
                <a:cubicBezTo>
                  <a:pt x="10510409" y="0"/>
                  <a:pt x="10529791" y="8028"/>
                  <a:pt x="10544082" y="22318"/>
                </a:cubicBezTo>
                <a:cubicBezTo>
                  <a:pt x="10558372" y="36609"/>
                  <a:pt x="10566400" y="55991"/>
                  <a:pt x="10566400" y="76200"/>
                </a:cubicBezTo>
                <a:lnTo>
                  <a:pt x="10566400" y="76200"/>
                </a:lnTo>
                <a:cubicBezTo>
                  <a:pt x="10566400" y="41130"/>
                  <a:pt x="10532284" y="12700"/>
                  <a:pt x="10490200" y="12700"/>
                </a:cubicBezTo>
                <a:lnTo>
                  <a:pt x="76200" y="12700"/>
                </a:lnTo>
                <a:cubicBezTo>
                  <a:pt x="41130" y="12700"/>
                  <a:pt x="12700" y="41130"/>
                  <a:pt x="12700" y="76200"/>
                </a:cubicBezTo>
                <a:lnTo>
                  <a:pt x="12700" y="2858492"/>
                </a:lnTo>
                <a:cubicBezTo>
                  <a:pt x="12700" y="2900576"/>
                  <a:pt x="41130" y="2934692"/>
                  <a:pt x="76200" y="2934692"/>
                </a:cubicBezTo>
                <a:close/>
              </a:path>
            </a:pathLst>
          </a:custGeom>
          <a:solidFill>
            <a:srgbClr val="141413">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92" name="Google Shape;192;p8"/>
          <p:cNvGraphicFramePr/>
          <p:nvPr/>
        </p:nvGraphicFramePr>
        <p:xfrm>
          <a:off x="825500" y="2139950"/>
          <a:ext cx="3000000" cy="3000000"/>
        </p:xfrm>
        <a:graphic>
          <a:graphicData uri="http://schemas.openxmlformats.org/drawingml/2006/table">
            <a:tbl>
              <a:tblPr>
                <a:noFill/>
                <a:tableStyleId>{E7827639-78F7-40E3-955D-C64A3DE856FC}</a:tableStyleId>
              </a:tblPr>
              <a:tblGrid>
                <a:gridCol w="2531375"/>
                <a:gridCol w="4008000"/>
                <a:gridCol w="4008000"/>
              </a:tblGrid>
              <a:tr h="385950">
                <a:tc>
                  <a:txBody>
                    <a:bodyPr/>
                    <a:lstStyle/>
                    <a:p>
                      <a:pPr indent="0" lvl="0" marL="0" marR="0" rtl="0" algn="l">
                        <a:lnSpc>
                          <a:spcPct val="140000"/>
                        </a:lnSpc>
                        <a:spcBef>
                          <a:spcPts val="0"/>
                        </a:spcBef>
                        <a:spcAft>
                          <a:spcPts val="0"/>
                        </a:spcAft>
                        <a:buClr>
                          <a:srgbClr val="F4F0E8"/>
                        </a:buClr>
                        <a:buSzPts val="1400"/>
                        <a:buFont typeface="IBM Plex Sans"/>
                        <a:buNone/>
                      </a:pPr>
                      <a:r>
                        <a:rPr b="1" lang="en-US" sz="1400" u="none" cap="none" strike="noStrike">
                          <a:solidFill>
                            <a:srgbClr val="F4F0E8"/>
                          </a:solidFill>
                          <a:latin typeface="IBM Plex Sans"/>
                          <a:ea typeface="IBM Plex Sans"/>
                          <a:cs typeface="IBM Plex Sans"/>
                          <a:sym typeface="IBM Plex Sans"/>
                        </a:rPr>
                        <a:t>View</a:t>
                      </a:r>
                      <a:endParaRPr sz="1400" u="none" cap="none" strike="noStrike">
                        <a:latin typeface="IBM Plex Sans"/>
                        <a:ea typeface="IBM Plex Sans"/>
                        <a:cs typeface="IBM Plex Sans"/>
                        <a:sym typeface="IBM Plex Sans"/>
                      </a:endParaRPr>
                    </a:p>
                  </a:txBody>
                  <a:tcPr marT="62225" marB="62225" marR="62225" marL="62225">
                    <a:lnL cap="flat" cmpd="sng" w="9525">
                      <a:solidFill>
                        <a:srgbClr val="000000">
                          <a:alpha val="0"/>
                        </a:srgbClr>
                      </a:solidFill>
                      <a:prstDash val="solid"/>
                      <a:round/>
                      <a:headEnd len="sm" w="sm" type="none"/>
                      <a:tailEnd len="sm" w="sm" type="none"/>
                    </a:lnL>
                    <a:lnR cap="flat" cmpd="sng" w="12700">
                      <a:solidFill>
                        <a:srgbClr val="15171C"/>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5171C"/>
                      </a:solidFill>
                      <a:prstDash val="solid"/>
                      <a:round/>
                      <a:headEnd len="sm" w="sm" type="none"/>
                      <a:tailEnd len="sm" w="sm" type="none"/>
                    </a:lnB>
                    <a:solidFill>
                      <a:srgbClr val="15181E"/>
                    </a:solidFill>
                  </a:tcPr>
                </a:tc>
                <a:tc>
                  <a:txBody>
                    <a:bodyPr/>
                    <a:lstStyle/>
                    <a:p>
                      <a:pPr indent="0" lvl="0" marL="0" marR="0" rtl="0" algn="l">
                        <a:lnSpc>
                          <a:spcPct val="140000"/>
                        </a:lnSpc>
                        <a:spcBef>
                          <a:spcPts val="0"/>
                        </a:spcBef>
                        <a:spcAft>
                          <a:spcPts val="0"/>
                        </a:spcAft>
                        <a:buClr>
                          <a:srgbClr val="F4F0E8"/>
                        </a:buClr>
                        <a:buSzPts val="1400"/>
                        <a:buFont typeface="IBM Plex Sans"/>
                        <a:buNone/>
                      </a:pPr>
                      <a:r>
                        <a:rPr b="1" lang="en-US" sz="1400" u="none" cap="none" strike="noStrike">
                          <a:solidFill>
                            <a:srgbClr val="F4F0E8"/>
                          </a:solidFill>
                          <a:latin typeface="IBM Plex Sans"/>
                          <a:ea typeface="IBM Plex Sans"/>
                          <a:cs typeface="IBM Plex Sans"/>
                          <a:sym typeface="IBM Plex Sans"/>
                        </a:rPr>
                        <a:t>What it gets right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15171C"/>
                      </a:solidFill>
                      <a:prstDash val="solid"/>
                      <a:round/>
                      <a:headEnd len="sm" w="sm" type="none"/>
                      <a:tailEnd len="sm" w="sm" type="none"/>
                    </a:lnL>
                    <a:lnR cap="flat" cmpd="sng" w="12700">
                      <a:solidFill>
                        <a:srgbClr val="15171C"/>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5171C"/>
                      </a:solidFill>
                      <a:prstDash val="solid"/>
                      <a:round/>
                      <a:headEnd len="sm" w="sm" type="none"/>
                      <a:tailEnd len="sm" w="sm" type="none"/>
                    </a:lnB>
                    <a:solidFill>
                      <a:srgbClr val="15181E"/>
                    </a:solidFill>
                  </a:tcPr>
                </a:tc>
                <a:tc>
                  <a:txBody>
                    <a:bodyPr/>
                    <a:lstStyle/>
                    <a:p>
                      <a:pPr indent="0" lvl="0" marL="0" marR="0" rtl="0" algn="l">
                        <a:lnSpc>
                          <a:spcPct val="140000"/>
                        </a:lnSpc>
                        <a:spcBef>
                          <a:spcPts val="0"/>
                        </a:spcBef>
                        <a:spcAft>
                          <a:spcPts val="0"/>
                        </a:spcAft>
                        <a:buClr>
                          <a:srgbClr val="F4F0E8"/>
                        </a:buClr>
                        <a:buSzPts val="1400"/>
                        <a:buFont typeface="IBM Plex Sans"/>
                        <a:buNone/>
                      </a:pPr>
                      <a:r>
                        <a:rPr b="1" lang="en-US" sz="1400" u="none" cap="none" strike="noStrike">
                          <a:solidFill>
                            <a:srgbClr val="F4F0E8"/>
                          </a:solidFill>
                          <a:latin typeface="IBM Plex Sans"/>
                          <a:ea typeface="IBM Plex Sans"/>
                          <a:cs typeface="IBM Plex Sans"/>
                          <a:sym typeface="IBM Plex Sans"/>
                        </a:rPr>
                        <a:t>Why it is not our main view</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15171C"/>
                      </a:solidFill>
                      <a:prstDash val="solid"/>
                      <a:round/>
                      <a:headEnd len="sm" w="sm" type="none"/>
                      <a:tailEnd len="sm" w="sm" type="none"/>
                    </a:lnL>
                    <a:lnR cap="flat" cmpd="sng" w="12700">
                      <a:solidFill>
                        <a:srgbClr val="15171C"/>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5171C"/>
                      </a:solidFill>
                      <a:prstDash val="solid"/>
                      <a:round/>
                      <a:headEnd len="sm" w="sm" type="none"/>
                      <a:tailEnd len="sm" w="sm" type="none"/>
                    </a:lnB>
                    <a:solidFill>
                      <a:srgbClr val="15181E"/>
                    </a:solidFill>
                  </a:tcPr>
                </a:tc>
              </a:tr>
              <a:tr h="632425">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Pipe-and-filter</a:t>
                      </a:r>
                      <a:endParaRPr sz="1400" u="none" cap="none" strike="noStrike">
                        <a:latin typeface="IBM Plex Sans"/>
                        <a:ea typeface="IBM Plex Sans"/>
                        <a:cs typeface="IBM Plex Sans"/>
                        <a:sym typeface="IBM Plex Sans"/>
                      </a:endParaRPr>
                    </a:p>
                  </a:txBody>
                  <a:tcPr marT="62225" marB="62225" marR="62225" marL="62225">
                    <a:lnL cap="flat" cmpd="sng" w="9525">
                      <a:solidFill>
                        <a:srgbClr val="000000">
                          <a:alpha val="0"/>
                        </a:srgbClr>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5171C"/>
                      </a:solidFill>
                      <a:prstDash val="solid"/>
                      <a:round/>
                      <a:headEnd len="sm" w="sm" type="none"/>
                      <a:tailEnd len="sm" w="sm" type="none"/>
                    </a:lnT>
                    <a:lnB cap="flat" cmpd="sng" w="12700">
                      <a:solidFill>
                        <a:srgbClr val="CBCA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Output really is a pipeline: PTY → parser → screen state → renderer</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5171C"/>
                      </a:solidFill>
                      <a:prstDash val="solid"/>
                      <a:round/>
                      <a:headEnd len="sm" w="sm" type="none"/>
                      <a:tailEnd len="sm" w="sm" type="none"/>
                    </a:lnT>
                    <a:lnB cap="flat" cmpd="sng" w="12700">
                      <a:solidFill>
                        <a:srgbClr val="CBCA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Leaves out user events, key bindings and session management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5171C"/>
                      </a:solidFill>
                      <a:prstDash val="solid"/>
                      <a:round/>
                      <a:headEnd len="sm" w="sm" type="none"/>
                      <a:tailEnd len="sm" w="sm" type="none"/>
                    </a:lnT>
                    <a:lnB cap="flat" cmpd="sng" w="12700">
                      <a:solidFill>
                        <a:srgbClr val="CBCAC6"/>
                      </a:solidFill>
                      <a:prstDash val="solid"/>
                      <a:round/>
                      <a:headEnd len="sm" w="sm" type="none"/>
                      <a:tailEnd len="sm" w="sm" type="none"/>
                    </a:lnB>
                  </a:tcPr>
                </a:tc>
              </a:tr>
              <a:tr h="632425">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GUI owns sessions</a:t>
                      </a:r>
                      <a:endParaRPr sz="1400" u="none" cap="none" strike="noStrike">
                        <a:latin typeface="IBM Plex Sans"/>
                        <a:ea typeface="IBM Plex Sans"/>
                        <a:cs typeface="IBM Plex Sans"/>
                        <a:sym typeface="IBM Plex Sans"/>
                      </a:endParaRPr>
                    </a:p>
                  </a:txBody>
                  <a:tcPr marT="62225" marB="62225" marR="62225" marL="62225">
                    <a:lnL cap="flat" cmpd="sng" w="9525">
                      <a:solidFill>
                        <a:srgbClr val="000000">
                          <a:alpha val="0"/>
                        </a:srgbClr>
                      </a:solidFill>
                      <a:prstDash val="solid"/>
                      <a:round/>
                      <a:headEnd len="sm" w="sm" type="none"/>
                      <a:tailEnd len="sm" w="sm" type="none"/>
                    </a:lnL>
                    <a:lnR cap="flat" cmpd="sng" w="12700">
                      <a:solidFill>
                        <a:srgbClr val="C5C1BB"/>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5C1BB"/>
                      </a:solidFill>
                      <a:prstDash val="solid"/>
                      <a:round/>
                      <a:headEnd len="sm" w="sm" type="none"/>
                      <a:tailEnd len="sm" w="sm" type="none"/>
                    </a:lnB>
                    <a:solidFill>
                      <a:srgbClr val="F7F2EA"/>
                    </a:solidFill>
                  </a:tcPr>
                </a:tc>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Simple: each window holds its own terminals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1BB"/>
                      </a:solidFill>
                      <a:prstDash val="solid"/>
                      <a:round/>
                      <a:headEnd len="sm" w="sm" type="none"/>
                      <a:tailEnd len="sm" w="sm" type="none"/>
                    </a:lnL>
                    <a:lnR cap="flat" cmpd="sng" w="12700">
                      <a:solidFill>
                        <a:srgbClr val="C5C1BB"/>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5C1BB"/>
                      </a:solidFill>
                      <a:prstDash val="solid"/>
                      <a:round/>
                      <a:headEnd len="sm" w="sm" type="none"/>
                      <a:tailEnd len="sm" w="sm" type="none"/>
                    </a:lnB>
                    <a:solidFill>
                      <a:srgbClr val="F7F2EA"/>
                    </a:solidFill>
                  </a:tcPr>
                </a:tc>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Docs say the mux runs without a GUI; remote domains need that split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1BB"/>
                      </a:solidFill>
                      <a:prstDash val="solid"/>
                      <a:round/>
                      <a:headEnd len="sm" w="sm" type="none"/>
                      <a:tailEnd len="sm" w="sm" type="none"/>
                    </a:lnL>
                    <a:lnR cap="flat" cmpd="sng" w="12700">
                      <a:solidFill>
                        <a:srgbClr val="C5C1BB"/>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5C1BB"/>
                      </a:solidFill>
                      <a:prstDash val="solid"/>
                      <a:round/>
                      <a:headEnd len="sm" w="sm" type="none"/>
                      <a:tailEnd len="sm" w="sm" type="none"/>
                    </a:lnB>
                    <a:solidFill>
                      <a:srgbClr val="F7F2EA"/>
                    </a:solidFill>
                  </a:tcPr>
                </a:tc>
              </a:tr>
              <a:tr h="632425">
                <a:tc>
                  <a:txBody>
                    <a:bodyPr/>
                    <a:lstStyle/>
                    <a:p>
                      <a:pPr indent="0" lvl="0" marL="0" marR="0" rtl="0" algn="l">
                        <a:lnSpc>
                          <a:spcPct val="140000"/>
                        </a:lnSpc>
                        <a:spcBef>
                          <a:spcPts val="0"/>
                        </a:spcBef>
                        <a:spcAft>
                          <a:spcPts val="0"/>
                        </a:spcAft>
                        <a:buClr>
                          <a:srgbClr val="1B1F27"/>
                        </a:buClr>
                        <a:buSzPts val="1400"/>
                        <a:buFont typeface="IBM Plex Sans"/>
                        <a:buNone/>
                      </a:pPr>
                      <a:r>
                        <a:rPr lang="en-US">
                          <a:solidFill>
                            <a:srgbClr val="1B1F27"/>
                          </a:solidFill>
                          <a:latin typeface="IBM Plex Sans"/>
                          <a:ea typeface="IBM Plex Sans"/>
                          <a:cs typeface="IBM Plex Sans"/>
                          <a:sym typeface="IBM Plex Sans"/>
                        </a:rPr>
                        <a:t>C</a:t>
                      </a:r>
                      <a:r>
                        <a:rPr lang="en-US" sz="1400" u="none" cap="none" strike="noStrike">
                          <a:solidFill>
                            <a:srgbClr val="1B1F27"/>
                          </a:solidFill>
                          <a:latin typeface="IBM Plex Sans"/>
                          <a:ea typeface="IBM Plex Sans"/>
                          <a:cs typeface="IBM Plex Sans"/>
                          <a:sym typeface="IBM Plex Sans"/>
                        </a:rPr>
                        <a:t>lient–server</a:t>
                      </a:r>
                      <a:endParaRPr sz="1400" u="none" cap="none" strike="noStrike">
                        <a:latin typeface="IBM Plex Sans"/>
                        <a:ea typeface="IBM Plex Sans"/>
                        <a:cs typeface="IBM Plex Sans"/>
                        <a:sym typeface="IBM Plex Sans"/>
                      </a:endParaRPr>
                    </a:p>
                  </a:txBody>
                  <a:tcPr marT="62225" marB="62225" marR="62225" marL="62225">
                    <a:lnL cap="flat" cmpd="sng" w="9525">
                      <a:solidFill>
                        <a:srgbClr val="000000">
                          <a:alpha val="0"/>
                        </a:srgbClr>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5C1BB"/>
                      </a:solidFill>
                      <a:prstDash val="solid"/>
                      <a:round/>
                      <a:headEnd len="sm" w="sm" type="none"/>
                      <a:tailEnd len="sm" w="sm" type="none"/>
                    </a:lnT>
                    <a:lnB cap="flat" cmpd="sng" w="12700">
                      <a:solidFill>
                        <a:srgbClr val="CBCA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Matches remote domains and wezterm-mux-server</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5C1BB"/>
                      </a:solidFill>
                      <a:prstDash val="solid"/>
                      <a:round/>
                      <a:headEnd len="sm" w="sm" type="none"/>
                      <a:tailEnd len="sm" w="sm" type="none"/>
                    </a:lnT>
                    <a:lnB cap="flat" cmpd="sng" w="12700">
                      <a:solidFill>
                        <a:srgbClr val="CBCAC6"/>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Local panes don't need a server; too narrow for the whole system</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5C1BB"/>
                      </a:solidFill>
                      <a:prstDash val="solid"/>
                      <a:round/>
                      <a:headEnd len="sm" w="sm" type="none"/>
                      <a:tailEnd len="sm" w="sm" type="none"/>
                    </a:lnT>
                    <a:lnB cap="flat" cmpd="sng" w="12700">
                      <a:solidFill>
                        <a:srgbClr val="CBCAC6"/>
                      </a:solidFill>
                      <a:prstDash val="solid"/>
                      <a:round/>
                      <a:headEnd len="sm" w="sm" type="none"/>
                      <a:tailEnd len="sm" w="sm" type="none"/>
                    </a:lnB>
                  </a:tcPr>
                </a:tc>
              </a:tr>
              <a:tr h="632425">
                <a:tc>
                  <a:txBody>
                    <a:bodyPr/>
                    <a:lstStyle/>
                    <a:p>
                      <a:pPr indent="0" lvl="0" marL="0" marR="0" rtl="0" algn="l">
                        <a:lnSpc>
                          <a:spcPct val="140000"/>
                        </a:lnSpc>
                        <a:spcBef>
                          <a:spcPts val="0"/>
                        </a:spcBef>
                        <a:spcAft>
                          <a:spcPts val="0"/>
                        </a:spcAft>
                        <a:buClr>
                          <a:srgbClr val="1B1F27"/>
                        </a:buClr>
                        <a:buSzPts val="1400"/>
                        <a:buFont typeface="IBM Plex Sans"/>
                        <a:buNone/>
                      </a:pPr>
                      <a:r>
                        <a:rPr lang="en-US" sz="1400" u="none" cap="none" strike="noStrike">
                          <a:solidFill>
                            <a:srgbClr val="1B1F27"/>
                          </a:solidFill>
                          <a:latin typeface="IBM Plex Sans"/>
                          <a:ea typeface="IBM Plex Sans"/>
                          <a:cs typeface="IBM Plex Sans"/>
                          <a:sym typeface="IBM Plex Sans"/>
                        </a:rPr>
                        <a:t>Layered </a:t>
                      </a:r>
                      <a:r>
                        <a:rPr lang="en-US">
                          <a:solidFill>
                            <a:srgbClr val="1B1F27"/>
                          </a:solidFill>
                          <a:latin typeface="IBM Plex Sans"/>
                          <a:ea typeface="IBM Plex Sans"/>
                          <a:cs typeface="IBM Plex Sans"/>
                          <a:sym typeface="IBM Plex Sans"/>
                        </a:rPr>
                        <a:t>and</a:t>
                      </a:r>
                      <a:r>
                        <a:rPr lang="en-US" sz="1400" u="none" cap="none" strike="noStrike">
                          <a:solidFill>
                            <a:srgbClr val="1B1F27"/>
                          </a:solidFill>
                          <a:latin typeface="IBM Plex Sans"/>
                          <a:ea typeface="IBM Plex Sans"/>
                          <a:cs typeface="IBM Plex Sans"/>
                          <a:sym typeface="IBM Plex Sans"/>
                        </a:rPr>
                        <a:t> event-driven</a:t>
                      </a:r>
                      <a:endParaRPr sz="1400" u="none" cap="none" strike="noStrike">
                        <a:latin typeface="IBM Plex Sans"/>
                        <a:ea typeface="IBM Plex Sans"/>
                        <a:cs typeface="IBM Plex Sans"/>
                        <a:sym typeface="IBM Plex Sans"/>
                      </a:endParaRPr>
                    </a:p>
                  </a:txBody>
                  <a:tcPr marT="62225" marB="62225" marR="62225" marL="62225">
                    <a:lnL cap="flat" cmpd="sng" w="9525">
                      <a:solidFill>
                        <a:srgbClr val="000000">
                          <a:alpha val="0"/>
                        </a:srgbClr>
                      </a:solidFill>
                      <a:prstDash val="solid"/>
                      <a:round/>
                      <a:headEnd len="sm" w="sm" type="none"/>
                      <a:tailEnd len="sm" w="sm" type="none"/>
                    </a:lnL>
                    <a:lnR cap="flat" cmpd="sng" w="12700">
                      <a:solidFill>
                        <a:srgbClr val="C8B8A9"/>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8B8A9"/>
                      </a:solidFill>
                      <a:prstDash val="solid"/>
                      <a:round/>
                      <a:headEnd len="sm" w="sm" type="none"/>
                      <a:tailEnd len="sm" w="sm" type="none"/>
                    </a:lnB>
                    <a:solidFill>
                      <a:srgbClr val="FBE6D3"/>
                    </a:solidFill>
                  </a:tcPr>
                </a:tc>
                <a:tc>
                  <a:txBody>
                    <a:bodyPr/>
                    <a:lstStyle/>
                    <a:p>
                      <a:pPr indent="0" lvl="0" marL="0" marR="0" rtl="0" algn="l">
                        <a:lnSpc>
                          <a:spcPct val="140000"/>
                        </a:lnSpc>
                        <a:spcBef>
                          <a:spcPts val="0"/>
                        </a:spcBef>
                        <a:spcAft>
                          <a:spcPts val="0"/>
                        </a:spcAft>
                        <a:buClr>
                          <a:srgbClr val="1B1F27"/>
                        </a:buClr>
                        <a:buSzPts val="1400"/>
                        <a:buFont typeface="IBM Plex Sans"/>
                        <a:buNone/>
                      </a:pPr>
                      <a:r>
                        <a:rPr lang="en-US">
                          <a:solidFill>
                            <a:srgbClr val="1B1F27"/>
                          </a:solidFill>
                          <a:latin typeface="IBM Plex Sans"/>
                          <a:ea typeface="IBM Plex Sans"/>
                          <a:cs typeface="IBM Plex Sans"/>
                          <a:sym typeface="IBM Plex Sans"/>
                        </a:rPr>
                        <a:t>Shows </a:t>
                      </a:r>
                      <a:r>
                        <a:rPr lang="en-US">
                          <a:solidFill>
                            <a:srgbClr val="1B1F27"/>
                          </a:solidFill>
                          <a:latin typeface="IBM Plex Sans"/>
                          <a:ea typeface="IBM Plex Sans"/>
                          <a:cs typeface="IBM Plex Sans"/>
                          <a:sym typeface="IBM Plex Sans"/>
                        </a:rPr>
                        <a:t>separate</a:t>
                      </a:r>
                      <a:r>
                        <a:rPr lang="en-US">
                          <a:solidFill>
                            <a:srgbClr val="1B1F27"/>
                          </a:solidFill>
                          <a:latin typeface="IBM Plex Sans"/>
                          <a:ea typeface="IBM Plex Sans"/>
                          <a:cs typeface="IBM Plex Sans"/>
                          <a:sym typeface="IBM Plex Sans"/>
                        </a:rPr>
                        <a:t> </a:t>
                      </a:r>
                      <a:r>
                        <a:rPr lang="en-US">
                          <a:solidFill>
                            <a:srgbClr val="1B1F27"/>
                          </a:solidFill>
                          <a:latin typeface="IBM Plex Sans"/>
                          <a:ea typeface="IBM Plex Sans"/>
                          <a:cs typeface="IBM Plex Sans"/>
                          <a:sym typeface="IBM Plex Sans"/>
                        </a:rPr>
                        <a:t>responsibilities</a:t>
                      </a:r>
                      <a:r>
                        <a:rPr lang="en-US">
                          <a:solidFill>
                            <a:srgbClr val="1B1F27"/>
                          </a:solidFill>
                          <a:latin typeface="IBM Plex Sans"/>
                          <a:ea typeface="IBM Plex Sans"/>
                          <a:cs typeface="IBM Plex Sans"/>
                          <a:sym typeface="IBM Plex Sans"/>
                        </a:rPr>
                        <a:t> and the events that trigger their work</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B8A9"/>
                      </a:solidFill>
                      <a:prstDash val="solid"/>
                      <a:round/>
                      <a:headEnd len="sm" w="sm" type="none"/>
                      <a:tailEnd len="sm" w="sm" type="none"/>
                    </a:lnL>
                    <a:lnR cap="flat" cmpd="sng" w="12700">
                      <a:solidFill>
                        <a:srgbClr val="C8B8A9"/>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8B8A9"/>
                      </a:solidFill>
                      <a:prstDash val="solid"/>
                      <a:round/>
                      <a:headEnd len="sm" w="sm" type="none"/>
                      <a:tailEnd len="sm" w="sm" type="none"/>
                    </a:lnB>
                    <a:solidFill>
                      <a:srgbClr val="FBE6D3"/>
                    </a:solidFill>
                  </a:tcPr>
                </a:tc>
                <a:tc>
                  <a:txBody>
                    <a:bodyPr/>
                    <a:lstStyle/>
                    <a:p>
                      <a:pPr indent="0" lvl="0" marL="0" marR="0" rtl="0" algn="l">
                        <a:lnSpc>
                          <a:spcPct val="140000"/>
                        </a:lnSpc>
                        <a:spcBef>
                          <a:spcPts val="0"/>
                        </a:spcBef>
                        <a:spcAft>
                          <a:spcPts val="0"/>
                        </a:spcAft>
                        <a:buClr>
                          <a:srgbClr val="1B1F27"/>
                        </a:buClr>
                        <a:buSzPts val="1400"/>
                        <a:buFont typeface="IBM Plex Sans"/>
                        <a:buNone/>
                      </a:pPr>
                      <a:r>
                        <a:rPr lang="en-US">
                          <a:solidFill>
                            <a:srgbClr val="1B1F27"/>
                          </a:solidFill>
                          <a:latin typeface="IBM Plex Sans"/>
                          <a:ea typeface="IBM Plex Sans"/>
                          <a:cs typeface="IBM Plex Sans"/>
                          <a:sym typeface="IBM Plex Sans"/>
                        </a:rPr>
                        <a:t>Our main view, with client-</a:t>
                      </a:r>
                      <a:r>
                        <a:rPr lang="en-US">
                          <a:solidFill>
                            <a:srgbClr val="1B1F27"/>
                          </a:solidFill>
                          <a:latin typeface="IBM Plex Sans"/>
                          <a:ea typeface="IBM Plex Sans"/>
                          <a:cs typeface="IBM Plex Sans"/>
                          <a:sym typeface="IBM Plex Sans"/>
                        </a:rPr>
                        <a:t>server</a:t>
                      </a:r>
                      <a:r>
                        <a:rPr lang="en-US">
                          <a:solidFill>
                            <a:srgbClr val="1B1F27"/>
                          </a:solidFill>
                          <a:latin typeface="IBM Plex Sans"/>
                          <a:ea typeface="IBM Plex Sans"/>
                          <a:cs typeface="IBM Plex Sans"/>
                          <a:sym typeface="IBM Plex Sans"/>
                        </a:rPr>
                        <a:t> added for </a:t>
                      </a:r>
                      <a:r>
                        <a:rPr lang="en-US">
                          <a:solidFill>
                            <a:srgbClr val="1B1F27"/>
                          </a:solidFill>
                          <a:latin typeface="IBM Plex Sans"/>
                          <a:ea typeface="IBM Plex Sans"/>
                          <a:cs typeface="IBM Plex Sans"/>
                          <a:sym typeface="IBM Plex Sans"/>
                        </a:rPr>
                        <a:t>separate</a:t>
                      </a:r>
                      <a:r>
                        <a:rPr lang="en-US">
                          <a:solidFill>
                            <a:srgbClr val="1B1F27"/>
                          </a:solidFill>
                          <a:latin typeface="IBM Plex Sans"/>
                          <a:ea typeface="IBM Plex Sans"/>
                          <a:cs typeface="IBM Plex Sans"/>
                          <a:sym typeface="IBM Plex Sans"/>
                        </a:rPr>
                        <a:t> mux connections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B8A9"/>
                      </a:solidFill>
                      <a:prstDash val="solid"/>
                      <a:round/>
                      <a:headEnd len="sm" w="sm" type="none"/>
                      <a:tailEnd len="sm" w="sm" type="none"/>
                    </a:lnL>
                    <a:lnR cap="flat" cmpd="sng" w="12700">
                      <a:solidFill>
                        <a:srgbClr val="C8B8A9"/>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8B8A9"/>
                      </a:solidFill>
                      <a:prstDash val="solid"/>
                      <a:round/>
                      <a:headEnd len="sm" w="sm" type="none"/>
                      <a:tailEnd len="sm" w="sm" type="none"/>
                    </a:lnB>
                    <a:solidFill>
                      <a:srgbClr val="FBE6D3"/>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197" name="Shape 197"/>
        <p:cNvGrpSpPr/>
        <p:nvPr/>
      </p:nvGrpSpPr>
      <p:grpSpPr>
        <a:xfrm>
          <a:off x="0" y="0"/>
          <a:ext cx="0" cy="0"/>
          <a:chOff x="0" y="0"/>
          <a:chExt cx="0" cy="0"/>
        </a:xfrm>
      </p:grpSpPr>
      <p:sp>
        <p:nvSpPr>
          <p:cNvPr id="198" name="Google Shape;198;p9"/>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SYSTEM</a:t>
            </a:r>
            <a:r>
              <a:rPr lang="en-US" spc="100" sz="1200">
                <a:solidFill>
                  <a:srgbClr val="B5530F"/>
                </a:solidFill>
                <a:latin typeface="JetBrains Mono"/>
                <a:ea typeface="JetBrains Mono"/>
                <a:cs typeface="JetBrains Mono"/>
                <a:sym typeface="JetBrains Mono"/>
              </a:rPr>
              <a:t> </a:t>
            </a:r>
            <a:r>
              <a:rPr b="0" i="0" lang="en-US" spc="100" sz="1200" u="none" cap="none" strike="noStrike">
                <a:solidFill>
                  <a:srgbClr val="B5530F"/>
                </a:solidFill>
                <a:latin typeface="JetBrains Mono"/>
                <a:ea typeface="JetBrains Mono"/>
                <a:cs typeface="JetBrains Mono"/>
                <a:sym typeface="JetBrains Mono"/>
              </a:rPr>
              <a:t>EVOLUTION</a:t>
            </a:r>
            <a:endParaRPr b="0" i="0" sz="1200" u="none" cap="none" strike="noStrike">
              <a:solidFill>
                <a:schemeClr val="dk1"/>
              </a:solidFill>
              <a:latin typeface="IBM Plex Sans"/>
              <a:ea typeface="IBM Plex Sans"/>
              <a:cs typeface="IBM Plex Sans"/>
              <a:sym typeface="IBM Plex Sans"/>
            </a:endParaRPr>
          </a:p>
        </p:txBody>
      </p:sp>
      <p:sp>
        <p:nvSpPr>
          <p:cNvPr id="199" name="Google Shape;199;p9"/>
          <p:cNvSpPr txBox="1"/>
          <p:nvPr>
            <p:ph type="title"/>
          </p:nvPr>
        </p:nvSpPr>
        <p:spPr>
          <a:xfrm>
            <a:off x="812800" y="1098550"/>
            <a:ext cx="10883400" cy="412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lang="en-US"/>
              <a:t>Evolution of Features</a:t>
            </a:r>
            <a:endParaRPr sz="2800"/>
          </a:p>
        </p:txBody>
      </p:sp>
      <p:cxnSp>
        <p:nvCxnSpPr>
          <p:cNvPr id="200" name="Google Shape;200;p9"/>
          <p:cNvCxnSpPr/>
          <p:nvPr/>
        </p:nvCxnSpPr>
        <p:spPr>
          <a:xfrm>
            <a:off x="812800" y="1860550"/>
            <a:ext cx="1991320" cy="0"/>
          </a:xfrm>
          <a:prstGeom prst="straightConnector1">
            <a:avLst/>
          </a:prstGeom>
          <a:noFill/>
          <a:ln cap="flat" cmpd="sng" w="38100">
            <a:solidFill>
              <a:srgbClr val="B5530F"/>
            </a:solidFill>
            <a:prstDash val="solid"/>
            <a:round/>
            <a:headEnd len="sm" w="sm" type="none"/>
            <a:tailEnd len="sm" w="sm" type="none"/>
          </a:ln>
        </p:spPr>
      </p:cxnSp>
      <p:sp>
        <p:nvSpPr>
          <p:cNvPr id="201" name="Google Shape;201;p9"/>
          <p:cNvSpPr/>
          <p:nvPr/>
        </p:nvSpPr>
        <p:spPr>
          <a:xfrm>
            <a:off x="812800" y="2032000"/>
            <a:ext cx="1998736" cy="4127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200"/>
              <a:buFont typeface="JetBrains Mono"/>
              <a:buNone/>
            </a:pPr>
            <a:r>
              <a:rPr b="1" i="0" lang="en-US" sz="2200" u="none" cap="none" strike="noStrike">
                <a:solidFill>
                  <a:srgbClr val="B5530F"/>
                </a:solidFill>
                <a:latin typeface="JetBrains Mono"/>
                <a:ea typeface="JetBrains Mono"/>
                <a:cs typeface="JetBrains Mono"/>
                <a:sym typeface="JetBrains Mono"/>
              </a:rPr>
              <a:t>2018</a:t>
            </a:r>
            <a:endParaRPr b="0" i="0" sz="2200" u="none" cap="none" strike="noStrike">
              <a:solidFill>
                <a:schemeClr val="dk1"/>
              </a:solidFill>
              <a:latin typeface="IBM Plex Sans"/>
              <a:ea typeface="IBM Plex Sans"/>
              <a:cs typeface="IBM Plex Sans"/>
              <a:sym typeface="IBM Plex Sans"/>
            </a:endParaRPr>
          </a:p>
        </p:txBody>
      </p:sp>
      <p:sp>
        <p:nvSpPr>
          <p:cNvPr id="202" name="Google Shape;202;p9"/>
          <p:cNvSpPr/>
          <p:nvPr/>
        </p:nvSpPr>
        <p:spPr>
          <a:xfrm>
            <a:off x="812800" y="2495550"/>
            <a:ext cx="1998736" cy="444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Repository created on February 7.</a:t>
            </a:r>
            <a:endParaRPr b="0" i="0" sz="1200" u="none" cap="none" strike="noStrike">
              <a:solidFill>
                <a:schemeClr val="dk1"/>
              </a:solidFill>
              <a:latin typeface="IBM Plex Sans"/>
              <a:ea typeface="IBM Plex Sans"/>
              <a:cs typeface="IBM Plex Sans"/>
              <a:sym typeface="IBM Plex Sans"/>
            </a:endParaRPr>
          </a:p>
        </p:txBody>
      </p:sp>
      <p:cxnSp>
        <p:nvCxnSpPr>
          <p:cNvPr id="203" name="Google Shape;203;p9"/>
          <p:cNvCxnSpPr/>
          <p:nvPr/>
        </p:nvCxnSpPr>
        <p:spPr>
          <a:xfrm>
            <a:off x="2956520" y="1860550"/>
            <a:ext cx="1991320" cy="0"/>
          </a:xfrm>
          <a:prstGeom prst="straightConnector1">
            <a:avLst/>
          </a:prstGeom>
          <a:noFill/>
          <a:ln cap="flat" cmpd="sng" w="38100">
            <a:solidFill>
              <a:srgbClr val="B5530F"/>
            </a:solidFill>
            <a:prstDash val="solid"/>
            <a:round/>
            <a:headEnd len="sm" w="sm" type="none"/>
            <a:tailEnd len="sm" w="sm" type="none"/>
          </a:ln>
        </p:spPr>
      </p:cxnSp>
      <p:sp>
        <p:nvSpPr>
          <p:cNvPr id="204" name="Google Shape;204;p9"/>
          <p:cNvSpPr/>
          <p:nvPr/>
        </p:nvSpPr>
        <p:spPr>
          <a:xfrm>
            <a:off x="2956520" y="2032000"/>
            <a:ext cx="1998736" cy="4127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200"/>
              <a:buFont typeface="JetBrains Mono"/>
              <a:buNone/>
            </a:pPr>
            <a:r>
              <a:rPr b="1" i="0" lang="en-US" sz="2200" u="none" cap="none" strike="noStrike">
                <a:solidFill>
                  <a:srgbClr val="B5530F"/>
                </a:solidFill>
                <a:latin typeface="JetBrains Mono"/>
                <a:ea typeface="JetBrains Mono"/>
                <a:cs typeface="JetBrains Mono"/>
                <a:sym typeface="JetBrains Mono"/>
              </a:rPr>
              <a:t>2019</a:t>
            </a:r>
            <a:endParaRPr b="0" i="0" sz="2200" u="none" cap="none" strike="noStrike">
              <a:solidFill>
                <a:schemeClr val="dk1"/>
              </a:solidFill>
              <a:latin typeface="IBM Plex Sans"/>
              <a:ea typeface="IBM Plex Sans"/>
              <a:cs typeface="IBM Plex Sans"/>
              <a:sym typeface="IBM Plex Sans"/>
            </a:endParaRPr>
          </a:p>
        </p:txBody>
      </p:sp>
      <p:sp>
        <p:nvSpPr>
          <p:cNvPr id="205" name="Google Shape;205;p9"/>
          <p:cNvSpPr/>
          <p:nvPr/>
        </p:nvSpPr>
        <p:spPr>
          <a:xfrm>
            <a:off x="2956520" y="2495550"/>
            <a:ext cx="1998736" cy="1282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First tagged releases. November: tab bar, wezterm ssh, config hot-reload, software rendering fallback. December: Wayland, split font pipeline.</a:t>
            </a:r>
            <a:endParaRPr b="0" i="0" sz="1200" u="none" cap="none" strike="noStrike">
              <a:solidFill>
                <a:schemeClr val="dk1"/>
              </a:solidFill>
              <a:latin typeface="IBM Plex Sans"/>
              <a:ea typeface="IBM Plex Sans"/>
              <a:cs typeface="IBM Plex Sans"/>
              <a:sym typeface="IBM Plex Sans"/>
            </a:endParaRPr>
          </a:p>
        </p:txBody>
      </p:sp>
      <p:cxnSp>
        <p:nvCxnSpPr>
          <p:cNvPr id="206" name="Google Shape;206;p9"/>
          <p:cNvCxnSpPr/>
          <p:nvPr/>
        </p:nvCxnSpPr>
        <p:spPr>
          <a:xfrm>
            <a:off x="5100241" y="1860550"/>
            <a:ext cx="1991420" cy="0"/>
          </a:xfrm>
          <a:prstGeom prst="straightConnector1">
            <a:avLst/>
          </a:prstGeom>
          <a:noFill/>
          <a:ln cap="flat" cmpd="sng" w="38100">
            <a:solidFill>
              <a:srgbClr val="B5530F"/>
            </a:solidFill>
            <a:prstDash val="solid"/>
            <a:round/>
            <a:headEnd len="sm" w="sm" type="none"/>
            <a:tailEnd len="sm" w="sm" type="none"/>
          </a:ln>
        </p:spPr>
      </p:cxnSp>
      <p:sp>
        <p:nvSpPr>
          <p:cNvPr id="207" name="Google Shape;207;p9"/>
          <p:cNvSpPr/>
          <p:nvPr/>
        </p:nvSpPr>
        <p:spPr>
          <a:xfrm>
            <a:off x="5100241" y="2032000"/>
            <a:ext cx="1998838" cy="4127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200"/>
              <a:buFont typeface="JetBrains Mono"/>
              <a:buNone/>
            </a:pPr>
            <a:r>
              <a:rPr b="1" i="0" lang="en-US" sz="2200" u="none" cap="none" strike="noStrike">
                <a:solidFill>
                  <a:srgbClr val="B5530F"/>
                </a:solidFill>
                <a:latin typeface="JetBrains Mono"/>
                <a:ea typeface="JetBrains Mono"/>
                <a:cs typeface="JetBrains Mono"/>
                <a:sym typeface="JetBrains Mono"/>
              </a:rPr>
              <a:t>2020</a:t>
            </a:r>
            <a:endParaRPr b="0" i="0" sz="2200" u="none" cap="none" strike="noStrike">
              <a:solidFill>
                <a:schemeClr val="dk1"/>
              </a:solidFill>
              <a:latin typeface="IBM Plex Sans"/>
              <a:ea typeface="IBM Plex Sans"/>
              <a:cs typeface="IBM Plex Sans"/>
              <a:sym typeface="IBM Plex Sans"/>
            </a:endParaRPr>
          </a:p>
        </p:txBody>
      </p:sp>
      <p:sp>
        <p:nvSpPr>
          <p:cNvPr id="208" name="Google Shape;208;p9"/>
          <p:cNvSpPr/>
          <p:nvPr/>
        </p:nvSpPr>
        <p:spPr>
          <a:xfrm>
            <a:off x="5100241" y="2495550"/>
            <a:ext cx="1998838" cy="10731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October: Lua event callbacks; mux server moved into its own wezterm-mux-server program.</a:t>
            </a:r>
            <a:endParaRPr b="0" i="0" sz="1200" u="none" cap="none" strike="noStrike">
              <a:solidFill>
                <a:schemeClr val="dk1"/>
              </a:solidFill>
              <a:latin typeface="IBM Plex Sans"/>
              <a:ea typeface="IBM Plex Sans"/>
              <a:cs typeface="IBM Plex Sans"/>
              <a:sym typeface="IBM Plex Sans"/>
            </a:endParaRPr>
          </a:p>
        </p:txBody>
      </p:sp>
      <p:cxnSp>
        <p:nvCxnSpPr>
          <p:cNvPr id="209" name="Google Shape;209;p9"/>
          <p:cNvCxnSpPr/>
          <p:nvPr/>
        </p:nvCxnSpPr>
        <p:spPr>
          <a:xfrm>
            <a:off x="7244060" y="1860550"/>
            <a:ext cx="1991320" cy="0"/>
          </a:xfrm>
          <a:prstGeom prst="straightConnector1">
            <a:avLst/>
          </a:prstGeom>
          <a:noFill/>
          <a:ln cap="flat" cmpd="sng" w="38100">
            <a:solidFill>
              <a:srgbClr val="B5530F"/>
            </a:solidFill>
            <a:prstDash val="solid"/>
            <a:round/>
            <a:headEnd len="sm" w="sm" type="none"/>
            <a:tailEnd len="sm" w="sm" type="none"/>
          </a:ln>
        </p:spPr>
      </p:cxnSp>
      <p:sp>
        <p:nvSpPr>
          <p:cNvPr id="210" name="Google Shape;210;p9"/>
          <p:cNvSpPr/>
          <p:nvPr/>
        </p:nvSpPr>
        <p:spPr>
          <a:xfrm>
            <a:off x="7244060" y="2032000"/>
            <a:ext cx="1998736" cy="4127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200"/>
              <a:buFont typeface="JetBrains Mono"/>
              <a:buNone/>
            </a:pPr>
            <a:r>
              <a:rPr b="1" i="0" lang="en-US" sz="2200" u="none" cap="none" strike="noStrike">
                <a:solidFill>
                  <a:srgbClr val="B5530F"/>
                </a:solidFill>
                <a:latin typeface="JetBrains Mono"/>
                <a:ea typeface="JetBrains Mono"/>
                <a:cs typeface="JetBrains Mono"/>
                <a:sym typeface="JetBrains Mono"/>
              </a:rPr>
              <a:t>2022</a:t>
            </a:r>
            <a:endParaRPr b="0" i="0" sz="2200" u="none" cap="none" strike="noStrike">
              <a:solidFill>
                <a:schemeClr val="dk1"/>
              </a:solidFill>
              <a:latin typeface="IBM Plex Sans"/>
              <a:ea typeface="IBM Plex Sans"/>
              <a:cs typeface="IBM Plex Sans"/>
              <a:sym typeface="IBM Plex Sans"/>
            </a:endParaRPr>
          </a:p>
        </p:txBody>
      </p:sp>
      <p:sp>
        <p:nvSpPr>
          <p:cNvPr id="211" name="Google Shape;211;p9"/>
          <p:cNvSpPr/>
          <p:nvPr/>
        </p:nvSpPr>
        <p:spPr>
          <a:xfrm>
            <a:off x="7244060" y="2495550"/>
            <a:ext cx="1998736" cy="8636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June: wezterm.mux Lua module. November: WebGpu added as a third renderer.</a:t>
            </a:r>
            <a:endParaRPr b="0" i="0" sz="1200" u="none" cap="none" strike="noStrike">
              <a:solidFill>
                <a:schemeClr val="dk1"/>
              </a:solidFill>
              <a:latin typeface="IBM Plex Sans"/>
              <a:ea typeface="IBM Plex Sans"/>
              <a:cs typeface="IBM Plex Sans"/>
              <a:sym typeface="IBM Plex Sans"/>
            </a:endParaRPr>
          </a:p>
        </p:txBody>
      </p:sp>
      <p:cxnSp>
        <p:nvCxnSpPr>
          <p:cNvPr id="212" name="Google Shape;212;p9"/>
          <p:cNvCxnSpPr/>
          <p:nvPr/>
        </p:nvCxnSpPr>
        <p:spPr>
          <a:xfrm>
            <a:off x="9387780" y="1860550"/>
            <a:ext cx="1991420" cy="0"/>
          </a:xfrm>
          <a:prstGeom prst="straightConnector1">
            <a:avLst/>
          </a:prstGeom>
          <a:noFill/>
          <a:ln cap="flat" cmpd="sng" w="38100">
            <a:solidFill>
              <a:srgbClr val="B5530F"/>
            </a:solidFill>
            <a:prstDash val="solid"/>
            <a:round/>
            <a:headEnd len="sm" w="sm" type="none"/>
            <a:tailEnd len="sm" w="sm" type="none"/>
          </a:ln>
        </p:spPr>
      </p:cxnSp>
      <p:sp>
        <p:nvSpPr>
          <p:cNvPr id="213" name="Google Shape;213;p9"/>
          <p:cNvSpPr/>
          <p:nvPr/>
        </p:nvSpPr>
        <p:spPr>
          <a:xfrm>
            <a:off x="9387780" y="2032000"/>
            <a:ext cx="1998838" cy="4127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2200"/>
              <a:buFont typeface="JetBrains Mono"/>
              <a:buNone/>
            </a:pPr>
            <a:r>
              <a:rPr b="1" i="0" lang="en-US" sz="2200" u="none" cap="none" strike="noStrike">
                <a:solidFill>
                  <a:srgbClr val="B5530F"/>
                </a:solidFill>
                <a:latin typeface="JetBrains Mono"/>
                <a:ea typeface="JetBrains Mono"/>
                <a:cs typeface="JetBrains Mono"/>
                <a:sym typeface="JetBrains Mono"/>
              </a:rPr>
              <a:t>2024</a:t>
            </a:r>
            <a:endParaRPr b="0" i="0" sz="2200" u="none" cap="none" strike="noStrike">
              <a:solidFill>
                <a:schemeClr val="dk1"/>
              </a:solidFill>
              <a:latin typeface="IBM Plex Sans"/>
              <a:ea typeface="IBM Plex Sans"/>
              <a:cs typeface="IBM Plex Sans"/>
              <a:sym typeface="IBM Plex Sans"/>
            </a:endParaRPr>
          </a:p>
        </p:txBody>
      </p:sp>
      <p:sp>
        <p:nvSpPr>
          <p:cNvPr id="214" name="Google Shape;214;p9"/>
          <p:cNvSpPr/>
          <p:nvPr/>
        </p:nvSpPr>
        <p:spPr>
          <a:xfrm>
            <a:off x="9387780" y="2495550"/>
            <a:ext cx="1998838" cy="8636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WebGpu default for one day, then back to OpenGL. Feb 3: latest stable; nightly builds since.</a:t>
            </a:r>
            <a:endParaRPr b="0" i="0" sz="1200" u="none" cap="none" strike="noStrike">
              <a:solidFill>
                <a:schemeClr val="dk1"/>
              </a:solidFill>
              <a:latin typeface="IBM Plex Sans"/>
              <a:ea typeface="IBM Plex Sans"/>
              <a:cs typeface="IBM Plex Sans"/>
              <a:sym typeface="IBM Plex Sans"/>
            </a:endParaRPr>
          </a:p>
        </p:txBody>
      </p:sp>
      <p:cxnSp>
        <p:nvCxnSpPr>
          <p:cNvPr id="215" name="Google Shape;215;p9"/>
          <p:cNvCxnSpPr/>
          <p:nvPr/>
        </p:nvCxnSpPr>
        <p:spPr>
          <a:xfrm>
            <a:off x="831850" y="5664200"/>
            <a:ext cx="0" cy="381000"/>
          </a:xfrm>
          <a:prstGeom prst="straightConnector1">
            <a:avLst/>
          </a:prstGeom>
          <a:noFill/>
          <a:ln cap="flat" cmpd="sng" w="38100">
            <a:solidFill>
              <a:srgbClr val="B5530F"/>
            </a:solidFill>
            <a:prstDash val="solid"/>
            <a:round/>
            <a:headEnd len="sm" w="sm" type="none"/>
            <a:tailEnd len="sm" w="sm" type="none"/>
          </a:ln>
        </p:spPr>
      </p:cxnSp>
      <p:sp>
        <p:nvSpPr>
          <p:cNvPr id="216" name="Google Shape;216;p9"/>
          <p:cNvSpPr/>
          <p:nvPr/>
        </p:nvSpPr>
        <p:spPr>
          <a:xfrm>
            <a:off x="1054100" y="5715000"/>
            <a:ext cx="10634853" cy="304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1F27"/>
              </a:buClr>
              <a:buSzPts val="1600"/>
              <a:buFont typeface="IBM Plex Sans"/>
              <a:buNone/>
            </a:pPr>
            <a:r>
              <a:rPr b="0" i="0" lang="en-US" sz="1600" u="none" cap="none" strike="noStrike">
                <a:solidFill>
                  <a:srgbClr val="1B1F27"/>
                </a:solidFill>
                <a:latin typeface="IBM Plex Sans"/>
                <a:ea typeface="IBM Plex Sans"/>
                <a:cs typeface="IBM Plex Sans"/>
                <a:sym typeface="IBM Plex Sans"/>
              </a:rPr>
              <a:t>The boundaries held: a new renderer or a separate server didn't require rewriting the other parts.</a:t>
            </a:r>
            <a:endParaRPr b="0" i="0" sz="16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221" name="Shape 221"/>
        <p:cNvGrpSpPr/>
        <p:nvPr/>
      </p:nvGrpSpPr>
      <p:grpSpPr>
        <a:xfrm>
          <a:off x="0" y="0"/>
          <a:ext cx="0" cy="0"/>
          <a:chOff x="0" y="0"/>
          <a:chExt cx="0" cy="0"/>
        </a:xfrm>
      </p:grpSpPr>
      <p:sp>
        <p:nvSpPr>
          <p:cNvPr id="222" name="Google Shape;222;p10"/>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CONTROL</a:t>
            </a:r>
            <a:r>
              <a:rPr lang="en-US" spc="100" sz="1200">
                <a:solidFill>
                  <a:srgbClr val="B5530F"/>
                </a:solidFill>
                <a:latin typeface="JetBrains Mono"/>
                <a:ea typeface="JetBrains Mono"/>
                <a:cs typeface="JetBrains Mono"/>
                <a:sym typeface="JetBrains Mono"/>
              </a:rPr>
              <a:t> </a:t>
            </a:r>
            <a:r>
              <a:rPr b="0" i="0" lang="en-US" spc="100" sz="1200" u="none" cap="none" strike="noStrike">
                <a:solidFill>
                  <a:srgbClr val="B5530F"/>
                </a:solidFill>
                <a:latin typeface="JetBrains Mono"/>
                <a:ea typeface="JetBrains Mono"/>
                <a:cs typeface="JetBrains Mono"/>
                <a:sym typeface="JetBrains Mono"/>
              </a:rPr>
              <a:t>FLOW</a:t>
            </a:r>
            <a:endParaRPr b="0" i="0" sz="1200" u="none" cap="none" strike="noStrike">
              <a:solidFill>
                <a:schemeClr val="dk1"/>
              </a:solidFill>
              <a:latin typeface="IBM Plex Sans"/>
              <a:ea typeface="IBM Plex Sans"/>
              <a:cs typeface="IBM Plex Sans"/>
              <a:sym typeface="IBM Plex Sans"/>
            </a:endParaRPr>
          </a:p>
        </p:txBody>
      </p:sp>
      <p:sp>
        <p:nvSpPr>
          <p:cNvPr id="223" name="Google Shape;223;p10"/>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i="0" lang="en-US" sz="2800">
                <a:solidFill>
                  <a:srgbClr val="1B1F27"/>
                </a:solidFill>
                <a:latin typeface="IBM Plex Sans"/>
                <a:ea typeface="IBM Plex Sans"/>
                <a:cs typeface="IBM Plex Sans"/>
                <a:sym typeface="IBM Plex Sans"/>
              </a:rPr>
              <a:t>Events </a:t>
            </a:r>
            <a:r>
              <a:rPr b="1" lang="en-US"/>
              <a:t>D</a:t>
            </a:r>
            <a:r>
              <a:rPr b="1" i="0" lang="en-US" sz="2800">
                <a:solidFill>
                  <a:srgbClr val="1B1F27"/>
                </a:solidFill>
                <a:latin typeface="IBM Plex Sans"/>
                <a:ea typeface="IBM Plex Sans"/>
                <a:cs typeface="IBM Plex Sans"/>
                <a:sym typeface="IBM Plex Sans"/>
              </a:rPr>
              <a:t>ecide </a:t>
            </a:r>
            <a:r>
              <a:rPr b="1" lang="en-US"/>
              <a:t>W</a:t>
            </a:r>
            <a:r>
              <a:rPr b="1" i="0" lang="en-US" sz="2800">
                <a:solidFill>
                  <a:srgbClr val="1B1F27"/>
                </a:solidFill>
                <a:latin typeface="IBM Plex Sans"/>
                <a:ea typeface="IBM Plex Sans"/>
                <a:cs typeface="IBM Plex Sans"/>
                <a:sym typeface="IBM Plex Sans"/>
              </a:rPr>
              <a:t>hat </a:t>
            </a:r>
            <a:r>
              <a:rPr b="1" lang="en-US"/>
              <a:t>H</a:t>
            </a:r>
            <a:r>
              <a:rPr b="1" i="0" lang="en-US" sz="2800">
                <a:solidFill>
                  <a:srgbClr val="1B1F27"/>
                </a:solidFill>
                <a:latin typeface="IBM Plex Sans"/>
                <a:ea typeface="IBM Plex Sans"/>
                <a:cs typeface="IBM Plex Sans"/>
                <a:sym typeface="IBM Plex Sans"/>
              </a:rPr>
              <a:t>appens </a:t>
            </a:r>
            <a:r>
              <a:rPr b="1" lang="en-US"/>
              <a:t>N</a:t>
            </a:r>
            <a:r>
              <a:rPr b="1" i="0" lang="en-US" sz="2800">
                <a:solidFill>
                  <a:srgbClr val="1B1F27"/>
                </a:solidFill>
                <a:latin typeface="IBM Plex Sans"/>
                <a:ea typeface="IBM Plex Sans"/>
                <a:cs typeface="IBM Plex Sans"/>
                <a:sym typeface="IBM Plex Sans"/>
              </a:rPr>
              <a:t>ext</a:t>
            </a:r>
            <a:endParaRPr sz="2800"/>
          </a:p>
        </p:txBody>
      </p:sp>
      <p:sp>
        <p:nvSpPr>
          <p:cNvPr id="224" name="Google Shape;224;p10"/>
          <p:cNvSpPr/>
          <p:nvPr/>
        </p:nvSpPr>
        <p:spPr>
          <a:xfrm>
            <a:off x="819150" y="1847850"/>
            <a:ext cx="1367334"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User</a:t>
            </a:r>
            <a:endParaRPr b="0" i="0" sz="1400" u="none" cap="none" strike="noStrike">
              <a:solidFill>
                <a:schemeClr val="dk1"/>
              </a:solidFill>
              <a:latin typeface="IBM Plex Sans"/>
              <a:ea typeface="IBM Plex Sans"/>
              <a:cs typeface="IBM Plex Sans"/>
              <a:sym typeface="IBM Plex Sans"/>
            </a:endParaRPr>
          </a:p>
        </p:txBody>
      </p:sp>
      <p:pic>
        <p:nvPicPr>
          <p:cNvPr descr="connector" id="225" name="Google Shape;225;p10"/>
          <p:cNvPicPr preferRelativeResize="0"/>
          <p:nvPr/>
        </p:nvPicPr>
        <p:blipFill rotWithShape="1">
          <a:blip r:embed="rId3">
            <a:alphaModFix/>
          </a:blip>
          <a:srcRect b="0" l="0" r="0" t="0"/>
          <a:stretch/>
        </p:blipFill>
        <p:spPr>
          <a:xfrm>
            <a:off x="2294434" y="2054225"/>
            <a:ext cx="254000" cy="101600"/>
          </a:xfrm>
          <a:prstGeom prst="rect">
            <a:avLst/>
          </a:prstGeom>
          <a:noFill/>
          <a:ln>
            <a:noFill/>
          </a:ln>
        </p:spPr>
      </p:pic>
      <p:sp>
        <p:nvSpPr>
          <p:cNvPr id="226" name="Google Shape;226;p10"/>
          <p:cNvSpPr/>
          <p:nvPr/>
        </p:nvSpPr>
        <p:spPr>
          <a:xfrm>
            <a:off x="2656384" y="1847850"/>
            <a:ext cx="1367334"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GUI input</a:t>
            </a:r>
            <a:endParaRPr b="0" i="0" sz="1400" u="none" cap="none" strike="noStrike">
              <a:solidFill>
                <a:schemeClr val="dk1"/>
              </a:solidFill>
              <a:latin typeface="IBM Plex Sans"/>
              <a:ea typeface="IBM Plex Sans"/>
              <a:cs typeface="IBM Plex Sans"/>
              <a:sym typeface="IBM Plex Sans"/>
            </a:endParaRPr>
          </a:p>
        </p:txBody>
      </p:sp>
      <p:pic>
        <p:nvPicPr>
          <p:cNvPr descr="connector" id="227" name="Google Shape;227;p10"/>
          <p:cNvPicPr preferRelativeResize="0"/>
          <p:nvPr/>
        </p:nvPicPr>
        <p:blipFill rotWithShape="1">
          <a:blip r:embed="rId3">
            <a:alphaModFix/>
          </a:blip>
          <a:srcRect b="0" l="0" r="0" t="0"/>
          <a:stretch/>
        </p:blipFill>
        <p:spPr>
          <a:xfrm>
            <a:off x="4131667" y="2054225"/>
            <a:ext cx="254000" cy="101600"/>
          </a:xfrm>
          <a:prstGeom prst="rect">
            <a:avLst/>
          </a:prstGeom>
          <a:noFill/>
          <a:ln>
            <a:noFill/>
          </a:ln>
        </p:spPr>
      </p:pic>
      <p:sp>
        <p:nvSpPr>
          <p:cNvPr id="228" name="Google Shape;228;p10"/>
          <p:cNvSpPr/>
          <p:nvPr/>
        </p:nvSpPr>
        <p:spPr>
          <a:xfrm>
            <a:off x="4493617" y="1847850"/>
            <a:ext cx="1367334"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Mux</a:t>
            </a:r>
            <a:endParaRPr b="0" i="0" sz="1400" u="none" cap="none" strike="noStrike">
              <a:solidFill>
                <a:schemeClr val="dk1"/>
              </a:solidFill>
              <a:latin typeface="IBM Plex Sans"/>
              <a:ea typeface="IBM Plex Sans"/>
              <a:cs typeface="IBM Plex Sans"/>
              <a:sym typeface="IBM Plex Sans"/>
            </a:endParaRPr>
          </a:p>
        </p:txBody>
      </p:sp>
      <p:pic>
        <p:nvPicPr>
          <p:cNvPr descr="connector" id="229" name="Google Shape;229;p10"/>
          <p:cNvPicPr preferRelativeResize="0"/>
          <p:nvPr/>
        </p:nvPicPr>
        <p:blipFill rotWithShape="1">
          <a:blip r:embed="rId3">
            <a:alphaModFix/>
          </a:blip>
          <a:srcRect b="0" l="0" r="0" t="0"/>
          <a:stretch/>
        </p:blipFill>
        <p:spPr>
          <a:xfrm>
            <a:off x="5968901" y="2054225"/>
            <a:ext cx="254000" cy="101600"/>
          </a:xfrm>
          <a:prstGeom prst="rect">
            <a:avLst/>
          </a:prstGeom>
          <a:noFill/>
          <a:ln>
            <a:noFill/>
          </a:ln>
        </p:spPr>
      </p:pic>
      <p:sp>
        <p:nvSpPr>
          <p:cNvPr id="230" name="Google Shape;230;p10"/>
          <p:cNvSpPr/>
          <p:nvPr/>
        </p:nvSpPr>
        <p:spPr>
          <a:xfrm>
            <a:off x="6330851" y="1847850"/>
            <a:ext cx="1367334"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Pane</a:t>
            </a:r>
            <a:endParaRPr b="0" i="0" sz="1400" u="none" cap="none" strike="noStrike">
              <a:solidFill>
                <a:schemeClr val="dk1"/>
              </a:solidFill>
              <a:latin typeface="IBM Plex Sans"/>
              <a:ea typeface="IBM Plex Sans"/>
              <a:cs typeface="IBM Plex Sans"/>
              <a:sym typeface="IBM Plex Sans"/>
            </a:endParaRPr>
          </a:p>
        </p:txBody>
      </p:sp>
      <p:pic>
        <p:nvPicPr>
          <p:cNvPr descr="connector" id="231" name="Google Shape;231;p10"/>
          <p:cNvPicPr preferRelativeResize="0"/>
          <p:nvPr/>
        </p:nvPicPr>
        <p:blipFill rotWithShape="1">
          <a:blip r:embed="rId3">
            <a:alphaModFix/>
          </a:blip>
          <a:srcRect b="0" l="0" r="0" t="0"/>
          <a:stretch/>
        </p:blipFill>
        <p:spPr>
          <a:xfrm>
            <a:off x="7806134" y="2054225"/>
            <a:ext cx="254000" cy="101600"/>
          </a:xfrm>
          <a:prstGeom prst="rect">
            <a:avLst/>
          </a:prstGeom>
          <a:noFill/>
          <a:ln>
            <a:noFill/>
          </a:ln>
        </p:spPr>
      </p:pic>
      <p:sp>
        <p:nvSpPr>
          <p:cNvPr id="232" name="Google Shape;232;p10"/>
          <p:cNvSpPr/>
          <p:nvPr/>
        </p:nvSpPr>
        <p:spPr>
          <a:xfrm>
            <a:off x="8168084" y="1847850"/>
            <a:ext cx="1367334"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PTY</a:t>
            </a:r>
            <a:endParaRPr b="0" i="0" sz="1400" u="none" cap="none" strike="noStrike">
              <a:solidFill>
                <a:schemeClr val="dk1"/>
              </a:solidFill>
              <a:latin typeface="IBM Plex Sans"/>
              <a:ea typeface="IBM Plex Sans"/>
              <a:cs typeface="IBM Plex Sans"/>
              <a:sym typeface="IBM Plex Sans"/>
            </a:endParaRPr>
          </a:p>
        </p:txBody>
      </p:sp>
      <p:pic>
        <p:nvPicPr>
          <p:cNvPr descr="connector" id="233" name="Google Shape;233;p10"/>
          <p:cNvPicPr preferRelativeResize="0"/>
          <p:nvPr/>
        </p:nvPicPr>
        <p:blipFill rotWithShape="1">
          <a:blip r:embed="rId3">
            <a:alphaModFix/>
          </a:blip>
          <a:srcRect b="0" l="0" r="0" t="0"/>
          <a:stretch/>
        </p:blipFill>
        <p:spPr>
          <a:xfrm>
            <a:off x="9643368" y="2054225"/>
            <a:ext cx="254000" cy="101600"/>
          </a:xfrm>
          <a:prstGeom prst="rect">
            <a:avLst/>
          </a:prstGeom>
          <a:noFill/>
          <a:ln>
            <a:noFill/>
          </a:ln>
        </p:spPr>
      </p:pic>
      <p:sp>
        <p:nvSpPr>
          <p:cNvPr id="234" name="Google Shape;234;p10"/>
          <p:cNvSpPr/>
          <p:nvPr/>
        </p:nvSpPr>
        <p:spPr>
          <a:xfrm>
            <a:off x="10005318" y="1847850"/>
            <a:ext cx="1367334"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Shell / app</a:t>
            </a:r>
            <a:endParaRPr b="0" i="0" sz="1400" u="none" cap="none" strike="noStrike">
              <a:solidFill>
                <a:schemeClr val="dk1"/>
              </a:solidFill>
              <a:latin typeface="IBM Plex Sans"/>
              <a:ea typeface="IBM Plex Sans"/>
              <a:cs typeface="IBM Plex Sans"/>
              <a:sym typeface="IBM Plex Sans"/>
            </a:endParaRPr>
          </a:p>
        </p:txBody>
      </p:sp>
      <p:sp>
        <p:nvSpPr>
          <p:cNvPr id="235" name="Google Shape;235;p10"/>
          <p:cNvSpPr/>
          <p:nvPr/>
        </p:nvSpPr>
        <p:spPr>
          <a:xfrm>
            <a:off x="815975" y="2727325"/>
            <a:ext cx="5175250" cy="1276350"/>
          </a:xfrm>
          <a:prstGeom prst="roundRect">
            <a:avLst>
              <a:gd fmla="val 7711"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a:off x="1073150" y="2959100"/>
            <a:ext cx="4800727"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Key bindings branch the flow</a:t>
            </a:r>
            <a:endParaRPr b="0" i="0" sz="1600" u="none" cap="none" strike="noStrike">
              <a:solidFill>
                <a:schemeClr val="dk1"/>
              </a:solidFill>
              <a:latin typeface="IBM Plex Sans"/>
              <a:ea typeface="IBM Plex Sans"/>
              <a:cs typeface="IBM Plex Sans"/>
              <a:sym typeface="IBM Plex Sans"/>
            </a:endParaRPr>
          </a:p>
        </p:txBody>
      </p:sp>
      <p:sp>
        <p:nvSpPr>
          <p:cNvPr id="237" name="Google Shape;237;p10"/>
          <p:cNvSpPr/>
          <p:nvPr/>
        </p:nvSpPr>
        <p:spPr>
          <a:xfrm>
            <a:off x="1073150" y="3276600"/>
            <a:ext cx="4800727"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400"/>
              <a:buFont typeface="IBM Plex Sans"/>
              <a:buNone/>
            </a:pPr>
            <a:r>
              <a:rPr b="0" i="0" lang="en-US" sz="1400" u="none" cap="none" strike="noStrike">
                <a:solidFill>
                  <a:srgbClr val="4A505C"/>
                </a:solidFill>
                <a:latin typeface="IBM Plex Sans"/>
                <a:ea typeface="IBM Plex Sans"/>
                <a:cs typeface="IBM Plex Sans"/>
                <a:sym typeface="IBM Plex Sans"/>
              </a:rPr>
              <a:t>A shortcut such as new tab or split pane is a WezTerm action. Any other key is passed on as input to the program.</a:t>
            </a:r>
            <a:endParaRPr b="0" i="0" sz="1400" u="none" cap="none" strike="noStrike">
              <a:solidFill>
                <a:schemeClr val="dk1"/>
              </a:solidFill>
              <a:latin typeface="IBM Plex Sans"/>
              <a:ea typeface="IBM Plex Sans"/>
              <a:cs typeface="IBM Plex Sans"/>
              <a:sym typeface="IBM Plex Sans"/>
            </a:endParaRPr>
          </a:p>
        </p:txBody>
      </p:sp>
      <p:sp>
        <p:nvSpPr>
          <p:cNvPr id="238" name="Google Shape;238;p10"/>
          <p:cNvSpPr/>
          <p:nvPr/>
        </p:nvSpPr>
        <p:spPr>
          <a:xfrm>
            <a:off x="6200775" y="2727325"/>
            <a:ext cx="5175250" cy="1276350"/>
          </a:xfrm>
          <a:prstGeom prst="roundRect">
            <a:avLst>
              <a:gd fmla="val 7711"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6457950" y="2959100"/>
            <a:ext cx="4800727"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The mux is not the GUI</a:t>
            </a:r>
            <a:endParaRPr b="0" i="0" sz="1600" u="none" cap="none" strike="noStrike">
              <a:solidFill>
                <a:schemeClr val="dk1"/>
              </a:solidFill>
              <a:latin typeface="IBM Plex Sans"/>
              <a:ea typeface="IBM Plex Sans"/>
              <a:cs typeface="IBM Plex Sans"/>
              <a:sym typeface="IBM Plex Sans"/>
            </a:endParaRPr>
          </a:p>
        </p:txBody>
      </p:sp>
      <p:sp>
        <p:nvSpPr>
          <p:cNvPr id="240" name="Google Shape;240;p10"/>
          <p:cNvSpPr/>
          <p:nvPr/>
        </p:nvSpPr>
        <p:spPr>
          <a:xfrm>
            <a:off x="6457950" y="3276600"/>
            <a:ext cx="4800727"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400"/>
              <a:buFont typeface="IBM Plex Sans"/>
              <a:buNone/>
            </a:pPr>
            <a:r>
              <a:rPr b="0" i="0" lang="en-US" sz="1400" u="none" cap="none" strike="noStrike">
                <a:solidFill>
                  <a:srgbClr val="4A505C"/>
                </a:solidFill>
                <a:latin typeface="IBM Plex Sans"/>
                <a:ea typeface="IBM Plex Sans"/>
                <a:cs typeface="IBM Plex Sans"/>
                <a:sym typeface="IBM Plex Sans"/>
              </a:rPr>
              <a:t>The mux manages windows, tabs, panes and workspaces, and can exist with no GUI attached.</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245" name="Shape 245"/>
        <p:cNvGrpSpPr/>
        <p:nvPr/>
      </p:nvGrpSpPr>
      <p:grpSpPr>
        <a:xfrm>
          <a:off x="0" y="0"/>
          <a:ext cx="0" cy="0"/>
          <a:chOff x="0" y="0"/>
          <a:chExt cx="0" cy="0"/>
        </a:xfrm>
      </p:grpSpPr>
      <p:sp>
        <p:nvSpPr>
          <p:cNvPr id="246" name="Google Shape;246;p11"/>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DATA FLOW</a:t>
            </a:r>
            <a:endParaRPr b="0" i="0" sz="1200" u="none" cap="none" strike="noStrike">
              <a:solidFill>
                <a:schemeClr val="dk1"/>
              </a:solidFill>
              <a:latin typeface="IBM Plex Sans"/>
              <a:ea typeface="IBM Plex Sans"/>
              <a:cs typeface="IBM Plex Sans"/>
              <a:sym typeface="IBM Plex Sans"/>
            </a:endParaRPr>
          </a:p>
        </p:txBody>
      </p:sp>
      <p:sp>
        <p:nvSpPr>
          <p:cNvPr id="247" name="Google Shape;247;p11"/>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i="0" lang="en-US" sz="2800">
                <a:solidFill>
                  <a:srgbClr val="1B1F27"/>
                </a:solidFill>
                <a:latin typeface="IBM Plex Sans"/>
                <a:ea typeface="IBM Plex Sans"/>
                <a:cs typeface="IBM Plex Sans"/>
                <a:sym typeface="IBM Plex Sans"/>
              </a:rPr>
              <a:t>Input </a:t>
            </a:r>
            <a:r>
              <a:rPr b="1" lang="en-US"/>
              <a:t>g</a:t>
            </a:r>
            <a:r>
              <a:rPr b="1" i="0" lang="en-US" sz="2800">
                <a:solidFill>
                  <a:srgbClr val="1B1F27"/>
                </a:solidFill>
                <a:latin typeface="IBM Plex Sans"/>
                <a:ea typeface="IBM Plex Sans"/>
                <a:cs typeface="IBM Plex Sans"/>
                <a:sym typeface="IBM Plex Sans"/>
              </a:rPr>
              <a:t>oes </a:t>
            </a:r>
            <a:r>
              <a:rPr b="1" lang="en-US"/>
              <a:t>D</a:t>
            </a:r>
            <a:r>
              <a:rPr b="1" i="0" lang="en-US" sz="2800">
                <a:solidFill>
                  <a:srgbClr val="1B1F27"/>
                </a:solidFill>
                <a:latin typeface="IBM Plex Sans"/>
                <a:ea typeface="IBM Plex Sans"/>
                <a:cs typeface="IBM Plex Sans"/>
                <a:sym typeface="IBM Plex Sans"/>
              </a:rPr>
              <a:t>own, </a:t>
            </a:r>
            <a:r>
              <a:rPr b="1" lang="en-US"/>
              <a:t>O</a:t>
            </a:r>
            <a:r>
              <a:rPr b="1" i="0" lang="en-US" sz="2800">
                <a:solidFill>
                  <a:srgbClr val="1B1F27"/>
                </a:solidFill>
                <a:latin typeface="IBM Plex Sans"/>
                <a:ea typeface="IBM Plex Sans"/>
                <a:cs typeface="IBM Plex Sans"/>
                <a:sym typeface="IBM Plex Sans"/>
              </a:rPr>
              <a:t>utput comes </a:t>
            </a:r>
            <a:r>
              <a:rPr b="1" lang="en-US"/>
              <a:t>U</a:t>
            </a:r>
            <a:r>
              <a:rPr b="1" i="0" lang="en-US" sz="2800">
                <a:solidFill>
                  <a:srgbClr val="1B1F27"/>
                </a:solidFill>
                <a:latin typeface="IBM Plex Sans"/>
                <a:ea typeface="IBM Plex Sans"/>
                <a:cs typeface="IBM Plex Sans"/>
                <a:sym typeface="IBM Plex Sans"/>
              </a:rPr>
              <a:t>p</a:t>
            </a:r>
            <a:endParaRPr sz="2800"/>
          </a:p>
        </p:txBody>
      </p:sp>
      <p:sp>
        <p:nvSpPr>
          <p:cNvPr id="248" name="Google Shape;248;p11"/>
          <p:cNvSpPr/>
          <p:nvPr/>
        </p:nvSpPr>
        <p:spPr>
          <a:xfrm>
            <a:off x="812800" y="1790700"/>
            <a:ext cx="10883392" cy="273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400"/>
              <a:buFont typeface="IBM Plex Sans"/>
              <a:buNone/>
            </a:pPr>
            <a:r>
              <a:rPr b="1" i="0" lang="en-US" sz="1400" u="none" cap="none" strike="noStrike">
                <a:solidFill>
                  <a:srgbClr val="B5530F"/>
                </a:solidFill>
                <a:latin typeface="IBM Plex Sans"/>
                <a:ea typeface="IBM Plex Sans"/>
                <a:cs typeface="IBM Plex Sans"/>
                <a:sym typeface="IBM Plex Sans"/>
              </a:rPr>
              <a:t>Input path</a:t>
            </a:r>
            <a:r>
              <a:rPr b="0" i="0" lang="en-US" sz="1400" u="none" cap="none" strike="noStrike">
                <a:solidFill>
                  <a:srgbClr val="1B1F27"/>
                </a:solidFill>
                <a:latin typeface="IBM Plex Sans"/>
                <a:ea typeface="IBM Plex Sans"/>
                <a:cs typeface="IBM Plex Sans"/>
                <a:sym typeface="IBM Plex Sans"/>
              </a:rPr>
              <a:t> — e.g. typing ls</a:t>
            </a:r>
            <a:endParaRPr b="0" i="0" sz="1400" u="none" cap="none" strike="noStrike">
              <a:solidFill>
                <a:schemeClr val="dk1"/>
              </a:solidFill>
              <a:latin typeface="IBM Plex Sans"/>
              <a:ea typeface="IBM Plex Sans"/>
              <a:cs typeface="IBM Plex Sans"/>
              <a:sym typeface="IBM Plex Sans"/>
            </a:endParaRPr>
          </a:p>
        </p:txBody>
      </p:sp>
      <p:sp>
        <p:nvSpPr>
          <p:cNvPr id="249" name="Google Shape;249;p11"/>
          <p:cNvSpPr/>
          <p:nvPr/>
        </p:nvSpPr>
        <p:spPr>
          <a:xfrm>
            <a:off x="819150" y="2171700"/>
            <a:ext cx="1734840"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Keyboard</a:t>
            </a:r>
            <a:endParaRPr b="0" i="0" sz="1400" u="none" cap="none" strike="noStrike">
              <a:solidFill>
                <a:schemeClr val="dk1"/>
              </a:solidFill>
              <a:latin typeface="IBM Plex Sans"/>
              <a:ea typeface="IBM Plex Sans"/>
              <a:cs typeface="IBM Plex Sans"/>
              <a:sym typeface="IBM Plex Sans"/>
            </a:endParaRPr>
          </a:p>
        </p:txBody>
      </p:sp>
      <p:pic>
        <p:nvPicPr>
          <p:cNvPr descr="connector" id="250" name="Google Shape;250;p11"/>
          <p:cNvPicPr preferRelativeResize="0"/>
          <p:nvPr/>
        </p:nvPicPr>
        <p:blipFill rotWithShape="1">
          <a:blip r:embed="rId3">
            <a:alphaModFix/>
          </a:blip>
          <a:srcRect b="0" l="0" r="0" t="0"/>
          <a:stretch/>
        </p:blipFill>
        <p:spPr>
          <a:xfrm>
            <a:off x="2661940" y="2378075"/>
            <a:ext cx="254000" cy="101600"/>
          </a:xfrm>
          <a:prstGeom prst="rect">
            <a:avLst/>
          </a:prstGeom>
          <a:noFill/>
          <a:ln>
            <a:noFill/>
          </a:ln>
        </p:spPr>
      </p:pic>
      <p:sp>
        <p:nvSpPr>
          <p:cNvPr id="251" name="Google Shape;251;p11"/>
          <p:cNvSpPr/>
          <p:nvPr/>
        </p:nvSpPr>
        <p:spPr>
          <a:xfrm>
            <a:off x="3023890" y="2171700"/>
            <a:ext cx="1734840"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WezTerm</a:t>
            </a:r>
            <a:endParaRPr b="0" i="0" sz="1400" u="none" cap="none" strike="noStrike">
              <a:solidFill>
                <a:schemeClr val="dk1"/>
              </a:solidFill>
              <a:latin typeface="IBM Plex Sans"/>
              <a:ea typeface="IBM Plex Sans"/>
              <a:cs typeface="IBM Plex Sans"/>
              <a:sym typeface="IBM Plex Sans"/>
            </a:endParaRPr>
          </a:p>
        </p:txBody>
      </p:sp>
      <p:pic>
        <p:nvPicPr>
          <p:cNvPr descr="connector" id="252" name="Google Shape;252;p11"/>
          <p:cNvPicPr preferRelativeResize="0"/>
          <p:nvPr/>
        </p:nvPicPr>
        <p:blipFill rotWithShape="1">
          <a:blip r:embed="rId3">
            <a:alphaModFix/>
          </a:blip>
          <a:srcRect b="0" l="0" r="0" t="0"/>
          <a:stretch/>
        </p:blipFill>
        <p:spPr>
          <a:xfrm>
            <a:off x="4866680" y="2378075"/>
            <a:ext cx="254000" cy="101600"/>
          </a:xfrm>
          <a:prstGeom prst="rect">
            <a:avLst/>
          </a:prstGeom>
          <a:noFill/>
          <a:ln>
            <a:noFill/>
          </a:ln>
        </p:spPr>
      </p:pic>
      <p:sp>
        <p:nvSpPr>
          <p:cNvPr id="253" name="Google Shape;253;p11"/>
          <p:cNvSpPr/>
          <p:nvPr/>
        </p:nvSpPr>
        <p:spPr>
          <a:xfrm>
            <a:off x="5228630" y="2171700"/>
            <a:ext cx="1734840"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Pane</a:t>
            </a:r>
            <a:endParaRPr b="0" i="0" sz="1400" u="none" cap="none" strike="noStrike">
              <a:solidFill>
                <a:schemeClr val="dk1"/>
              </a:solidFill>
              <a:latin typeface="IBM Plex Sans"/>
              <a:ea typeface="IBM Plex Sans"/>
              <a:cs typeface="IBM Plex Sans"/>
              <a:sym typeface="IBM Plex Sans"/>
            </a:endParaRPr>
          </a:p>
        </p:txBody>
      </p:sp>
      <p:pic>
        <p:nvPicPr>
          <p:cNvPr descr="connector" id="254" name="Google Shape;254;p11"/>
          <p:cNvPicPr preferRelativeResize="0"/>
          <p:nvPr/>
        </p:nvPicPr>
        <p:blipFill rotWithShape="1">
          <a:blip r:embed="rId3">
            <a:alphaModFix/>
          </a:blip>
          <a:srcRect b="0" l="0" r="0" t="0"/>
          <a:stretch/>
        </p:blipFill>
        <p:spPr>
          <a:xfrm>
            <a:off x="7071420" y="2378075"/>
            <a:ext cx="254000" cy="101600"/>
          </a:xfrm>
          <a:prstGeom prst="rect">
            <a:avLst/>
          </a:prstGeom>
          <a:noFill/>
          <a:ln>
            <a:noFill/>
          </a:ln>
        </p:spPr>
      </p:pic>
      <p:sp>
        <p:nvSpPr>
          <p:cNvPr id="255" name="Google Shape;255;p11"/>
          <p:cNvSpPr/>
          <p:nvPr/>
        </p:nvSpPr>
        <p:spPr>
          <a:xfrm>
            <a:off x="7433370" y="2171700"/>
            <a:ext cx="1734840"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PTY</a:t>
            </a:r>
            <a:endParaRPr b="0" i="0" sz="1400" u="none" cap="none" strike="noStrike">
              <a:solidFill>
                <a:schemeClr val="dk1"/>
              </a:solidFill>
              <a:latin typeface="IBM Plex Sans"/>
              <a:ea typeface="IBM Plex Sans"/>
              <a:cs typeface="IBM Plex Sans"/>
              <a:sym typeface="IBM Plex Sans"/>
            </a:endParaRPr>
          </a:p>
        </p:txBody>
      </p:sp>
      <p:pic>
        <p:nvPicPr>
          <p:cNvPr descr="connector" id="256" name="Google Shape;256;p11"/>
          <p:cNvPicPr preferRelativeResize="0"/>
          <p:nvPr/>
        </p:nvPicPr>
        <p:blipFill rotWithShape="1">
          <a:blip r:embed="rId3">
            <a:alphaModFix/>
          </a:blip>
          <a:srcRect b="0" l="0" r="0" t="0"/>
          <a:stretch/>
        </p:blipFill>
        <p:spPr>
          <a:xfrm>
            <a:off x="9276159" y="2378075"/>
            <a:ext cx="254000" cy="101600"/>
          </a:xfrm>
          <a:prstGeom prst="rect">
            <a:avLst/>
          </a:prstGeom>
          <a:noFill/>
          <a:ln>
            <a:noFill/>
          </a:ln>
        </p:spPr>
      </p:pic>
      <p:sp>
        <p:nvSpPr>
          <p:cNvPr id="257" name="Google Shape;257;p11"/>
          <p:cNvSpPr/>
          <p:nvPr/>
        </p:nvSpPr>
        <p:spPr>
          <a:xfrm>
            <a:off x="9638109" y="2171700"/>
            <a:ext cx="1734840" cy="514350"/>
          </a:xfrm>
          <a:prstGeom prst="roundRect">
            <a:avLst>
              <a:gd fmla="val 13580" name="adj"/>
            </a:avLst>
          </a:prstGeom>
          <a:solidFill>
            <a:srgbClr val="FFFDF9"/>
          </a:solidFill>
          <a:ln cap="flat" cmpd="sng" w="12700">
            <a:solidFill>
              <a:srgbClr val="B5530F"/>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Shell / app</a:t>
            </a:r>
            <a:endParaRPr b="0" i="0" sz="1400" u="none" cap="none" strike="noStrike">
              <a:solidFill>
                <a:schemeClr val="dk1"/>
              </a:solidFill>
              <a:latin typeface="IBM Plex Sans"/>
              <a:ea typeface="IBM Plex Sans"/>
              <a:cs typeface="IBM Plex Sans"/>
              <a:sym typeface="IBM Plex Sans"/>
            </a:endParaRPr>
          </a:p>
        </p:txBody>
      </p:sp>
      <p:sp>
        <p:nvSpPr>
          <p:cNvPr id="258" name="Google Shape;258;p11"/>
          <p:cNvSpPr/>
          <p:nvPr/>
        </p:nvSpPr>
        <p:spPr>
          <a:xfrm>
            <a:off x="812800" y="2997200"/>
            <a:ext cx="10883392" cy="273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D5DA1"/>
              </a:buClr>
              <a:buSzPts val="1400"/>
              <a:buFont typeface="IBM Plex Sans"/>
              <a:buNone/>
            </a:pPr>
            <a:r>
              <a:rPr b="1" i="0" lang="en-US" sz="1400" u="none" cap="none" strike="noStrike">
                <a:solidFill>
                  <a:srgbClr val="2D5DA1"/>
                </a:solidFill>
                <a:latin typeface="IBM Plex Sans"/>
                <a:ea typeface="IBM Plex Sans"/>
                <a:cs typeface="IBM Plex Sans"/>
                <a:sym typeface="IBM Plex Sans"/>
              </a:rPr>
              <a:t>Output path</a:t>
            </a:r>
            <a:r>
              <a:rPr b="0" i="0" lang="en-US" sz="1400" u="none" cap="none" strike="noStrike">
                <a:solidFill>
                  <a:srgbClr val="1B1F27"/>
                </a:solidFill>
                <a:latin typeface="IBM Plex Sans"/>
                <a:ea typeface="IBM Plex Sans"/>
                <a:cs typeface="IBM Plex Sans"/>
                <a:sym typeface="IBM Plex Sans"/>
              </a:rPr>
              <a:t> — the result coming back</a:t>
            </a:r>
            <a:endParaRPr b="0" i="0" sz="1400" u="none" cap="none" strike="noStrike">
              <a:solidFill>
                <a:schemeClr val="dk1"/>
              </a:solidFill>
              <a:latin typeface="IBM Plex Sans"/>
              <a:ea typeface="IBM Plex Sans"/>
              <a:cs typeface="IBM Plex Sans"/>
              <a:sym typeface="IBM Plex Sans"/>
            </a:endParaRPr>
          </a:p>
        </p:txBody>
      </p:sp>
      <p:sp>
        <p:nvSpPr>
          <p:cNvPr id="259" name="Google Shape;259;p11"/>
          <p:cNvSpPr/>
          <p:nvPr/>
        </p:nvSpPr>
        <p:spPr>
          <a:xfrm>
            <a:off x="819150" y="3378200"/>
            <a:ext cx="1367334"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Shell / app</a:t>
            </a:r>
            <a:endParaRPr b="0" i="0" sz="1400" u="none" cap="none" strike="noStrike">
              <a:solidFill>
                <a:schemeClr val="dk1"/>
              </a:solidFill>
              <a:latin typeface="IBM Plex Sans"/>
              <a:ea typeface="IBM Plex Sans"/>
              <a:cs typeface="IBM Plex Sans"/>
              <a:sym typeface="IBM Plex Sans"/>
            </a:endParaRPr>
          </a:p>
        </p:txBody>
      </p:sp>
      <p:pic>
        <p:nvPicPr>
          <p:cNvPr descr="connector" id="260" name="Google Shape;260;p11"/>
          <p:cNvPicPr preferRelativeResize="0"/>
          <p:nvPr/>
        </p:nvPicPr>
        <p:blipFill rotWithShape="1">
          <a:blip r:embed="rId4">
            <a:alphaModFix/>
          </a:blip>
          <a:srcRect b="0" l="0" r="0" t="0"/>
          <a:stretch/>
        </p:blipFill>
        <p:spPr>
          <a:xfrm>
            <a:off x="2294434" y="3584575"/>
            <a:ext cx="254000" cy="101600"/>
          </a:xfrm>
          <a:prstGeom prst="rect">
            <a:avLst/>
          </a:prstGeom>
          <a:noFill/>
          <a:ln>
            <a:noFill/>
          </a:ln>
        </p:spPr>
      </p:pic>
      <p:sp>
        <p:nvSpPr>
          <p:cNvPr id="261" name="Google Shape;261;p11"/>
          <p:cNvSpPr/>
          <p:nvPr/>
        </p:nvSpPr>
        <p:spPr>
          <a:xfrm>
            <a:off x="2656384" y="3378200"/>
            <a:ext cx="1367334"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PTY</a:t>
            </a:r>
            <a:endParaRPr b="0" i="0" sz="1400" u="none" cap="none" strike="noStrike">
              <a:solidFill>
                <a:schemeClr val="dk1"/>
              </a:solidFill>
              <a:latin typeface="IBM Plex Sans"/>
              <a:ea typeface="IBM Plex Sans"/>
              <a:cs typeface="IBM Plex Sans"/>
              <a:sym typeface="IBM Plex Sans"/>
            </a:endParaRPr>
          </a:p>
        </p:txBody>
      </p:sp>
      <p:pic>
        <p:nvPicPr>
          <p:cNvPr descr="connector" id="262" name="Google Shape;262;p11"/>
          <p:cNvPicPr preferRelativeResize="0"/>
          <p:nvPr/>
        </p:nvPicPr>
        <p:blipFill rotWithShape="1">
          <a:blip r:embed="rId4">
            <a:alphaModFix/>
          </a:blip>
          <a:srcRect b="0" l="0" r="0" t="0"/>
          <a:stretch/>
        </p:blipFill>
        <p:spPr>
          <a:xfrm>
            <a:off x="4131667" y="3584575"/>
            <a:ext cx="254000" cy="101600"/>
          </a:xfrm>
          <a:prstGeom prst="rect">
            <a:avLst/>
          </a:prstGeom>
          <a:noFill/>
          <a:ln>
            <a:noFill/>
          </a:ln>
        </p:spPr>
      </p:pic>
      <p:sp>
        <p:nvSpPr>
          <p:cNvPr id="263" name="Google Shape;263;p11"/>
          <p:cNvSpPr/>
          <p:nvPr/>
        </p:nvSpPr>
        <p:spPr>
          <a:xfrm>
            <a:off x="4493617" y="3378200"/>
            <a:ext cx="1367334"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Parser</a:t>
            </a:r>
            <a:endParaRPr b="0" i="0" sz="1400" u="none" cap="none" strike="noStrike">
              <a:solidFill>
                <a:schemeClr val="dk1"/>
              </a:solidFill>
              <a:latin typeface="IBM Plex Sans"/>
              <a:ea typeface="IBM Plex Sans"/>
              <a:cs typeface="IBM Plex Sans"/>
              <a:sym typeface="IBM Plex Sans"/>
            </a:endParaRPr>
          </a:p>
        </p:txBody>
      </p:sp>
      <p:pic>
        <p:nvPicPr>
          <p:cNvPr descr="connector" id="264" name="Google Shape;264;p11"/>
          <p:cNvPicPr preferRelativeResize="0"/>
          <p:nvPr/>
        </p:nvPicPr>
        <p:blipFill rotWithShape="1">
          <a:blip r:embed="rId4">
            <a:alphaModFix/>
          </a:blip>
          <a:srcRect b="0" l="0" r="0" t="0"/>
          <a:stretch/>
        </p:blipFill>
        <p:spPr>
          <a:xfrm>
            <a:off x="5968901" y="3584575"/>
            <a:ext cx="254000" cy="101600"/>
          </a:xfrm>
          <a:prstGeom prst="rect">
            <a:avLst/>
          </a:prstGeom>
          <a:noFill/>
          <a:ln>
            <a:noFill/>
          </a:ln>
        </p:spPr>
      </p:pic>
      <p:sp>
        <p:nvSpPr>
          <p:cNvPr id="265" name="Google Shape;265;p11"/>
          <p:cNvSpPr/>
          <p:nvPr/>
        </p:nvSpPr>
        <p:spPr>
          <a:xfrm>
            <a:off x="6330851" y="3378200"/>
            <a:ext cx="1367334"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Screen state</a:t>
            </a:r>
            <a:endParaRPr b="0" i="0" sz="1400" u="none" cap="none" strike="noStrike">
              <a:solidFill>
                <a:schemeClr val="dk1"/>
              </a:solidFill>
              <a:latin typeface="IBM Plex Sans"/>
              <a:ea typeface="IBM Plex Sans"/>
              <a:cs typeface="IBM Plex Sans"/>
              <a:sym typeface="IBM Plex Sans"/>
            </a:endParaRPr>
          </a:p>
        </p:txBody>
      </p:sp>
      <p:pic>
        <p:nvPicPr>
          <p:cNvPr descr="connector" id="266" name="Google Shape;266;p11"/>
          <p:cNvPicPr preferRelativeResize="0"/>
          <p:nvPr/>
        </p:nvPicPr>
        <p:blipFill rotWithShape="1">
          <a:blip r:embed="rId4">
            <a:alphaModFix/>
          </a:blip>
          <a:srcRect b="0" l="0" r="0" t="0"/>
          <a:stretch/>
        </p:blipFill>
        <p:spPr>
          <a:xfrm>
            <a:off x="7806134" y="3584575"/>
            <a:ext cx="254000" cy="101600"/>
          </a:xfrm>
          <a:prstGeom prst="rect">
            <a:avLst/>
          </a:prstGeom>
          <a:noFill/>
          <a:ln>
            <a:noFill/>
          </a:ln>
        </p:spPr>
      </p:pic>
      <p:sp>
        <p:nvSpPr>
          <p:cNvPr id="267" name="Google Shape;267;p11"/>
          <p:cNvSpPr/>
          <p:nvPr/>
        </p:nvSpPr>
        <p:spPr>
          <a:xfrm>
            <a:off x="8168084" y="3378200"/>
            <a:ext cx="1367334"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Renderer</a:t>
            </a:r>
            <a:endParaRPr b="0" i="0" sz="1400" u="none" cap="none" strike="noStrike">
              <a:solidFill>
                <a:schemeClr val="dk1"/>
              </a:solidFill>
              <a:latin typeface="IBM Plex Sans"/>
              <a:ea typeface="IBM Plex Sans"/>
              <a:cs typeface="IBM Plex Sans"/>
              <a:sym typeface="IBM Plex Sans"/>
            </a:endParaRPr>
          </a:p>
        </p:txBody>
      </p:sp>
      <p:pic>
        <p:nvPicPr>
          <p:cNvPr descr="connector" id="268" name="Google Shape;268;p11"/>
          <p:cNvPicPr preferRelativeResize="0"/>
          <p:nvPr/>
        </p:nvPicPr>
        <p:blipFill rotWithShape="1">
          <a:blip r:embed="rId4">
            <a:alphaModFix/>
          </a:blip>
          <a:srcRect b="0" l="0" r="0" t="0"/>
          <a:stretch/>
        </p:blipFill>
        <p:spPr>
          <a:xfrm>
            <a:off x="9643368" y="3584575"/>
            <a:ext cx="254000" cy="101600"/>
          </a:xfrm>
          <a:prstGeom prst="rect">
            <a:avLst/>
          </a:prstGeom>
          <a:noFill/>
          <a:ln>
            <a:noFill/>
          </a:ln>
        </p:spPr>
      </p:pic>
      <p:sp>
        <p:nvSpPr>
          <p:cNvPr id="269" name="Google Shape;269;p11"/>
          <p:cNvSpPr/>
          <p:nvPr/>
        </p:nvSpPr>
        <p:spPr>
          <a:xfrm>
            <a:off x="10005318" y="3378200"/>
            <a:ext cx="1367334"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User</a:t>
            </a:r>
            <a:endParaRPr b="0" i="0" sz="1400" u="none" cap="none" strike="noStrike">
              <a:solidFill>
                <a:schemeClr val="dk1"/>
              </a:solidFill>
              <a:latin typeface="IBM Plex Sans"/>
              <a:ea typeface="IBM Plex Sans"/>
              <a:cs typeface="IBM Plex Sans"/>
              <a:sym typeface="IBM Plex Sans"/>
            </a:endParaRPr>
          </a:p>
        </p:txBody>
      </p:sp>
      <p:sp>
        <p:nvSpPr>
          <p:cNvPr id="270" name="Google Shape;270;p11"/>
          <p:cNvSpPr/>
          <p:nvPr/>
        </p:nvSpPr>
        <p:spPr>
          <a:xfrm>
            <a:off x="812800" y="4203700"/>
            <a:ext cx="5337048" cy="444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1" i="0" lang="en-US" sz="1200" u="none" cap="none" strike="noStrike">
                <a:solidFill>
                  <a:srgbClr val="4A505C"/>
                </a:solidFill>
                <a:latin typeface="IBM Plex Sans"/>
                <a:ea typeface="IBM Plex Sans"/>
                <a:cs typeface="IBM Plex Sans"/>
                <a:sym typeface="IBM Plex Sans"/>
              </a:rPr>
              <a:t>Not just text:</a:t>
            </a:r>
            <a:r>
              <a:rPr b="0" i="0" lang="en-US" sz="1200" u="none" cap="none" strike="noStrike">
                <a:solidFill>
                  <a:srgbClr val="4A505C"/>
                </a:solidFill>
                <a:latin typeface="IBM Plex Sans"/>
                <a:ea typeface="IBM Plex Sans"/>
                <a:cs typeface="IBM Plex Sans"/>
                <a:sym typeface="IBM Plex Sans"/>
              </a:rPr>
              <a:t> output carries escape sequences that change colours, move the cursor or set formatting, so WezTerm interprets it before drawing.</a:t>
            </a:r>
            <a:endParaRPr b="0" i="0" sz="1200" u="none" cap="none" strike="noStrike">
              <a:solidFill>
                <a:schemeClr val="dk1"/>
              </a:solidFill>
              <a:latin typeface="IBM Plex Sans"/>
              <a:ea typeface="IBM Plex Sans"/>
              <a:cs typeface="IBM Plex Sans"/>
              <a:sym typeface="IBM Plex Sans"/>
            </a:endParaRPr>
          </a:p>
        </p:txBody>
      </p:sp>
      <p:sp>
        <p:nvSpPr>
          <p:cNvPr id="271" name="Google Shape;271;p11"/>
          <p:cNvSpPr/>
          <p:nvPr/>
        </p:nvSpPr>
        <p:spPr>
          <a:xfrm>
            <a:off x="6197600" y="4203700"/>
            <a:ext cx="5337048" cy="444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1" i="0" lang="en-US" sz="1200" u="none" cap="none" strike="noStrike">
                <a:solidFill>
                  <a:srgbClr val="4A505C"/>
                </a:solidFill>
                <a:latin typeface="IBM Plex Sans"/>
                <a:ea typeface="IBM Plex Sans"/>
                <a:cs typeface="IBM Plex Sans"/>
                <a:sym typeface="IBM Plex Sans"/>
              </a:rPr>
              <a:t>Shell integration:</a:t>
            </a:r>
            <a:r>
              <a:rPr b="0" i="0" lang="en-US" sz="1200" u="none" cap="none" strike="noStrike">
                <a:solidFill>
                  <a:srgbClr val="4A505C"/>
                </a:solidFill>
                <a:latin typeface="IBM Plex Sans"/>
                <a:ea typeface="IBM Plex Sans"/>
                <a:cs typeface="IBM Plex Sans"/>
                <a:sym typeface="IBM Plex Sans"/>
              </a:rPr>
              <a:t> the shell can report the working directory and prompt positions, used to open panes in place and jump through output.</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276" name="Shape 276"/>
        <p:cNvGrpSpPr/>
        <p:nvPr/>
      </p:nvGrpSpPr>
      <p:grpSpPr>
        <a:xfrm>
          <a:off x="0" y="0"/>
          <a:ext cx="0" cy="0"/>
          <a:chOff x="0" y="0"/>
          <a:chExt cx="0" cy="0"/>
        </a:xfrm>
      </p:grpSpPr>
      <p:sp>
        <p:nvSpPr>
          <p:cNvPr id="277" name="Google Shape;277;p12"/>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CONCURRENCY</a:t>
            </a:r>
            <a:endParaRPr b="0" i="0" sz="1200" u="none" cap="none" strike="noStrike">
              <a:solidFill>
                <a:schemeClr val="dk1"/>
              </a:solidFill>
              <a:latin typeface="IBM Plex Sans"/>
              <a:ea typeface="IBM Plex Sans"/>
              <a:cs typeface="IBM Plex Sans"/>
              <a:sym typeface="IBM Plex Sans"/>
            </a:endParaRPr>
          </a:p>
        </p:txBody>
      </p:sp>
      <p:sp>
        <p:nvSpPr>
          <p:cNvPr id="278" name="Google Shape;278;p12"/>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lang="en-US"/>
              <a:t>Parallel</a:t>
            </a:r>
            <a:r>
              <a:rPr b="1" lang="en-US"/>
              <a:t> Output Processing</a:t>
            </a:r>
            <a:endParaRPr sz="2800"/>
          </a:p>
        </p:txBody>
      </p:sp>
      <p:sp>
        <p:nvSpPr>
          <p:cNvPr id="279" name="Google Shape;279;p12"/>
          <p:cNvSpPr/>
          <p:nvPr/>
        </p:nvSpPr>
        <p:spPr>
          <a:xfrm>
            <a:off x="812800" y="1803400"/>
            <a:ext cx="1727200" cy="501650"/>
          </a:xfrm>
          <a:prstGeom prst="roundRect">
            <a:avLst>
              <a:gd fmla="val 15190" name="adj"/>
            </a:avLst>
          </a:prstGeom>
          <a:solidFill>
            <a:srgbClr val="15181E"/>
          </a:solidFill>
          <a:ln>
            <a:noFill/>
          </a:ln>
        </p:spPr>
        <p:txBody>
          <a:bodyPr anchorCtr="0" anchor="t" bIns="79275" lIns="28475" spcFirstLastPara="1" rIns="28475" wrap="square" tIns="104675">
            <a:normAutofit/>
          </a:bodyPr>
          <a:lstStyle/>
          <a:p>
            <a:pPr indent="0" lvl="0" marL="0" marR="0" rtl="0" algn="ctr">
              <a:lnSpc>
                <a:spcPct val="14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PTY</a:t>
            </a:r>
            <a:endParaRPr b="0" i="0" sz="1400" u="none" cap="none" strike="noStrike">
              <a:solidFill>
                <a:schemeClr val="dk1"/>
              </a:solidFill>
              <a:latin typeface="IBM Plex Sans"/>
              <a:ea typeface="IBM Plex Sans"/>
              <a:cs typeface="IBM Plex Sans"/>
              <a:sym typeface="IBM Plex Sans"/>
            </a:endParaRPr>
          </a:p>
        </p:txBody>
      </p:sp>
      <p:pic>
        <p:nvPicPr>
          <p:cNvPr descr="connector" id="280" name="Google Shape;280;p12"/>
          <p:cNvPicPr preferRelativeResize="0"/>
          <p:nvPr/>
        </p:nvPicPr>
        <p:blipFill rotWithShape="1">
          <a:blip r:embed="rId3">
            <a:alphaModFix/>
          </a:blip>
          <a:srcRect b="0" l="0" r="0" t="0"/>
          <a:stretch/>
        </p:blipFill>
        <p:spPr>
          <a:xfrm>
            <a:off x="2641600" y="2003425"/>
            <a:ext cx="254000" cy="101600"/>
          </a:xfrm>
          <a:prstGeom prst="rect">
            <a:avLst/>
          </a:prstGeom>
          <a:noFill/>
          <a:ln>
            <a:noFill/>
          </a:ln>
        </p:spPr>
      </p:pic>
      <p:sp>
        <p:nvSpPr>
          <p:cNvPr id="281" name="Google Shape;281;p12"/>
          <p:cNvSpPr/>
          <p:nvPr/>
        </p:nvSpPr>
        <p:spPr>
          <a:xfrm>
            <a:off x="3003550" y="1797050"/>
            <a:ext cx="1739900"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Reader thread</a:t>
            </a:r>
            <a:endParaRPr b="0" i="0" sz="1400" u="none" cap="none" strike="noStrike">
              <a:solidFill>
                <a:schemeClr val="dk1"/>
              </a:solidFill>
              <a:latin typeface="IBM Plex Sans"/>
              <a:ea typeface="IBM Plex Sans"/>
              <a:cs typeface="IBM Plex Sans"/>
              <a:sym typeface="IBM Plex Sans"/>
            </a:endParaRPr>
          </a:p>
        </p:txBody>
      </p:sp>
      <p:pic>
        <p:nvPicPr>
          <p:cNvPr descr="connector" id="282" name="Google Shape;282;p12"/>
          <p:cNvPicPr preferRelativeResize="0"/>
          <p:nvPr/>
        </p:nvPicPr>
        <p:blipFill rotWithShape="1">
          <a:blip r:embed="rId3">
            <a:alphaModFix/>
          </a:blip>
          <a:srcRect b="0" l="0" r="0" t="0"/>
          <a:stretch/>
        </p:blipFill>
        <p:spPr>
          <a:xfrm>
            <a:off x="4851400" y="2003425"/>
            <a:ext cx="254000" cy="101600"/>
          </a:xfrm>
          <a:prstGeom prst="rect">
            <a:avLst/>
          </a:prstGeom>
          <a:noFill/>
          <a:ln>
            <a:noFill/>
          </a:ln>
        </p:spPr>
      </p:pic>
      <p:sp>
        <p:nvSpPr>
          <p:cNvPr id="283" name="Google Shape;283;p12"/>
          <p:cNvSpPr/>
          <p:nvPr/>
        </p:nvSpPr>
        <p:spPr>
          <a:xfrm>
            <a:off x="5213350" y="1797050"/>
            <a:ext cx="1739900"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Parser thread</a:t>
            </a:r>
            <a:endParaRPr b="0" i="0" sz="1400" u="none" cap="none" strike="noStrike">
              <a:solidFill>
                <a:schemeClr val="dk1"/>
              </a:solidFill>
              <a:latin typeface="IBM Plex Sans"/>
              <a:ea typeface="IBM Plex Sans"/>
              <a:cs typeface="IBM Plex Sans"/>
              <a:sym typeface="IBM Plex Sans"/>
            </a:endParaRPr>
          </a:p>
        </p:txBody>
      </p:sp>
      <p:pic>
        <p:nvPicPr>
          <p:cNvPr descr="connector" id="284" name="Google Shape;284;p12"/>
          <p:cNvPicPr preferRelativeResize="0"/>
          <p:nvPr/>
        </p:nvPicPr>
        <p:blipFill rotWithShape="1">
          <a:blip r:embed="rId3">
            <a:alphaModFix/>
          </a:blip>
          <a:srcRect b="0" l="0" r="0" t="0"/>
          <a:stretch/>
        </p:blipFill>
        <p:spPr>
          <a:xfrm>
            <a:off x="7061200" y="2003425"/>
            <a:ext cx="254000" cy="101600"/>
          </a:xfrm>
          <a:prstGeom prst="rect">
            <a:avLst/>
          </a:prstGeom>
          <a:noFill/>
          <a:ln>
            <a:noFill/>
          </a:ln>
        </p:spPr>
      </p:pic>
      <p:sp>
        <p:nvSpPr>
          <p:cNvPr id="285" name="Google Shape;285;p12"/>
          <p:cNvSpPr/>
          <p:nvPr/>
        </p:nvSpPr>
        <p:spPr>
          <a:xfrm>
            <a:off x="7423150" y="1797050"/>
            <a:ext cx="1739900"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Pane state</a:t>
            </a:r>
            <a:endParaRPr b="0" i="0" sz="1400" u="none" cap="none" strike="noStrike">
              <a:solidFill>
                <a:schemeClr val="dk1"/>
              </a:solidFill>
              <a:latin typeface="IBM Plex Sans"/>
              <a:ea typeface="IBM Plex Sans"/>
              <a:cs typeface="IBM Plex Sans"/>
              <a:sym typeface="IBM Plex Sans"/>
            </a:endParaRPr>
          </a:p>
        </p:txBody>
      </p:sp>
      <p:pic>
        <p:nvPicPr>
          <p:cNvPr descr="connector" id="286" name="Google Shape;286;p12"/>
          <p:cNvPicPr preferRelativeResize="0"/>
          <p:nvPr/>
        </p:nvPicPr>
        <p:blipFill rotWithShape="1">
          <a:blip r:embed="rId3">
            <a:alphaModFix/>
          </a:blip>
          <a:srcRect b="0" l="0" r="0" t="0"/>
          <a:stretch/>
        </p:blipFill>
        <p:spPr>
          <a:xfrm>
            <a:off x="9271000" y="2003425"/>
            <a:ext cx="254000" cy="101600"/>
          </a:xfrm>
          <a:prstGeom prst="rect">
            <a:avLst/>
          </a:prstGeom>
          <a:noFill/>
          <a:ln>
            <a:noFill/>
          </a:ln>
        </p:spPr>
      </p:pic>
      <p:sp>
        <p:nvSpPr>
          <p:cNvPr id="287" name="Google Shape;287;p12"/>
          <p:cNvSpPr/>
          <p:nvPr/>
        </p:nvSpPr>
        <p:spPr>
          <a:xfrm>
            <a:off x="9632950" y="1797050"/>
            <a:ext cx="1739900" cy="514350"/>
          </a:xfrm>
          <a:prstGeom prst="roundRect">
            <a:avLst>
              <a:gd fmla="val 13580" name="adj"/>
            </a:avLst>
          </a:prstGeom>
          <a:solidFill>
            <a:srgbClr val="FFFDF9"/>
          </a:solidFill>
          <a:ln cap="flat" cmpd="sng" w="12700">
            <a:solidFill>
              <a:srgbClr val="2D5DA1"/>
            </a:solidFill>
            <a:prstDash val="solid"/>
            <a:round/>
            <a:headEnd len="sm" w="sm" type="none"/>
            <a:tailEnd len="sm" w="sm" type="none"/>
          </a:ln>
        </p:spPr>
        <p:txBody>
          <a:bodyPr anchorCtr="0" anchor="t" bIns="87475" lIns="36675" spcFirstLastPara="1" rIns="36675" wrap="square" tIns="112875">
            <a:normAutofit/>
          </a:bodyPr>
          <a:lstStyle/>
          <a:p>
            <a:pPr indent="0" lvl="0" marL="0" marR="0" rtl="0" algn="ctr">
              <a:lnSpc>
                <a:spcPct val="140000"/>
              </a:lnSpc>
              <a:spcBef>
                <a:spcPts val="0"/>
              </a:spcBef>
              <a:spcAft>
                <a:spcPts val="0"/>
              </a:spcAft>
              <a:buClr>
                <a:srgbClr val="1B1F27"/>
              </a:buClr>
              <a:buSzPts val="1400"/>
              <a:buFont typeface="IBM Plex Sans"/>
              <a:buNone/>
            </a:pPr>
            <a:r>
              <a:rPr b="1" i="0" lang="en-US" sz="1400" u="none" cap="none" strike="noStrike">
                <a:solidFill>
                  <a:srgbClr val="1B1F27"/>
                </a:solidFill>
                <a:latin typeface="IBM Plex Sans"/>
                <a:ea typeface="IBM Plex Sans"/>
                <a:cs typeface="IBM Plex Sans"/>
                <a:sym typeface="IBM Plex Sans"/>
              </a:rPr>
              <a:t>Notify GUI</a:t>
            </a:r>
            <a:endParaRPr b="0" i="0" sz="1400" u="none" cap="none" strike="noStrike">
              <a:solidFill>
                <a:schemeClr val="dk1"/>
              </a:solidFill>
              <a:latin typeface="IBM Plex Sans"/>
              <a:ea typeface="IBM Plex Sans"/>
              <a:cs typeface="IBM Plex Sans"/>
              <a:sym typeface="IBM Plex Sans"/>
            </a:endParaRPr>
          </a:p>
        </p:txBody>
      </p:sp>
      <p:sp>
        <p:nvSpPr>
          <p:cNvPr id="288" name="Google Shape;288;p12"/>
          <p:cNvSpPr/>
          <p:nvPr/>
        </p:nvSpPr>
        <p:spPr>
          <a:xfrm>
            <a:off x="815975" y="2625725"/>
            <a:ext cx="3380284" cy="1409700"/>
          </a:xfrm>
          <a:prstGeom prst="roundRect">
            <a:avLst>
              <a:gd fmla="val 6982"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1047750" y="2857500"/>
            <a:ext cx="3004236"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Many sessions</a:t>
            </a:r>
            <a:endParaRPr b="0" i="0" sz="1600" u="none" cap="none" strike="noStrike">
              <a:solidFill>
                <a:schemeClr val="dk1"/>
              </a:solidFill>
              <a:latin typeface="IBM Plex Sans"/>
              <a:ea typeface="IBM Plex Sans"/>
              <a:cs typeface="IBM Plex Sans"/>
              <a:sym typeface="IBM Plex Sans"/>
            </a:endParaRPr>
          </a:p>
        </p:txBody>
      </p:sp>
      <p:sp>
        <p:nvSpPr>
          <p:cNvPr id="290" name="Google Shape;290;p12"/>
          <p:cNvSpPr/>
          <p:nvPr/>
        </p:nvSpPr>
        <p:spPr>
          <a:xfrm>
            <a:off x="1047750" y="3175000"/>
            <a:ext cx="3004236" cy="654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Python in one pane, git in another. Each stream stays with its own pane and in order; shared mux data is synchronised.</a:t>
            </a:r>
            <a:endParaRPr b="0" i="0" sz="1200" u="none" cap="none" strike="noStrike">
              <a:solidFill>
                <a:schemeClr val="dk1"/>
              </a:solidFill>
              <a:latin typeface="IBM Plex Sans"/>
              <a:ea typeface="IBM Plex Sans"/>
              <a:cs typeface="IBM Plex Sans"/>
              <a:sym typeface="IBM Plex Sans"/>
            </a:endParaRPr>
          </a:p>
        </p:txBody>
      </p:sp>
      <p:sp>
        <p:nvSpPr>
          <p:cNvPr id="291" name="Google Shape;291;p12"/>
          <p:cNvSpPr/>
          <p:nvPr/>
        </p:nvSpPr>
        <p:spPr>
          <a:xfrm>
            <a:off x="4405809" y="2625725"/>
            <a:ext cx="3380284" cy="1409700"/>
          </a:xfrm>
          <a:prstGeom prst="roundRect">
            <a:avLst>
              <a:gd fmla="val 6982"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
          <p:cNvSpPr/>
          <p:nvPr/>
        </p:nvSpPr>
        <p:spPr>
          <a:xfrm>
            <a:off x="4637584" y="2857500"/>
            <a:ext cx="3004236"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Separate processes</a:t>
            </a:r>
            <a:endParaRPr b="0" i="0" sz="1600" u="none" cap="none" strike="noStrike">
              <a:solidFill>
                <a:schemeClr val="dk1"/>
              </a:solidFill>
              <a:latin typeface="IBM Plex Sans"/>
              <a:ea typeface="IBM Plex Sans"/>
              <a:cs typeface="IBM Plex Sans"/>
              <a:sym typeface="IBM Plex Sans"/>
            </a:endParaRPr>
          </a:p>
        </p:txBody>
      </p:sp>
      <p:sp>
        <p:nvSpPr>
          <p:cNvPr id="293" name="Google Shape;293;p12"/>
          <p:cNvSpPr/>
          <p:nvPr/>
        </p:nvSpPr>
        <p:spPr>
          <a:xfrm>
            <a:off x="4637584" y="3175000"/>
            <a:ext cx="3004236" cy="654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The GUI and a mux server can be different processes, even on different machines, linked by Unix socket, SSH or TLS.</a:t>
            </a:r>
            <a:endParaRPr b="0" i="0" sz="1200" u="none" cap="none" strike="noStrike">
              <a:solidFill>
                <a:schemeClr val="dk1"/>
              </a:solidFill>
              <a:latin typeface="IBM Plex Sans"/>
              <a:ea typeface="IBM Plex Sans"/>
              <a:cs typeface="IBM Plex Sans"/>
              <a:sym typeface="IBM Plex Sans"/>
            </a:endParaRPr>
          </a:p>
        </p:txBody>
      </p:sp>
      <p:sp>
        <p:nvSpPr>
          <p:cNvPr id="294" name="Google Shape;294;p12"/>
          <p:cNvSpPr/>
          <p:nvPr/>
        </p:nvSpPr>
        <p:spPr>
          <a:xfrm>
            <a:off x="7995642" y="2625725"/>
            <a:ext cx="3380383" cy="1409700"/>
          </a:xfrm>
          <a:prstGeom prst="roundRect">
            <a:avLst>
              <a:gd fmla="val 6982"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2"/>
          <p:cNvSpPr/>
          <p:nvPr/>
        </p:nvSpPr>
        <p:spPr>
          <a:xfrm>
            <a:off x="8227417" y="2857500"/>
            <a:ext cx="3004338"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Lua states</a:t>
            </a:r>
            <a:endParaRPr b="0" i="0" sz="1600" u="none" cap="none" strike="noStrike">
              <a:solidFill>
                <a:schemeClr val="dk1"/>
              </a:solidFill>
              <a:latin typeface="IBM Plex Sans"/>
              <a:ea typeface="IBM Plex Sans"/>
              <a:cs typeface="IBM Plex Sans"/>
              <a:sym typeface="IBM Plex Sans"/>
            </a:endParaRPr>
          </a:p>
        </p:txBody>
      </p:sp>
      <p:sp>
        <p:nvSpPr>
          <p:cNvPr id="296" name="Google Shape;296;p12"/>
          <p:cNvSpPr/>
          <p:nvPr/>
        </p:nvSpPr>
        <p:spPr>
          <a:xfrm>
            <a:off x="8227417" y="3175000"/>
            <a:ext cx="3004338" cy="654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Callbacks may run in different Lua states, so globals aren't shared. Config can be evaluated more than once.</a:t>
            </a:r>
            <a:endParaRPr b="0" i="0" sz="1200" u="none" cap="none" strike="noStrike">
              <a:solidFill>
                <a:schemeClr val="dk1"/>
              </a:solidFill>
              <a:latin typeface="IBM Plex Sans"/>
              <a:ea typeface="IBM Plex Sans"/>
              <a:cs typeface="IBM Plex Sans"/>
              <a:sym typeface="IBM Plex Sans"/>
            </a:endParaRPr>
          </a:p>
        </p:txBody>
      </p:sp>
      <p:cxnSp>
        <p:nvCxnSpPr>
          <p:cNvPr id="297" name="Google Shape;297;p12"/>
          <p:cNvCxnSpPr/>
          <p:nvPr/>
        </p:nvCxnSpPr>
        <p:spPr>
          <a:xfrm>
            <a:off x="831850" y="5695950"/>
            <a:ext cx="0" cy="349250"/>
          </a:xfrm>
          <a:prstGeom prst="straightConnector1">
            <a:avLst/>
          </a:prstGeom>
          <a:noFill/>
          <a:ln cap="flat" cmpd="sng" w="38100">
            <a:solidFill>
              <a:srgbClr val="B5530F"/>
            </a:solidFill>
            <a:prstDash val="solid"/>
            <a:round/>
            <a:headEnd len="sm" w="sm" type="none"/>
            <a:tailEnd len="sm" w="sm" type="none"/>
          </a:ln>
        </p:spPr>
      </p:cxnSp>
      <p:sp>
        <p:nvSpPr>
          <p:cNvPr id="298" name="Google Shape;298;p12"/>
          <p:cNvSpPr/>
          <p:nvPr/>
        </p:nvSpPr>
        <p:spPr>
          <a:xfrm>
            <a:off x="1054100" y="5746750"/>
            <a:ext cx="10634853" cy="273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1F27"/>
              </a:buClr>
              <a:buSzPts val="1400"/>
              <a:buFont typeface="IBM Plex Sans"/>
              <a:buNone/>
            </a:pPr>
            <a:r>
              <a:rPr b="0" i="0" lang="en-US" sz="1400" u="none" cap="none" strike="noStrike">
                <a:solidFill>
                  <a:srgbClr val="1B1F27"/>
                </a:solidFill>
                <a:latin typeface="IBM Plex Sans"/>
                <a:ea typeface="IBM Plex Sans"/>
                <a:cs typeface="IBM Plex Sans"/>
                <a:sym typeface="IBM Plex Sans"/>
              </a:rPr>
              <a:t>A slow program waiting to print doesn't block the user in another pane. This helps responsiveness but doesn't guarantee it.</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303" name="Shape 303"/>
        <p:cNvGrpSpPr/>
        <p:nvPr/>
      </p:nvGrpSpPr>
      <p:grpSpPr>
        <a:xfrm>
          <a:off x="0" y="0"/>
          <a:ext cx="0" cy="0"/>
          <a:chOff x="0" y="0"/>
          <a:chExt cx="0" cy="0"/>
        </a:xfrm>
      </p:grpSpPr>
      <p:sp>
        <p:nvSpPr>
          <p:cNvPr id="304" name="Google Shape;304;p13"/>
          <p:cNvSpPr/>
          <p:nvPr/>
        </p:nvSpPr>
        <p:spPr>
          <a:xfrm>
            <a:off x="812800" y="812800"/>
            <a:ext cx="719455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SEQUENCE  DIAGRAM  1</a:t>
            </a:r>
            <a:endParaRPr b="0" i="0" sz="1200" u="none" cap="none" strike="noStrike">
              <a:solidFill>
                <a:schemeClr val="dk1"/>
              </a:solidFill>
              <a:latin typeface="IBM Plex Sans"/>
              <a:ea typeface="IBM Plex Sans"/>
              <a:cs typeface="IBM Plex Sans"/>
              <a:sym typeface="IBM Plex Sans"/>
            </a:endParaRPr>
          </a:p>
        </p:txBody>
      </p:sp>
      <p:sp>
        <p:nvSpPr>
          <p:cNvPr id="305" name="Google Shape;305;p13"/>
          <p:cNvSpPr txBox="1"/>
          <p:nvPr>
            <p:ph type="title"/>
          </p:nvPr>
        </p:nvSpPr>
        <p:spPr>
          <a:xfrm>
            <a:off x="812800" y="1073150"/>
            <a:ext cx="7194550"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i="0" lang="en-US" sz="2800">
                <a:solidFill>
                  <a:srgbClr val="1B1F27"/>
                </a:solidFill>
                <a:latin typeface="IBM Plex Sans"/>
                <a:ea typeface="IBM Plex Sans"/>
                <a:cs typeface="IBM Plex Sans"/>
                <a:sym typeface="IBM Plex Sans"/>
              </a:rPr>
              <a:t>Running a </a:t>
            </a:r>
            <a:r>
              <a:rPr b="1" lang="en-US"/>
              <a:t>C</a:t>
            </a:r>
            <a:r>
              <a:rPr b="1" i="0" lang="en-US" sz="2800">
                <a:solidFill>
                  <a:srgbClr val="1B1F27"/>
                </a:solidFill>
                <a:latin typeface="IBM Plex Sans"/>
                <a:ea typeface="IBM Plex Sans"/>
                <a:cs typeface="IBM Plex Sans"/>
                <a:sym typeface="IBM Plex Sans"/>
              </a:rPr>
              <a:t>ommand: ls</a:t>
            </a:r>
            <a:endParaRPr sz="2800"/>
          </a:p>
        </p:txBody>
      </p:sp>
      <p:sp>
        <p:nvSpPr>
          <p:cNvPr id="306" name="Google Shape;306;p13"/>
          <p:cNvSpPr/>
          <p:nvPr/>
        </p:nvSpPr>
        <p:spPr>
          <a:xfrm>
            <a:off x="8108950" y="1181100"/>
            <a:ext cx="327025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B5530F"/>
              </a:buClr>
              <a:buSzPts val="1200"/>
              <a:buFont typeface="IBM Plex Sans"/>
              <a:buNone/>
            </a:pPr>
            <a:r>
              <a:rPr b="1" i="0" lang="en-US" sz="1200" u="none" cap="none" strike="noStrike">
                <a:solidFill>
                  <a:srgbClr val="B5530F"/>
                </a:solidFill>
                <a:latin typeface="IBM Plex Sans"/>
                <a:ea typeface="IBM Plex Sans"/>
                <a:cs typeface="IBM Plex Sans"/>
                <a:sym typeface="IBM Plex Sans"/>
              </a:rPr>
              <a:t>━ input</a:t>
            </a:r>
            <a:r>
              <a:rPr b="0" i="0" lang="en-US" sz="1200" u="none" cap="none" strike="noStrike">
                <a:solidFill>
                  <a:srgbClr val="4A505C"/>
                </a:solidFill>
                <a:latin typeface="IBM Plex Sans"/>
                <a:ea typeface="IBM Plex Sans"/>
                <a:cs typeface="IBM Plex Sans"/>
                <a:sym typeface="IBM Plex Sans"/>
              </a:rPr>
              <a:t> </a:t>
            </a:r>
            <a:r>
              <a:rPr b="1" i="0" lang="en-US" sz="1200" u="none" cap="none" strike="noStrike">
                <a:solidFill>
                  <a:srgbClr val="2D5DA1"/>
                </a:solidFill>
                <a:latin typeface="IBM Plex Sans"/>
                <a:ea typeface="IBM Plex Sans"/>
                <a:cs typeface="IBM Plex Sans"/>
                <a:sym typeface="IBM Plex Sans"/>
              </a:rPr>
              <a:t>━ output</a:t>
            </a:r>
            <a:endParaRPr b="0" i="0" sz="1200" u="none" cap="none" strike="noStrike">
              <a:solidFill>
                <a:schemeClr val="dk1"/>
              </a:solidFill>
              <a:latin typeface="IBM Plex Sans"/>
              <a:ea typeface="IBM Plex Sans"/>
              <a:cs typeface="IBM Plex Sans"/>
              <a:sym typeface="IBM Plex Sans"/>
            </a:endParaRPr>
          </a:p>
        </p:txBody>
      </p:sp>
      <p:sp>
        <p:nvSpPr>
          <p:cNvPr id="307" name="Google Shape;307;p13"/>
          <p:cNvSpPr/>
          <p:nvPr/>
        </p:nvSpPr>
        <p:spPr>
          <a:xfrm>
            <a:off x="933450" y="1663700"/>
            <a:ext cx="1270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958850" y="1765300"/>
            <a:ext cx="1219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User</a:t>
            </a:r>
            <a:endParaRPr b="0" i="0" sz="1400" u="none" cap="none" strike="noStrike">
              <a:solidFill>
                <a:schemeClr val="dk1"/>
              </a:solidFill>
              <a:latin typeface="IBM Plex Sans"/>
              <a:ea typeface="IBM Plex Sans"/>
              <a:cs typeface="IBM Plex Sans"/>
              <a:sym typeface="IBM Plex Sans"/>
            </a:endParaRPr>
          </a:p>
        </p:txBody>
      </p:sp>
      <p:sp>
        <p:nvSpPr>
          <p:cNvPr id="309" name="Google Shape;309;p13"/>
          <p:cNvSpPr/>
          <p:nvPr/>
        </p:nvSpPr>
        <p:spPr>
          <a:xfrm>
            <a:off x="2444750" y="1663700"/>
            <a:ext cx="1270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
          <p:cNvSpPr/>
          <p:nvPr/>
        </p:nvSpPr>
        <p:spPr>
          <a:xfrm>
            <a:off x="2470150" y="1765300"/>
            <a:ext cx="1219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GUI</a:t>
            </a:r>
            <a:endParaRPr b="0" i="0" sz="1400" u="none" cap="none" strike="noStrike">
              <a:solidFill>
                <a:schemeClr val="dk1"/>
              </a:solidFill>
              <a:latin typeface="IBM Plex Sans"/>
              <a:ea typeface="IBM Plex Sans"/>
              <a:cs typeface="IBM Plex Sans"/>
              <a:sym typeface="IBM Plex Sans"/>
            </a:endParaRPr>
          </a:p>
        </p:txBody>
      </p:sp>
      <p:sp>
        <p:nvSpPr>
          <p:cNvPr id="311" name="Google Shape;311;p13"/>
          <p:cNvSpPr/>
          <p:nvPr/>
        </p:nvSpPr>
        <p:spPr>
          <a:xfrm>
            <a:off x="3956050" y="1663700"/>
            <a:ext cx="1270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3"/>
          <p:cNvSpPr/>
          <p:nvPr/>
        </p:nvSpPr>
        <p:spPr>
          <a:xfrm>
            <a:off x="3981450" y="1765300"/>
            <a:ext cx="1219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Mux</a:t>
            </a:r>
            <a:endParaRPr b="0" i="0" sz="1400" u="none" cap="none" strike="noStrike">
              <a:solidFill>
                <a:schemeClr val="dk1"/>
              </a:solidFill>
              <a:latin typeface="IBM Plex Sans"/>
              <a:ea typeface="IBM Plex Sans"/>
              <a:cs typeface="IBM Plex Sans"/>
              <a:sym typeface="IBM Plex Sans"/>
            </a:endParaRPr>
          </a:p>
        </p:txBody>
      </p:sp>
      <p:sp>
        <p:nvSpPr>
          <p:cNvPr id="313" name="Google Shape;313;p13"/>
          <p:cNvSpPr/>
          <p:nvPr/>
        </p:nvSpPr>
        <p:spPr>
          <a:xfrm>
            <a:off x="5467350" y="1663700"/>
            <a:ext cx="1270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3"/>
          <p:cNvSpPr/>
          <p:nvPr/>
        </p:nvSpPr>
        <p:spPr>
          <a:xfrm>
            <a:off x="5492750" y="1765300"/>
            <a:ext cx="1219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Pane</a:t>
            </a:r>
            <a:endParaRPr b="0" i="0" sz="1400" u="none" cap="none" strike="noStrike">
              <a:solidFill>
                <a:schemeClr val="dk1"/>
              </a:solidFill>
              <a:latin typeface="IBM Plex Sans"/>
              <a:ea typeface="IBM Plex Sans"/>
              <a:cs typeface="IBM Plex Sans"/>
              <a:sym typeface="IBM Plex Sans"/>
            </a:endParaRPr>
          </a:p>
        </p:txBody>
      </p:sp>
      <p:sp>
        <p:nvSpPr>
          <p:cNvPr id="315" name="Google Shape;315;p13"/>
          <p:cNvSpPr/>
          <p:nvPr/>
        </p:nvSpPr>
        <p:spPr>
          <a:xfrm>
            <a:off x="6978650" y="1663700"/>
            <a:ext cx="1270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
          <p:cNvSpPr/>
          <p:nvPr/>
        </p:nvSpPr>
        <p:spPr>
          <a:xfrm>
            <a:off x="7004050" y="1765300"/>
            <a:ext cx="1219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PTY</a:t>
            </a:r>
            <a:endParaRPr b="0" i="0" sz="1400" u="none" cap="none" strike="noStrike">
              <a:solidFill>
                <a:schemeClr val="dk1"/>
              </a:solidFill>
              <a:latin typeface="IBM Plex Sans"/>
              <a:ea typeface="IBM Plex Sans"/>
              <a:cs typeface="IBM Plex Sans"/>
              <a:sym typeface="IBM Plex Sans"/>
            </a:endParaRPr>
          </a:p>
        </p:txBody>
      </p:sp>
      <p:sp>
        <p:nvSpPr>
          <p:cNvPr id="317" name="Google Shape;317;p13"/>
          <p:cNvSpPr/>
          <p:nvPr/>
        </p:nvSpPr>
        <p:spPr>
          <a:xfrm>
            <a:off x="8489950" y="1663700"/>
            <a:ext cx="1270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3"/>
          <p:cNvSpPr/>
          <p:nvPr/>
        </p:nvSpPr>
        <p:spPr>
          <a:xfrm>
            <a:off x="8515350" y="1765300"/>
            <a:ext cx="1219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Shell</a:t>
            </a:r>
            <a:endParaRPr b="0" i="0" sz="1400" u="none" cap="none" strike="noStrike">
              <a:solidFill>
                <a:schemeClr val="dk1"/>
              </a:solidFill>
              <a:latin typeface="IBM Plex Sans"/>
              <a:ea typeface="IBM Plex Sans"/>
              <a:cs typeface="IBM Plex Sans"/>
              <a:sym typeface="IBM Plex Sans"/>
            </a:endParaRPr>
          </a:p>
        </p:txBody>
      </p:sp>
      <p:sp>
        <p:nvSpPr>
          <p:cNvPr id="319" name="Google Shape;319;p13"/>
          <p:cNvSpPr/>
          <p:nvPr/>
        </p:nvSpPr>
        <p:spPr>
          <a:xfrm>
            <a:off x="10001250" y="1663700"/>
            <a:ext cx="1270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p:nvPr/>
        </p:nvSpPr>
        <p:spPr>
          <a:xfrm>
            <a:off x="10026650" y="1765300"/>
            <a:ext cx="1219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ls</a:t>
            </a:r>
            <a:endParaRPr b="0" i="0" sz="1400" u="none" cap="none" strike="noStrike">
              <a:solidFill>
                <a:schemeClr val="dk1"/>
              </a:solidFill>
              <a:latin typeface="IBM Plex Sans"/>
              <a:ea typeface="IBM Plex Sans"/>
              <a:cs typeface="IBM Plex Sans"/>
              <a:sym typeface="IBM Plex Sans"/>
            </a:endParaRPr>
          </a:p>
        </p:txBody>
      </p:sp>
      <p:pic>
        <p:nvPicPr>
          <p:cNvPr descr="connector" id="321" name="Google Shape;321;p13"/>
          <p:cNvPicPr preferRelativeResize="0"/>
          <p:nvPr/>
        </p:nvPicPr>
        <p:blipFill rotWithShape="1">
          <a:blip r:embed="rId3">
            <a:alphaModFix/>
          </a:blip>
          <a:srcRect b="0" l="0" r="0" t="0"/>
          <a:stretch/>
        </p:blipFill>
        <p:spPr>
          <a:xfrm>
            <a:off x="1530350" y="2057400"/>
            <a:ext cx="76200" cy="4000500"/>
          </a:xfrm>
          <a:prstGeom prst="rect">
            <a:avLst/>
          </a:prstGeom>
          <a:noFill/>
          <a:ln>
            <a:noFill/>
          </a:ln>
        </p:spPr>
      </p:pic>
      <p:pic>
        <p:nvPicPr>
          <p:cNvPr descr="connector" id="322" name="Google Shape;322;p13"/>
          <p:cNvPicPr preferRelativeResize="0"/>
          <p:nvPr/>
        </p:nvPicPr>
        <p:blipFill rotWithShape="1">
          <a:blip r:embed="rId3">
            <a:alphaModFix/>
          </a:blip>
          <a:srcRect b="0" l="0" r="0" t="0"/>
          <a:stretch/>
        </p:blipFill>
        <p:spPr>
          <a:xfrm>
            <a:off x="3041650" y="2057400"/>
            <a:ext cx="76200" cy="4000500"/>
          </a:xfrm>
          <a:prstGeom prst="rect">
            <a:avLst/>
          </a:prstGeom>
          <a:noFill/>
          <a:ln>
            <a:noFill/>
          </a:ln>
        </p:spPr>
      </p:pic>
      <p:pic>
        <p:nvPicPr>
          <p:cNvPr descr="connector" id="323" name="Google Shape;323;p13"/>
          <p:cNvPicPr preferRelativeResize="0"/>
          <p:nvPr/>
        </p:nvPicPr>
        <p:blipFill rotWithShape="1">
          <a:blip r:embed="rId3">
            <a:alphaModFix/>
          </a:blip>
          <a:srcRect b="0" l="0" r="0" t="0"/>
          <a:stretch/>
        </p:blipFill>
        <p:spPr>
          <a:xfrm>
            <a:off x="4552950" y="2057400"/>
            <a:ext cx="76200" cy="4000500"/>
          </a:xfrm>
          <a:prstGeom prst="rect">
            <a:avLst/>
          </a:prstGeom>
          <a:noFill/>
          <a:ln>
            <a:noFill/>
          </a:ln>
        </p:spPr>
      </p:pic>
      <p:pic>
        <p:nvPicPr>
          <p:cNvPr descr="connector" id="324" name="Google Shape;324;p13"/>
          <p:cNvPicPr preferRelativeResize="0"/>
          <p:nvPr/>
        </p:nvPicPr>
        <p:blipFill rotWithShape="1">
          <a:blip r:embed="rId3">
            <a:alphaModFix/>
          </a:blip>
          <a:srcRect b="0" l="0" r="0" t="0"/>
          <a:stretch/>
        </p:blipFill>
        <p:spPr>
          <a:xfrm>
            <a:off x="6064250" y="2057400"/>
            <a:ext cx="76200" cy="4000500"/>
          </a:xfrm>
          <a:prstGeom prst="rect">
            <a:avLst/>
          </a:prstGeom>
          <a:noFill/>
          <a:ln>
            <a:noFill/>
          </a:ln>
        </p:spPr>
      </p:pic>
      <p:pic>
        <p:nvPicPr>
          <p:cNvPr descr="connector" id="325" name="Google Shape;325;p13"/>
          <p:cNvPicPr preferRelativeResize="0"/>
          <p:nvPr/>
        </p:nvPicPr>
        <p:blipFill rotWithShape="1">
          <a:blip r:embed="rId3">
            <a:alphaModFix/>
          </a:blip>
          <a:srcRect b="0" l="0" r="0" t="0"/>
          <a:stretch/>
        </p:blipFill>
        <p:spPr>
          <a:xfrm>
            <a:off x="7575550" y="2057400"/>
            <a:ext cx="76200" cy="4000500"/>
          </a:xfrm>
          <a:prstGeom prst="rect">
            <a:avLst/>
          </a:prstGeom>
          <a:noFill/>
          <a:ln>
            <a:noFill/>
          </a:ln>
        </p:spPr>
      </p:pic>
      <p:pic>
        <p:nvPicPr>
          <p:cNvPr descr="connector" id="326" name="Google Shape;326;p13"/>
          <p:cNvPicPr preferRelativeResize="0"/>
          <p:nvPr/>
        </p:nvPicPr>
        <p:blipFill rotWithShape="1">
          <a:blip r:embed="rId3">
            <a:alphaModFix/>
          </a:blip>
          <a:srcRect b="0" l="0" r="0" t="0"/>
          <a:stretch/>
        </p:blipFill>
        <p:spPr>
          <a:xfrm>
            <a:off x="9086850" y="2057400"/>
            <a:ext cx="76200" cy="4000500"/>
          </a:xfrm>
          <a:prstGeom prst="rect">
            <a:avLst/>
          </a:prstGeom>
          <a:noFill/>
          <a:ln>
            <a:noFill/>
          </a:ln>
        </p:spPr>
      </p:pic>
      <p:pic>
        <p:nvPicPr>
          <p:cNvPr descr="connector" id="327" name="Google Shape;327;p13"/>
          <p:cNvPicPr preferRelativeResize="0"/>
          <p:nvPr/>
        </p:nvPicPr>
        <p:blipFill rotWithShape="1">
          <a:blip r:embed="rId3">
            <a:alphaModFix/>
          </a:blip>
          <a:srcRect b="0" l="0" r="0" t="0"/>
          <a:stretch/>
        </p:blipFill>
        <p:spPr>
          <a:xfrm>
            <a:off x="10598150" y="2057400"/>
            <a:ext cx="76200" cy="4000500"/>
          </a:xfrm>
          <a:prstGeom prst="rect">
            <a:avLst/>
          </a:prstGeom>
          <a:noFill/>
          <a:ln>
            <a:noFill/>
          </a:ln>
        </p:spPr>
      </p:pic>
      <p:pic>
        <p:nvPicPr>
          <p:cNvPr descr="connector" id="328" name="Google Shape;328;p13"/>
          <p:cNvPicPr preferRelativeResize="0"/>
          <p:nvPr/>
        </p:nvPicPr>
        <p:blipFill rotWithShape="1">
          <a:blip r:embed="rId4">
            <a:alphaModFix/>
          </a:blip>
          <a:srcRect b="0" l="0" r="0" t="0"/>
          <a:stretch/>
        </p:blipFill>
        <p:spPr>
          <a:xfrm>
            <a:off x="1517650" y="2387600"/>
            <a:ext cx="1612900" cy="101600"/>
          </a:xfrm>
          <a:prstGeom prst="rect">
            <a:avLst/>
          </a:prstGeom>
          <a:noFill/>
          <a:ln>
            <a:noFill/>
          </a:ln>
        </p:spPr>
      </p:pic>
      <p:pic>
        <p:nvPicPr>
          <p:cNvPr descr="connector" id="329" name="Google Shape;329;p13"/>
          <p:cNvPicPr preferRelativeResize="0"/>
          <p:nvPr/>
        </p:nvPicPr>
        <p:blipFill rotWithShape="1">
          <a:blip r:embed="rId4">
            <a:alphaModFix/>
          </a:blip>
          <a:srcRect b="0" l="0" r="0" t="0"/>
          <a:stretch/>
        </p:blipFill>
        <p:spPr>
          <a:xfrm>
            <a:off x="3028950" y="2971800"/>
            <a:ext cx="1612900" cy="101600"/>
          </a:xfrm>
          <a:prstGeom prst="rect">
            <a:avLst/>
          </a:prstGeom>
          <a:noFill/>
          <a:ln>
            <a:noFill/>
          </a:ln>
        </p:spPr>
      </p:pic>
      <p:pic>
        <p:nvPicPr>
          <p:cNvPr descr="connector" id="330" name="Google Shape;330;p13"/>
          <p:cNvPicPr preferRelativeResize="0"/>
          <p:nvPr/>
        </p:nvPicPr>
        <p:blipFill rotWithShape="1">
          <a:blip r:embed="rId4">
            <a:alphaModFix/>
          </a:blip>
          <a:srcRect b="0" l="0" r="0" t="0"/>
          <a:stretch/>
        </p:blipFill>
        <p:spPr>
          <a:xfrm>
            <a:off x="4540250" y="3263900"/>
            <a:ext cx="1612900" cy="101600"/>
          </a:xfrm>
          <a:prstGeom prst="rect">
            <a:avLst/>
          </a:prstGeom>
          <a:noFill/>
          <a:ln>
            <a:noFill/>
          </a:ln>
        </p:spPr>
      </p:pic>
      <p:pic>
        <p:nvPicPr>
          <p:cNvPr descr="connector" id="331" name="Google Shape;331;p13"/>
          <p:cNvPicPr preferRelativeResize="0"/>
          <p:nvPr/>
        </p:nvPicPr>
        <p:blipFill rotWithShape="1">
          <a:blip r:embed="rId4">
            <a:alphaModFix/>
          </a:blip>
          <a:srcRect b="0" l="0" r="0" t="0"/>
          <a:stretch/>
        </p:blipFill>
        <p:spPr>
          <a:xfrm>
            <a:off x="6051550" y="3556000"/>
            <a:ext cx="1612900" cy="101600"/>
          </a:xfrm>
          <a:prstGeom prst="rect">
            <a:avLst/>
          </a:prstGeom>
          <a:noFill/>
          <a:ln>
            <a:noFill/>
          </a:ln>
        </p:spPr>
      </p:pic>
      <p:pic>
        <p:nvPicPr>
          <p:cNvPr descr="connector" id="332" name="Google Shape;332;p13"/>
          <p:cNvPicPr preferRelativeResize="0"/>
          <p:nvPr/>
        </p:nvPicPr>
        <p:blipFill rotWithShape="1">
          <a:blip r:embed="rId4">
            <a:alphaModFix/>
          </a:blip>
          <a:srcRect b="0" l="0" r="0" t="0"/>
          <a:stretch/>
        </p:blipFill>
        <p:spPr>
          <a:xfrm>
            <a:off x="7562850" y="3848100"/>
            <a:ext cx="1612900" cy="101600"/>
          </a:xfrm>
          <a:prstGeom prst="rect">
            <a:avLst/>
          </a:prstGeom>
          <a:noFill/>
          <a:ln>
            <a:noFill/>
          </a:ln>
        </p:spPr>
      </p:pic>
      <p:pic>
        <p:nvPicPr>
          <p:cNvPr descr="connector" id="333" name="Google Shape;333;p13"/>
          <p:cNvPicPr preferRelativeResize="0"/>
          <p:nvPr/>
        </p:nvPicPr>
        <p:blipFill rotWithShape="1">
          <a:blip r:embed="rId4">
            <a:alphaModFix/>
          </a:blip>
          <a:srcRect b="0" l="0" r="0" t="0"/>
          <a:stretch/>
        </p:blipFill>
        <p:spPr>
          <a:xfrm>
            <a:off x="9074150" y="4140200"/>
            <a:ext cx="1612900" cy="101600"/>
          </a:xfrm>
          <a:prstGeom prst="rect">
            <a:avLst/>
          </a:prstGeom>
          <a:noFill/>
          <a:ln>
            <a:noFill/>
          </a:ln>
        </p:spPr>
      </p:pic>
      <p:sp>
        <p:nvSpPr>
          <p:cNvPr id="334" name="Google Shape;334;p13"/>
          <p:cNvSpPr/>
          <p:nvPr/>
        </p:nvSpPr>
        <p:spPr>
          <a:xfrm>
            <a:off x="1644650" y="22034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1. ls + Enter</a:t>
            </a:r>
            <a:endParaRPr b="0" i="0" sz="1200" u="none" cap="none" strike="noStrike">
              <a:solidFill>
                <a:schemeClr val="dk1"/>
              </a:solidFill>
              <a:latin typeface="IBM Plex Sans"/>
              <a:ea typeface="IBM Plex Sans"/>
              <a:cs typeface="IBM Plex Sans"/>
              <a:sym typeface="IBM Plex Sans"/>
            </a:endParaRPr>
          </a:p>
        </p:txBody>
      </p:sp>
      <p:sp>
        <p:nvSpPr>
          <p:cNvPr id="335" name="Google Shape;335;p13"/>
          <p:cNvSpPr/>
          <p:nvPr/>
        </p:nvSpPr>
        <p:spPr>
          <a:xfrm>
            <a:off x="3155950" y="2578100"/>
            <a:ext cx="1384300" cy="203200"/>
          </a:xfrm>
          <a:prstGeom prst="roundRect">
            <a:avLst>
              <a:gd fmla="val 25000" name="adj"/>
            </a:avLst>
          </a:prstGeom>
          <a:solidFill>
            <a:srgbClr val="FBE6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a:off x="3232150" y="2590800"/>
            <a:ext cx="1282700" cy="203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2. no binding</a:t>
            </a:r>
            <a:endParaRPr b="0" i="0" sz="1200" u="none" cap="none" strike="noStrike">
              <a:solidFill>
                <a:schemeClr val="dk1"/>
              </a:solidFill>
              <a:latin typeface="IBM Plex Sans"/>
              <a:ea typeface="IBM Plex Sans"/>
              <a:cs typeface="IBM Plex Sans"/>
              <a:sym typeface="IBM Plex Sans"/>
            </a:endParaRPr>
          </a:p>
        </p:txBody>
      </p:sp>
      <p:sp>
        <p:nvSpPr>
          <p:cNvPr id="337" name="Google Shape;337;p13"/>
          <p:cNvSpPr/>
          <p:nvPr/>
        </p:nvSpPr>
        <p:spPr>
          <a:xfrm>
            <a:off x="3155950" y="27876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3. key input</a:t>
            </a:r>
            <a:endParaRPr b="0" i="0" sz="1200" u="none" cap="none" strike="noStrike">
              <a:solidFill>
                <a:schemeClr val="dk1"/>
              </a:solidFill>
              <a:latin typeface="IBM Plex Sans"/>
              <a:ea typeface="IBM Plex Sans"/>
              <a:cs typeface="IBM Plex Sans"/>
              <a:sym typeface="IBM Plex Sans"/>
            </a:endParaRPr>
          </a:p>
        </p:txBody>
      </p:sp>
      <p:sp>
        <p:nvSpPr>
          <p:cNvPr id="338" name="Google Shape;338;p13"/>
          <p:cNvSpPr/>
          <p:nvPr/>
        </p:nvSpPr>
        <p:spPr>
          <a:xfrm>
            <a:off x="4667250" y="30797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4. route input</a:t>
            </a:r>
            <a:endParaRPr b="0" i="0" sz="1200" u="none" cap="none" strike="noStrike">
              <a:solidFill>
                <a:schemeClr val="dk1"/>
              </a:solidFill>
              <a:latin typeface="IBM Plex Sans"/>
              <a:ea typeface="IBM Plex Sans"/>
              <a:cs typeface="IBM Plex Sans"/>
              <a:sym typeface="IBM Plex Sans"/>
            </a:endParaRPr>
          </a:p>
        </p:txBody>
      </p:sp>
      <p:sp>
        <p:nvSpPr>
          <p:cNvPr id="339" name="Google Shape;339;p13"/>
          <p:cNvSpPr/>
          <p:nvPr/>
        </p:nvSpPr>
        <p:spPr>
          <a:xfrm>
            <a:off x="6178550" y="33718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5. write bytes</a:t>
            </a:r>
            <a:endParaRPr b="0" i="0" sz="1200" u="none" cap="none" strike="noStrike">
              <a:solidFill>
                <a:schemeClr val="dk1"/>
              </a:solidFill>
              <a:latin typeface="IBM Plex Sans"/>
              <a:ea typeface="IBM Plex Sans"/>
              <a:cs typeface="IBM Plex Sans"/>
              <a:sym typeface="IBM Plex Sans"/>
            </a:endParaRPr>
          </a:p>
        </p:txBody>
      </p:sp>
      <p:sp>
        <p:nvSpPr>
          <p:cNvPr id="340" name="Google Shape;340;p13"/>
          <p:cNvSpPr/>
          <p:nvPr/>
        </p:nvSpPr>
        <p:spPr>
          <a:xfrm>
            <a:off x="7689850" y="36639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6. read line</a:t>
            </a:r>
            <a:endParaRPr b="0" i="0" sz="1200" u="none" cap="none" strike="noStrike">
              <a:solidFill>
                <a:schemeClr val="dk1"/>
              </a:solidFill>
              <a:latin typeface="IBM Plex Sans"/>
              <a:ea typeface="IBM Plex Sans"/>
              <a:cs typeface="IBM Plex Sans"/>
              <a:sym typeface="IBM Plex Sans"/>
            </a:endParaRPr>
          </a:p>
        </p:txBody>
      </p:sp>
      <p:sp>
        <p:nvSpPr>
          <p:cNvPr id="341" name="Google Shape;341;p13"/>
          <p:cNvSpPr/>
          <p:nvPr/>
        </p:nvSpPr>
        <p:spPr>
          <a:xfrm>
            <a:off x="9201150" y="39560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7. start ls</a:t>
            </a:r>
            <a:endParaRPr b="0" i="0" sz="1200" u="none" cap="none" strike="noStrike">
              <a:solidFill>
                <a:schemeClr val="dk1"/>
              </a:solidFill>
              <a:latin typeface="IBM Plex Sans"/>
              <a:ea typeface="IBM Plex Sans"/>
              <a:cs typeface="IBM Plex Sans"/>
              <a:sym typeface="IBM Plex Sans"/>
            </a:endParaRPr>
          </a:p>
        </p:txBody>
      </p:sp>
      <p:sp>
        <p:nvSpPr>
          <p:cNvPr id="342" name="Google Shape;342;p13"/>
          <p:cNvSpPr/>
          <p:nvPr/>
        </p:nvSpPr>
        <p:spPr>
          <a:xfrm>
            <a:off x="7689850" y="42481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8. output</a:t>
            </a:r>
            <a:endParaRPr b="0" i="0" sz="1200" u="none" cap="none" strike="noStrike">
              <a:solidFill>
                <a:schemeClr val="dk1"/>
              </a:solidFill>
              <a:latin typeface="IBM Plex Sans"/>
              <a:ea typeface="IBM Plex Sans"/>
              <a:cs typeface="IBM Plex Sans"/>
              <a:sym typeface="IBM Plex Sans"/>
            </a:endParaRPr>
          </a:p>
        </p:txBody>
      </p:sp>
      <p:sp>
        <p:nvSpPr>
          <p:cNvPr id="343" name="Google Shape;343;p13"/>
          <p:cNvSpPr/>
          <p:nvPr/>
        </p:nvSpPr>
        <p:spPr>
          <a:xfrm>
            <a:off x="6178550" y="45402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9. read</a:t>
            </a:r>
            <a:endParaRPr b="0" i="0" sz="1200" u="none" cap="none" strike="noStrike">
              <a:solidFill>
                <a:schemeClr val="dk1"/>
              </a:solidFill>
              <a:latin typeface="IBM Plex Sans"/>
              <a:ea typeface="IBM Plex Sans"/>
              <a:cs typeface="IBM Plex Sans"/>
              <a:sym typeface="IBM Plex Sans"/>
            </a:endParaRPr>
          </a:p>
        </p:txBody>
      </p:sp>
      <p:sp>
        <p:nvSpPr>
          <p:cNvPr id="344" name="Google Shape;344;p13"/>
          <p:cNvSpPr/>
          <p:nvPr/>
        </p:nvSpPr>
        <p:spPr>
          <a:xfrm>
            <a:off x="6178550" y="4914900"/>
            <a:ext cx="1333500" cy="203200"/>
          </a:xfrm>
          <a:prstGeom prst="roundRect">
            <a:avLst>
              <a:gd fmla="val 25000"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6254750" y="4927600"/>
            <a:ext cx="1231900" cy="203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10. parse</a:t>
            </a:r>
            <a:endParaRPr b="0" i="0" sz="1200" u="none" cap="none" strike="noStrike">
              <a:solidFill>
                <a:schemeClr val="dk1"/>
              </a:solidFill>
              <a:latin typeface="IBM Plex Sans"/>
              <a:ea typeface="IBM Plex Sans"/>
              <a:cs typeface="IBM Plex Sans"/>
              <a:sym typeface="IBM Plex Sans"/>
            </a:endParaRPr>
          </a:p>
        </p:txBody>
      </p:sp>
      <p:sp>
        <p:nvSpPr>
          <p:cNvPr id="346" name="Google Shape;346;p13"/>
          <p:cNvSpPr/>
          <p:nvPr/>
        </p:nvSpPr>
        <p:spPr>
          <a:xfrm>
            <a:off x="4667250" y="51244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11. new output</a:t>
            </a:r>
            <a:endParaRPr b="0" i="0" sz="1200" u="none" cap="none" strike="noStrike">
              <a:solidFill>
                <a:schemeClr val="dk1"/>
              </a:solidFill>
              <a:latin typeface="IBM Plex Sans"/>
              <a:ea typeface="IBM Plex Sans"/>
              <a:cs typeface="IBM Plex Sans"/>
              <a:sym typeface="IBM Plex Sans"/>
            </a:endParaRPr>
          </a:p>
        </p:txBody>
      </p:sp>
      <p:sp>
        <p:nvSpPr>
          <p:cNvPr id="347" name="Google Shape;347;p13"/>
          <p:cNvSpPr/>
          <p:nvPr/>
        </p:nvSpPr>
        <p:spPr>
          <a:xfrm>
            <a:off x="3155950" y="54165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12. notify</a:t>
            </a:r>
            <a:endParaRPr b="0" i="0" sz="1200" u="none" cap="none" strike="noStrike">
              <a:solidFill>
                <a:schemeClr val="dk1"/>
              </a:solidFill>
              <a:latin typeface="IBM Plex Sans"/>
              <a:ea typeface="IBM Plex Sans"/>
              <a:cs typeface="IBM Plex Sans"/>
              <a:sym typeface="IBM Plex Sans"/>
            </a:endParaRPr>
          </a:p>
        </p:txBody>
      </p:sp>
      <p:sp>
        <p:nvSpPr>
          <p:cNvPr id="348" name="Google Shape;348;p13"/>
          <p:cNvSpPr/>
          <p:nvPr/>
        </p:nvSpPr>
        <p:spPr>
          <a:xfrm>
            <a:off x="1644650" y="5708650"/>
            <a:ext cx="135890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13. draw</a:t>
            </a:r>
            <a:endParaRPr b="0" i="0" sz="1200" u="none" cap="none" strike="noStrike">
              <a:solidFill>
                <a:schemeClr val="dk1"/>
              </a:solidFill>
              <a:latin typeface="IBM Plex Sans"/>
              <a:ea typeface="IBM Plex Sans"/>
              <a:cs typeface="IBM Plex Sans"/>
              <a:sym typeface="IBM Plex Sans"/>
            </a:endParaRPr>
          </a:p>
        </p:txBody>
      </p:sp>
      <p:cxnSp>
        <p:nvCxnSpPr>
          <p:cNvPr id="349" name="Google Shape;349;p13"/>
          <p:cNvCxnSpPr/>
          <p:nvPr/>
        </p:nvCxnSpPr>
        <p:spPr>
          <a:xfrm rot="10800000">
            <a:off x="1483450" y="5911850"/>
            <a:ext cx="1634400" cy="3000"/>
          </a:xfrm>
          <a:prstGeom prst="straightConnector1">
            <a:avLst/>
          </a:prstGeom>
          <a:noFill/>
          <a:ln cap="flat" cmpd="sng" w="22225">
            <a:solidFill>
              <a:srgbClr val="1155CC"/>
            </a:solidFill>
            <a:prstDash val="dash"/>
            <a:round/>
            <a:headEnd len="sm" w="sm" type="none"/>
            <a:tailEnd len="med" w="med" type="triangle"/>
          </a:ln>
        </p:spPr>
      </p:cxnSp>
      <p:cxnSp>
        <p:nvCxnSpPr>
          <p:cNvPr id="350" name="Google Shape;350;p13"/>
          <p:cNvCxnSpPr/>
          <p:nvPr/>
        </p:nvCxnSpPr>
        <p:spPr>
          <a:xfrm rot="10800000">
            <a:off x="3041800" y="5658725"/>
            <a:ext cx="1500900" cy="3000"/>
          </a:xfrm>
          <a:prstGeom prst="straightConnector1">
            <a:avLst/>
          </a:prstGeom>
          <a:noFill/>
          <a:ln cap="flat" cmpd="sng" w="22225">
            <a:solidFill>
              <a:srgbClr val="1155CC"/>
            </a:solidFill>
            <a:prstDash val="dash"/>
            <a:round/>
            <a:headEnd len="sm" w="sm" type="none"/>
            <a:tailEnd len="med" w="med" type="triangle"/>
          </a:ln>
        </p:spPr>
      </p:cxnSp>
      <p:cxnSp>
        <p:nvCxnSpPr>
          <p:cNvPr id="351" name="Google Shape;351;p13"/>
          <p:cNvCxnSpPr/>
          <p:nvPr/>
        </p:nvCxnSpPr>
        <p:spPr>
          <a:xfrm rot="10800000">
            <a:off x="4596250" y="5376575"/>
            <a:ext cx="1500900" cy="3000"/>
          </a:xfrm>
          <a:prstGeom prst="straightConnector1">
            <a:avLst/>
          </a:prstGeom>
          <a:noFill/>
          <a:ln cap="flat" cmpd="sng" w="22225">
            <a:solidFill>
              <a:srgbClr val="1155CC"/>
            </a:solidFill>
            <a:prstDash val="dash"/>
            <a:round/>
            <a:headEnd len="sm" w="sm" type="none"/>
            <a:tailEnd len="med" w="med" type="triangle"/>
          </a:ln>
        </p:spPr>
      </p:cxnSp>
      <p:cxnSp>
        <p:nvCxnSpPr>
          <p:cNvPr id="352" name="Google Shape;352;p13"/>
          <p:cNvCxnSpPr/>
          <p:nvPr/>
        </p:nvCxnSpPr>
        <p:spPr>
          <a:xfrm rot="10800000">
            <a:off x="6107550" y="4784550"/>
            <a:ext cx="1500900" cy="3000"/>
          </a:xfrm>
          <a:prstGeom prst="straightConnector1">
            <a:avLst/>
          </a:prstGeom>
          <a:noFill/>
          <a:ln cap="flat" cmpd="sng" w="22225">
            <a:solidFill>
              <a:srgbClr val="1155CC"/>
            </a:solidFill>
            <a:prstDash val="dash"/>
            <a:round/>
            <a:headEnd len="sm" w="sm" type="none"/>
            <a:tailEnd len="med" w="med" type="triangle"/>
          </a:ln>
        </p:spPr>
      </p:cxnSp>
      <p:cxnSp>
        <p:nvCxnSpPr>
          <p:cNvPr id="353" name="Google Shape;353;p13"/>
          <p:cNvCxnSpPr/>
          <p:nvPr/>
        </p:nvCxnSpPr>
        <p:spPr>
          <a:xfrm rot="10800000">
            <a:off x="7602450" y="4510475"/>
            <a:ext cx="3045000" cy="5400"/>
          </a:xfrm>
          <a:prstGeom prst="straightConnector1">
            <a:avLst/>
          </a:prstGeom>
          <a:noFill/>
          <a:ln cap="flat" cmpd="sng" w="22225">
            <a:solidFill>
              <a:srgbClr val="1155CC"/>
            </a:solidFill>
            <a:prstDash val="dash"/>
            <a:round/>
            <a:headEnd len="sm" w="sm" type="none"/>
            <a:tailEnd len="med" w="med" type="triangle"/>
          </a:ln>
        </p:spPr>
      </p:cxnSp>
      <p:sp>
        <p:nvSpPr>
          <p:cNvPr id="354" name="Google Shape;354;p13"/>
          <p:cNvSpPr txBox="1"/>
          <p:nvPr/>
        </p:nvSpPr>
        <p:spPr>
          <a:xfrm>
            <a:off x="812800" y="6152171"/>
            <a:ext cx="11049000" cy="7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B1F27"/>
                </a:solidFill>
                <a:latin typeface="IBM Plex Sans"/>
                <a:ea typeface="IBM Plex Sans"/>
                <a:cs typeface="IBM Plex Sans"/>
                <a:sym typeface="IBM Plex Sans"/>
              </a:rPr>
              <a:t>GUI includes input handling and rendering. Pane includes terminal </a:t>
            </a:r>
            <a:r>
              <a:rPr lang="en-US" sz="1600">
                <a:solidFill>
                  <a:srgbClr val="1B1F27"/>
                </a:solidFill>
                <a:latin typeface="IBM Plex Sans"/>
                <a:ea typeface="IBM Plex Sans"/>
                <a:cs typeface="IBM Plex Sans"/>
                <a:sym typeface="IBM Plex Sans"/>
              </a:rPr>
              <a:t>emulation</a:t>
            </a:r>
            <a:r>
              <a:rPr lang="en-US" sz="1600">
                <a:solidFill>
                  <a:srgbClr val="1B1F27"/>
                </a:solidFill>
                <a:latin typeface="IBM Plex Sans"/>
                <a:ea typeface="IBM Plex Sans"/>
                <a:cs typeface="IBM Plex Sans"/>
                <a:sym typeface="IBM Plex Sans"/>
              </a:rPr>
              <a:t>, as shown in our </a:t>
            </a:r>
            <a:r>
              <a:rPr lang="en-US" sz="1600">
                <a:solidFill>
                  <a:srgbClr val="1B1F27"/>
                </a:solidFill>
                <a:latin typeface="IBM Plex Sans"/>
                <a:ea typeface="IBM Plex Sans"/>
                <a:cs typeface="IBM Plex Sans"/>
                <a:sym typeface="IBM Plex Sans"/>
              </a:rPr>
              <a:t>architecture</a:t>
            </a:r>
            <a:r>
              <a:rPr lang="en-US" sz="1600">
                <a:solidFill>
                  <a:srgbClr val="1B1F27"/>
                </a:solidFill>
                <a:latin typeface="IBM Plex Sans"/>
                <a:ea typeface="IBM Plex Sans"/>
                <a:cs typeface="IBM Plex Sans"/>
                <a:sym typeface="IBM Plex Sans"/>
              </a:rPr>
              <a:t> diagram</a:t>
            </a:r>
            <a:endParaRPr sz="1600">
              <a:solidFill>
                <a:srgbClr val="1B1F27"/>
              </a:solidFill>
              <a:latin typeface="IBM Plex Sans"/>
              <a:ea typeface="IBM Plex Sans"/>
              <a:cs typeface="IBM Plex Sans"/>
              <a:sym typeface="IBM Plex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359" name="Shape 359"/>
        <p:cNvGrpSpPr/>
        <p:nvPr/>
      </p:nvGrpSpPr>
      <p:grpSpPr>
        <a:xfrm>
          <a:off x="0" y="0"/>
          <a:ext cx="0" cy="0"/>
          <a:chOff x="0" y="0"/>
          <a:chExt cx="0" cy="0"/>
        </a:xfrm>
      </p:grpSpPr>
      <p:sp>
        <p:nvSpPr>
          <p:cNvPr id="360" name="Google Shape;360;p14"/>
          <p:cNvSpPr/>
          <p:nvPr/>
        </p:nvSpPr>
        <p:spPr>
          <a:xfrm>
            <a:off x="812800" y="812800"/>
            <a:ext cx="7194550"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SEQUENCE</a:t>
            </a:r>
            <a:r>
              <a:rPr lang="en-US" spc="100" sz="1200">
                <a:solidFill>
                  <a:srgbClr val="B5530F"/>
                </a:solidFill>
                <a:latin typeface="JetBrains Mono"/>
                <a:ea typeface="JetBrains Mono"/>
                <a:cs typeface="JetBrains Mono"/>
                <a:sym typeface="JetBrains Mono"/>
              </a:rPr>
              <a:t> </a:t>
            </a:r>
            <a:r>
              <a:rPr lang="en-US" spc="100" sz="1200">
                <a:solidFill>
                  <a:srgbClr val="B5530F"/>
                </a:solidFill>
                <a:latin typeface="JetBrains Mono"/>
                <a:ea typeface="JetBrains Mono"/>
                <a:cs typeface="JetBrains Mono"/>
                <a:sym typeface="JetBrains Mono"/>
              </a:rPr>
              <a:t>  </a:t>
            </a:r>
            <a:r>
              <a:rPr b="0" i="0" lang="en-US" spc="100" sz="1200" u="none" cap="none" strike="noStrike">
                <a:solidFill>
                  <a:srgbClr val="B5530F"/>
                </a:solidFill>
                <a:latin typeface="JetBrains Mono"/>
                <a:ea typeface="JetBrains Mono"/>
                <a:cs typeface="JetBrains Mono"/>
                <a:sym typeface="JetBrains Mono"/>
              </a:rPr>
              <a:t>DIAGRAM  2</a:t>
            </a:r>
            <a:endParaRPr b="0" i="0" sz="1200" u="none" cap="none" strike="noStrike">
              <a:solidFill>
                <a:schemeClr val="dk1"/>
              </a:solidFill>
              <a:latin typeface="IBM Plex Sans"/>
              <a:ea typeface="IBM Plex Sans"/>
              <a:cs typeface="IBM Plex Sans"/>
              <a:sym typeface="IBM Plex Sans"/>
            </a:endParaRPr>
          </a:p>
        </p:txBody>
      </p:sp>
      <p:sp>
        <p:nvSpPr>
          <p:cNvPr id="361" name="Google Shape;361;p14"/>
          <p:cNvSpPr txBox="1"/>
          <p:nvPr>
            <p:ph type="title"/>
          </p:nvPr>
        </p:nvSpPr>
        <p:spPr>
          <a:xfrm>
            <a:off x="812800" y="1073150"/>
            <a:ext cx="7194550"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i="0" lang="en-US" sz="2800">
                <a:solidFill>
                  <a:srgbClr val="1B1F27"/>
                </a:solidFill>
                <a:latin typeface="IBM Plex Sans"/>
                <a:ea typeface="IBM Plex Sans"/>
                <a:cs typeface="IBM Plex Sans"/>
                <a:sym typeface="IBM Plex Sans"/>
              </a:rPr>
              <a:t>Splitting a </a:t>
            </a:r>
            <a:r>
              <a:rPr b="1" lang="en-US"/>
              <a:t>P</a:t>
            </a:r>
            <a:r>
              <a:rPr b="1" i="0" lang="en-US" sz="2800">
                <a:solidFill>
                  <a:srgbClr val="1B1F27"/>
                </a:solidFill>
                <a:latin typeface="IBM Plex Sans"/>
                <a:ea typeface="IBM Plex Sans"/>
                <a:cs typeface="IBM Plex Sans"/>
                <a:sym typeface="IBM Plex Sans"/>
              </a:rPr>
              <a:t>ane and </a:t>
            </a:r>
            <a:r>
              <a:rPr b="1" lang="en-US"/>
              <a:t>S</a:t>
            </a:r>
            <a:r>
              <a:rPr b="1" i="0" lang="en-US" sz="2800">
                <a:solidFill>
                  <a:srgbClr val="1B1F27"/>
                </a:solidFill>
                <a:latin typeface="IBM Plex Sans"/>
                <a:ea typeface="IBM Plex Sans"/>
                <a:cs typeface="IBM Plex Sans"/>
                <a:sym typeface="IBM Plex Sans"/>
              </a:rPr>
              <a:t>tarting a </a:t>
            </a:r>
            <a:r>
              <a:rPr b="1" lang="en-US"/>
              <a:t>S</a:t>
            </a:r>
            <a:r>
              <a:rPr b="1" i="0" lang="en-US" sz="2800">
                <a:solidFill>
                  <a:srgbClr val="1B1F27"/>
                </a:solidFill>
                <a:latin typeface="IBM Plex Sans"/>
                <a:ea typeface="IBM Plex Sans"/>
                <a:cs typeface="IBM Plex Sans"/>
                <a:sym typeface="IBM Plex Sans"/>
              </a:rPr>
              <a:t>hell</a:t>
            </a:r>
            <a:endParaRPr sz="2800"/>
          </a:p>
        </p:txBody>
      </p:sp>
      <p:sp>
        <p:nvSpPr>
          <p:cNvPr id="362" name="Google Shape;362;p14"/>
          <p:cNvSpPr/>
          <p:nvPr/>
        </p:nvSpPr>
        <p:spPr>
          <a:xfrm>
            <a:off x="8108950" y="1181100"/>
            <a:ext cx="3270250" cy="23495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B5530F"/>
              </a:buClr>
              <a:buSzPts val="1200"/>
              <a:buFont typeface="IBM Plex Sans"/>
              <a:buNone/>
            </a:pPr>
            <a:r>
              <a:rPr b="1" i="0" lang="en-US" sz="1200" u="none" cap="none" strike="noStrike">
                <a:solidFill>
                  <a:srgbClr val="B5530F"/>
                </a:solidFill>
                <a:latin typeface="IBM Plex Sans"/>
                <a:ea typeface="IBM Plex Sans"/>
                <a:cs typeface="IBM Plex Sans"/>
                <a:sym typeface="IBM Plex Sans"/>
              </a:rPr>
              <a:t>━ request</a:t>
            </a:r>
            <a:r>
              <a:rPr b="0" i="0" lang="en-US" sz="1200" u="none" cap="none" strike="noStrike">
                <a:solidFill>
                  <a:srgbClr val="4A505C"/>
                </a:solidFill>
                <a:latin typeface="IBM Plex Sans"/>
                <a:ea typeface="IBM Plex Sans"/>
                <a:cs typeface="IBM Plex Sans"/>
                <a:sym typeface="IBM Plex Sans"/>
              </a:rPr>
              <a:t> </a:t>
            </a:r>
            <a:r>
              <a:rPr b="1" i="0" lang="en-US" sz="1200" u="none" cap="none" strike="noStrike">
                <a:solidFill>
                  <a:srgbClr val="2D5DA1"/>
                </a:solidFill>
                <a:latin typeface="IBM Plex Sans"/>
                <a:ea typeface="IBM Plex Sans"/>
                <a:cs typeface="IBM Plex Sans"/>
                <a:sym typeface="IBM Plex Sans"/>
              </a:rPr>
              <a:t>━ result</a:t>
            </a:r>
            <a:endParaRPr b="0" i="0" sz="1200" u="none" cap="none" strike="noStrike">
              <a:solidFill>
                <a:schemeClr val="dk1"/>
              </a:solidFill>
              <a:latin typeface="IBM Plex Sans"/>
              <a:ea typeface="IBM Plex Sans"/>
              <a:cs typeface="IBM Plex Sans"/>
              <a:sym typeface="IBM Plex Sans"/>
            </a:endParaRPr>
          </a:p>
        </p:txBody>
      </p:sp>
      <p:sp>
        <p:nvSpPr>
          <p:cNvPr id="363" name="Google Shape;363;p14"/>
          <p:cNvSpPr/>
          <p:nvPr/>
        </p:nvSpPr>
        <p:spPr>
          <a:xfrm>
            <a:off x="990600" y="1663700"/>
            <a:ext cx="1397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4"/>
          <p:cNvSpPr/>
          <p:nvPr/>
        </p:nvSpPr>
        <p:spPr>
          <a:xfrm>
            <a:off x="1016000" y="1765300"/>
            <a:ext cx="1346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User</a:t>
            </a:r>
            <a:endParaRPr b="0" i="0" sz="1400" u="none" cap="none" strike="noStrike">
              <a:solidFill>
                <a:schemeClr val="dk1"/>
              </a:solidFill>
              <a:latin typeface="IBM Plex Sans"/>
              <a:ea typeface="IBM Plex Sans"/>
              <a:cs typeface="IBM Plex Sans"/>
              <a:sym typeface="IBM Plex Sans"/>
            </a:endParaRPr>
          </a:p>
        </p:txBody>
      </p:sp>
      <p:sp>
        <p:nvSpPr>
          <p:cNvPr id="365" name="Google Shape;365;p14"/>
          <p:cNvSpPr/>
          <p:nvPr/>
        </p:nvSpPr>
        <p:spPr>
          <a:xfrm>
            <a:off x="2749550" y="1663700"/>
            <a:ext cx="1397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4"/>
          <p:cNvSpPr/>
          <p:nvPr/>
        </p:nvSpPr>
        <p:spPr>
          <a:xfrm>
            <a:off x="2774950" y="1765300"/>
            <a:ext cx="1346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GUI</a:t>
            </a:r>
            <a:endParaRPr b="0" i="0" sz="1400" u="none" cap="none" strike="noStrike">
              <a:solidFill>
                <a:schemeClr val="dk1"/>
              </a:solidFill>
              <a:latin typeface="IBM Plex Sans"/>
              <a:ea typeface="IBM Plex Sans"/>
              <a:cs typeface="IBM Plex Sans"/>
              <a:sym typeface="IBM Plex Sans"/>
            </a:endParaRPr>
          </a:p>
        </p:txBody>
      </p:sp>
      <p:sp>
        <p:nvSpPr>
          <p:cNvPr id="367" name="Google Shape;367;p14"/>
          <p:cNvSpPr/>
          <p:nvPr/>
        </p:nvSpPr>
        <p:spPr>
          <a:xfrm>
            <a:off x="4508500" y="1663700"/>
            <a:ext cx="1397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p:nvPr/>
        </p:nvSpPr>
        <p:spPr>
          <a:xfrm>
            <a:off x="4533900" y="1765300"/>
            <a:ext cx="1346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Mux</a:t>
            </a:r>
            <a:endParaRPr b="0" i="0" sz="1400" u="none" cap="none" strike="noStrike">
              <a:solidFill>
                <a:schemeClr val="dk1"/>
              </a:solidFill>
              <a:latin typeface="IBM Plex Sans"/>
              <a:ea typeface="IBM Plex Sans"/>
              <a:cs typeface="IBM Plex Sans"/>
              <a:sym typeface="IBM Plex Sans"/>
            </a:endParaRPr>
          </a:p>
        </p:txBody>
      </p:sp>
      <p:sp>
        <p:nvSpPr>
          <p:cNvPr id="369" name="Google Shape;369;p14"/>
          <p:cNvSpPr/>
          <p:nvPr/>
        </p:nvSpPr>
        <p:spPr>
          <a:xfrm>
            <a:off x="6267450" y="1663700"/>
            <a:ext cx="1397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4"/>
          <p:cNvSpPr/>
          <p:nvPr/>
        </p:nvSpPr>
        <p:spPr>
          <a:xfrm>
            <a:off x="6292850" y="1765300"/>
            <a:ext cx="1346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New pane</a:t>
            </a:r>
            <a:endParaRPr b="0" i="0" sz="1400" u="none" cap="none" strike="noStrike">
              <a:solidFill>
                <a:schemeClr val="dk1"/>
              </a:solidFill>
              <a:latin typeface="IBM Plex Sans"/>
              <a:ea typeface="IBM Plex Sans"/>
              <a:cs typeface="IBM Plex Sans"/>
              <a:sym typeface="IBM Plex Sans"/>
            </a:endParaRPr>
          </a:p>
        </p:txBody>
      </p:sp>
      <p:sp>
        <p:nvSpPr>
          <p:cNvPr id="371" name="Google Shape;371;p14"/>
          <p:cNvSpPr/>
          <p:nvPr/>
        </p:nvSpPr>
        <p:spPr>
          <a:xfrm>
            <a:off x="8026400" y="1663700"/>
            <a:ext cx="1397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8051800" y="1765300"/>
            <a:ext cx="1346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New PTY</a:t>
            </a:r>
            <a:endParaRPr b="0" i="0" sz="1400" u="none" cap="none" strike="noStrike">
              <a:solidFill>
                <a:schemeClr val="dk1"/>
              </a:solidFill>
              <a:latin typeface="IBM Plex Sans"/>
              <a:ea typeface="IBM Plex Sans"/>
              <a:cs typeface="IBM Plex Sans"/>
              <a:sym typeface="IBM Plex Sans"/>
            </a:endParaRPr>
          </a:p>
        </p:txBody>
      </p:sp>
      <p:sp>
        <p:nvSpPr>
          <p:cNvPr id="373" name="Google Shape;373;p14"/>
          <p:cNvSpPr/>
          <p:nvPr/>
        </p:nvSpPr>
        <p:spPr>
          <a:xfrm>
            <a:off x="9785350" y="1663700"/>
            <a:ext cx="1397000" cy="412750"/>
          </a:xfrm>
          <a:prstGeom prst="roundRect">
            <a:avLst>
              <a:gd fmla="val 15385"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4"/>
          <p:cNvSpPr/>
          <p:nvPr/>
        </p:nvSpPr>
        <p:spPr>
          <a:xfrm>
            <a:off x="9810750" y="1765300"/>
            <a:ext cx="1346200" cy="23495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F4F0E8"/>
              </a:buClr>
              <a:buSzPts val="1400"/>
              <a:buFont typeface="IBM Plex Sans"/>
              <a:buNone/>
            </a:pPr>
            <a:r>
              <a:rPr b="1" i="0" lang="en-US" sz="1400" u="none" cap="none" strike="noStrike">
                <a:solidFill>
                  <a:srgbClr val="F4F0E8"/>
                </a:solidFill>
                <a:latin typeface="IBM Plex Sans"/>
                <a:ea typeface="IBM Plex Sans"/>
                <a:cs typeface="IBM Plex Sans"/>
                <a:sym typeface="IBM Plex Sans"/>
              </a:rPr>
              <a:t>New shell</a:t>
            </a:r>
            <a:endParaRPr b="0" i="0" sz="1400" u="none" cap="none" strike="noStrike">
              <a:solidFill>
                <a:schemeClr val="dk1"/>
              </a:solidFill>
              <a:latin typeface="IBM Plex Sans"/>
              <a:ea typeface="IBM Plex Sans"/>
              <a:cs typeface="IBM Plex Sans"/>
              <a:sym typeface="IBM Plex Sans"/>
            </a:endParaRPr>
          </a:p>
        </p:txBody>
      </p:sp>
      <p:pic>
        <p:nvPicPr>
          <p:cNvPr descr="connector" id="375" name="Google Shape;375;p14"/>
          <p:cNvPicPr preferRelativeResize="0"/>
          <p:nvPr/>
        </p:nvPicPr>
        <p:blipFill rotWithShape="1">
          <a:blip r:embed="rId3">
            <a:alphaModFix/>
          </a:blip>
          <a:srcRect b="0" l="0" r="0" t="0"/>
          <a:stretch/>
        </p:blipFill>
        <p:spPr>
          <a:xfrm>
            <a:off x="1651000" y="2057400"/>
            <a:ext cx="76200" cy="4000500"/>
          </a:xfrm>
          <a:prstGeom prst="rect">
            <a:avLst/>
          </a:prstGeom>
          <a:noFill/>
          <a:ln>
            <a:noFill/>
          </a:ln>
        </p:spPr>
      </p:pic>
      <p:pic>
        <p:nvPicPr>
          <p:cNvPr descr="connector" id="376" name="Google Shape;376;p14"/>
          <p:cNvPicPr preferRelativeResize="0"/>
          <p:nvPr/>
        </p:nvPicPr>
        <p:blipFill rotWithShape="1">
          <a:blip r:embed="rId3">
            <a:alphaModFix/>
          </a:blip>
          <a:srcRect b="0" l="0" r="0" t="0"/>
          <a:stretch/>
        </p:blipFill>
        <p:spPr>
          <a:xfrm>
            <a:off x="3409950" y="2057400"/>
            <a:ext cx="76200" cy="4000500"/>
          </a:xfrm>
          <a:prstGeom prst="rect">
            <a:avLst/>
          </a:prstGeom>
          <a:noFill/>
          <a:ln>
            <a:noFill/>
          </a:ln>
        </p:spPr>
      </p:pic>
      <p:pic>
        <p:nvPicPr>
          <p:cNvPr descr="connector" id="377" name="Google Shape;377;p14"/>
          <p:cNvPicPr preferRelativeResize="0"/>
          <p:nvPr/>
        </p:nvPicPr>
        <p:blipFill rotWithShape="1">
          <a:blip r:embed="rId3">
            <a:alphaModFix/>
          </a:blip>
          <a:srcRect b="0" l="0" r="0" t="0"/>
          <a:stretch/>
        </p:blipFill>
        <p:spPr>
          <a:xfrm>
            <a:off x="5168900" y="2057400"/>
            <a:ext cx="76200" cy="4000500"/>
          </a:xfrm>
          <a:prstGeom prst="rect">
            <a:avLst/>
          </a:prstGeom>
          <a:noFill/>
          <a:ln>
            <a:noFill/>
          </a:ln>
        </p:spPr>
      </p:pic>
      <p:pic>
        <p:nvPicPr>
          <p:cNvPr descr="connector" id="378" name="Google Shape;378;p14"/>
          <p:cNvPicPr preferRelativeResize="0"/>
          <p:nvPr/>
        </p:nvPicPr>
        <p:blipFill rotWithShape="1">
          <a:blip r:embed="rId3">
            <a:alphaModFix/>
          </a:blip>
          <a:srcRect b="0" l="0" r="0" t="0"/>
          <a:stretch/>
        </p:blipFill>
        <p:spPr>
          <a:xfrm>
            <a:off x="6927850" y="2057400"/>
            <a:ext cx="76200" cy="4000500"/>
          </a:xfrm>
          <a:prstGeom prst="rect">
            <a:avLst/>
          </a:prstGeom>
          <a:noFill/>
          <a:ln>
            <a:noFill/>
          </a:ln>
        </p:spPr>
      </p:pic>
      <p:pic>
        <p:nvPicPr>
          <p:cNvPr descr="connector" id="379" name="Google Shape;379;p14"/>
          <p:cNvPicPr preferRelativeResize="0"/>
          <p:nvPr/>
        </p:nvPicPr>
        <p:blipFill rotWithShape="1">
          <a:blip r:embed="rId3">
            <a:alphaModFix/>
          </a:blip>
          <a:srcRect b="0" l="0" r="0" t="0"/>
          <a:stretch/>
        </p:blipFill>
        <p:spPr>
          <a:xfrm>
            <a:off x="8686800" y="2057400"/>
            <a:ext cx="76200" cy="4000500"/>
          </a:xfrm>
          <a:prstGeom prst="rect">
            <a:avLst/>
          </a:prstGeom>
          <a:noFill/>
          <a:ln>
            <a:noFill/>
          </a:ln>
        </p:spPr>
      </p:pic>
      <p:pic>
        <p:nvPicPr>
          <p:cNvPr descr="connector" id="380" name="Google Shape;380;p14"/>
          <p:cNvPicPr preferRelativeResize="0"/>
          <p:nvPr/>
        </p:nvPicPr>
        <p:blipFill rotWithShape="1">
          <a:blip r:embed="rId3">
            <a:alphaModFix/>
          </a:blip>
          <a:srcRect b="0" l="0" r="0" t="0"/>
          <a:stretch/>
        </p:blipFill>
        <p:spPr>
          <a:xfrm>
            <a:off x="10445750" y="2057400"/>
            <a:ext cx="76200" cy="4000500"/>
          </a:xfrm>
          <a:prstGeom prst="rect">
            <a:avLst/>
          </a:prstGeom>
          <a:noFill/>
          <a:ln>
            <a:noFill/>
          </a:ln>
        </p:spPr>
      </p:pic>
      <p:pic>
        <p:nvPicPr>
          <p:cNvPr descr="connector" id="381" name="Google Shape;381;p14"/>
          <p:cNvPicPr preferRelativeResize="0"/>
          <p:nvPr/>
        </p:nvPicPr>
        <p:blipFill rotWithShape="1">
          <a:blip r:embed="rId4">
            <a:alphaModFix/>
          </a:blip>
          <a:srcRect b="0" l="0" r="0" t="0"/>
          <a:stretch/>
        </p:blipFill>
        <p:spPr>
          <a:xfrm>
            <a:off x="1638300" y="2438400"/>
            <a:ext cx="1860550" cy="101600"/>
          </a:xfrm>
          <a:prstGeom prst="rect">
            <a:avLst/>
          </a:prstGeom>
          <a:noFill/>
          <a:ln>
            <a:noFill/>
          </a:ln>
        </p:spPr>
      </p:pic>
      <p:pic>
        <p:nvPicPr>
          <p:cNvPr descr="connector" id="382" name="Google Shape;382;p14"/>
          <p:cNvPicPr preferRelativeResize="0"/>
          <p:nvPr/>
        </p:nvPicPr>
        <p:blipFill rotWithShape="1">
          <a:blip r:embed="rId4">
            <a:alphaModFix/>
          </a:blip>
          <a:srcRect b="0" l="0" r="0" t="0"/>
          <a:stretch/>
        </p:blipFill>
        <p:spPr>
          <a:xfrm>
            <a:off x="3397250" y="3124200"/>
            <a:ext cx="1860550" cy="101600"/>
          </a:xfrm>
          <a:prstGeom prst="rect">
            <a:avLst/>
          </a:prstGeom>
          <a:noFill/>
          <a:ln>
            <a:noFill/>
          </a:ln>
        </p:spPr>
      </p:pic>
      <p:pic>
        <p:nvPicPr>
          <p:cNvPr descr="connector" id="383" name="Google Shape;383;p14"/>
          <p:cNvPicPr preferRelativeResize="0"/>
          <p:nvPr/>
        </p:nvPicPr>
        <p:blipFill rotWithShape="1">
          <a:blip r:embed="rId4">
            <a:alphaModFix/>
          </a:blip>
          <a:srcRect b="0" l="0" r="0" t="0"/>
          <a:stretch/>
        </p:blipFill>
        <p:spPr>
          <a:xfrm>
            <a:off x="5156200" y="3467100"/>
            <a:ext cx="1860550" cy="101600"/>
          </a:xfrm>
          <a:prstGeom prst="rect">
            <a:avLst/>
          </a:prstGeom>
          <a:noFill/>
          <a:ln>
            <a:noFill/>
          </a:ln>
        </p:spPr>
      </p:pic>
      <p:pic>
        <p:nvPicPr>
          <p:cNvPr descr="connector" id="384" name="Google Shape;384;p14"/>
          <p:cNvPicPr preferRelativeResize="0"/>
          <p:nvPr/>
        </p:nvPicPr>
        <p:blipFill rotWithShape="1">
          <a:blip r:embed="rId4">
            <a:alphaModFix/>
          </a:blip>
          <a:srcRect b="0" l="0" r="0" t="0"/>
          <a:stretch/>
        </p:blipFill>
        <p:spPr>
          <a:xfrm>
            <a:off x="6915150" y="3810000"/>
            <a:ext cx="1860550" cy="101600"/>
          </a:xfrm>
          <a:prstGeom prst="rect">
            <a:avLst/>
          </a:prstGeom>
          <a:noFill/>
          <a:ln>
            <a:noFill/>
          </a:ln>
        </p:spPr>
      </p:pic>
      <p:pic>
        <p:nvPicPr>
          <p:cNvPr descr="connector" id="385" name="Google Shape;385;p14"/>
          <p:cNvPicPr preferRelativeResize="0"/>
          <p:nvPr/>
        </p:nvPicPr>
        <p:blipFill rotWithShape="1">
          <a:blip r:embed="rId4">
            <a:alphaModFix/>
          </a:blip>
          <a:srcRect b="0" l="0" r="0" t="0"/>
          <a:stretch/>
        </p:blipFill>
        <p:spPr>
          <a:xfrm>
            <a:off x="8674100" y="4152900"/>
            <a:ext cx="1860550" cy="101600"/>
          </a:xfrm>
          <a:prstGeom prst="rect">
            <a:avLst/>
          </a:prstGeom>
          <a:noFill/>
          <a:ln>
            <a:noFill/>
          </a:ln>
        </p:spPr>
      </p:pic>
      <p:sp>
        <p:nvSpPr>
          <p:cNvPr id="386" name="Google Shape;386;p14"/>
          <p:cNvSpPr/>
          <p:nvPr/>
        </p:nvSpPr>
        <p:spPr>
          <a:xfrm>
            <a:off x="1778000" y="2254250"/>
            <a:ext cx="158115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1. shortcut</a:t>
            </a:r>
            <a:endParaRPr b="0" i="0" sz="1200" u="none" cap="none" strike="noStrike">
              <a:solidFill>
                <a:schemeClr val="dk1"/>
              </a:solidFill>
              <a:latin typeface="IBM Plex Sans"/>
              <a:ea typeface="IBM Plex Sans"/>
              <a:cs typeface="IBM Plex Sans"/>
              <a:sym typeface="IBM Plex Sans"/>
            </a:endParaRPr>
          </a:p>
        </p:txBody>
      </p:sp>
      <p:sp>
        <p:nvSpPr>
          <p:cNvPr id="387" name="Google Shape;387;p14"/>
          <p:cNvSpPr/>
          <p:nvPr/>
        </p:nvSpPr>
        <p:spPr>
          <a:xfrm>
            <a:off x="3524250" y="2679700"/>
            <a:ext cx="1460500" cy="203200"/>
          </a:xfrm>
          <a:prstGeom prst="roundRect">
            <a:avLst>
              <a:gd fmla="val 25000" name="adj"/>
            </a:avLst>
          </a:prstGeom>
          <a:solidFill>
            <a:srgbClr val="FBE6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3600450" y="2692400"/>
            <a:ext cx="1358900" cy="203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2. SplitPane</a:t>
            </a:r>
            <a:endParaRPr b="0" i="0" sz="1200" u="none" cap="none" strike="noStrike">
              <a:solidFill>
                <a:schemeClr val="dk1"/>
              </a:solidFill>
              <a:latin typeface="IBM Plex Sans"/>
              <a:ea typeface="IBM Plex Sans"/>
              <a:cs typeface="IBM Plex Sans"/>
              <a:sym typeface="IBM Plex Sans"/>
            </a:endParaRPr>
          </a:p>
        </p:txBody>
      </p:sp>
      <p:sp>
        <p:nvSpPr>
          <p:cNvPr id="389" name="Google Shape;389;p14"/>
          <p:cNvSpPr/>
          <p:nvPr/>
        </p:nvSpPr>
        <p:spPr>
          <a:xfrm>
            <a:off x="3536950" y="2940050"/>
            <a:ext cx="158115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3. split pane</a:t>
            </a:r>
            <a:endParaRPr b="0" i="0" sz="1200" u="none" cap="none" strike="noStrike">
              <a:solidFill>
                <a:schemeClr val="dk1"/>
              </a:solidFill>
              <a:latin typeface="IBM Plex Sans"/>
              <a:ea typeface="IBM Plex Sans"/>
              <a:cs typeface="IBM Plex Sans"/>
              <a:sym typeface="IBM Plex Sans"/>
            </a:endParaRPr>
          </a:p>
        </p:txBody>
      </p:sp>
      <p:sp>
        <p:nvSpPr>
          <p:cNvPr id="390" name="Google Shape;390;p14"/>
          <p:cNvSpPr/>
          <p:nvPr/>
        </p:nvSpPr>
        <p:spPr>
          <a:xfrm>
            <a:off x="5295900" y="3282950"/>
            <a:ext cx="158115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4. create pane</a:t>
            </a:r>
            <a:endParaRPr b="0" i="0" sz="1200" u="none" cap="none" strike="noStrike">
              <a:solidFill>
                <a:schemeClr val="dk1"/>
              </a:solidFill>
              <a:latin typeface="IBM Plex Sans"/>
              <a:ea typeface="IBM Plex Sans"/>
              <a:cs typeface="IBM Plex Sans"/>
              <a:sym typeface="IBM Plex Sans"/>
            </a:endParaRPr>
          </a:p>
        </p:txBody>
      </p:sp>
      <p:sp>
        <p:nvSpPr>
          <p:cNvPr id="391" name="Google Shape;391;p14"/>
          <p:cNvSpPr/>
          <p:nvPr/>
        </p:nvSpPr>
        <p:spPr>
          <a:xfrm>
            <a:off x="7054850" y="3625850"/>
            <a:ext cx="158115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5. open PTY</a:t>
            </a:r>
            <a:endParaRPr b="0" i="0" sz="1200" u="none" cap="none" strike="noStrike">
              <a:solidFill>
                <a:schemeClr val="dk1"/>
              </a:solidFill>
              <a:latin typeface="IBM Plex Sans"/>
              <a:ea typeface="IBM Plex Sans"/>
              <a:cs typeface="IBM Plex Sans"/>
              <a:sym typeface="IBM Plex Sans"/>
            </a:endParaRPr>
          </a:p>
        </p:txBody>
      </p:sp>
      <p:sp>
        <p:nvSpPr>
          <p:cNvPr id="392" name="Google Shape;392;p14"/>
          <p:cNvSpPr/>
          <p:nvPr/>
        </p:nvSpPr>
        <p:spPr>
          <a:xfrm>
            <a:off x="8813800" y="3968750"/>
            <a:ext cx="158115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6. spawn shell</a:t>
            </a:r>
            <a:endParaRPr b="0" i="0" sz="1200" u="none" cap="none" strike="noStrike">
              <a:solidFill>
                <a:schemeClr val="dk1"/>
              </a:solidFill>
              <a:latin typeface="IBM Plex Sans"/>
              <a:ea typeface="IBM Plex Sans"/>
              <a:cs typeface="IBM Plex Sans"/>
              <a:sym typeface="IBM Plex Sans"/>
            </a:endParaRPr>
          </a:p>
        </p:txBody>
      </p:sp>
      <p:sp>
        <p:nvSpPr>
          <p:cNvPr id="393" name="Google Shape;393;p14"/>
          <p:cNvSpPr/>
          <p:nvPr/>
        </p:nvSpPr>
        <p:spPr>
          <a:xfrm>
            <a:off x="8813800" y="4311650"/>
            <a:ext cx="158115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7. prompt</a:t>
            </a:r>
            <a:endParaRPr b="0" i="0" sz="1200" u="none" cap="none" strike="noStrike">
              <a:solidFill>
                <a:schemeClr val="dk1"/>
              </a:solidFill>
              <a:latin typeface="IBM Plex Sans"/>
              <a:ea typeface="IBM Plex Sans"/>
              <a:cs typeface="IBM Plex Sans"/>
              <a:sym typeface="IBM Plex Sans"/>
            </a:endParaRPr>
          </a:p>
        </p:txBody>
      </p:sp>
      <p:sp>
        <p:nvSpPr>
          <p:cNvPr id="394" name="Google Shape;394;p14"/>
          <p:cNvSpPr/>
          <p:nvPr/>
        </p:nvSpPr>
        <p:spPr>
          <a:xfrm>
            <a:off x="7054850" y="4654550"/>
            <a:ext cx="158115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8. read + parse</a:t>
            </a:r>
            <a:endParaRPr b="0" i="0" sz="1200" u="none" cap="none" strike="noStrike">
              <a:solidFill>
                <a:schemeClr val="dk1"/>
              </a:solidFill>
              <a:latin typeface="IBM Plex Sans"/>
              <a:ea typeface="IBM Plex Sans"/>
              <a:cs typeface="IBM Plex Sans"/>
              <a:sym typeface="IBM Plex Sans"/>
            </a:endParaRPr>
          </a:p>
        </p:txBody>
      </p:sp>
      <p:sp>
        <p:nvSpPr>
          <p:cNvPr id="395" name="Google Shape;395;p14"/>
          <p:cNvSpPr/>
          <p:nvPr/>
        </p:nvSpPr>
        <p:spPr>
          <a:xfrm>
            <a:off x="5283200" y="5080000"/>
            <a:ext cx="1460500" cy="203200"/>
          </a:xfrm>
          <a:prstGeom prst="roundRect">
            <a:avLst>
              <a:gd fmla="val 25000"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p:nvPr/>
        </p:nvSpPr>
        <p:spPr>
          <a:xfrm>
            <a:off x="5359400" y="5092700"/>
            <a:ext cx="1358900" cy="203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9. add to tab</a:t>
            </a:r>
            <a:endParaRPr b="0" i="0" sz="1200" u="none" cap="none" strike="noStrike">
              <a:solidFill>
                <a:schemeClr val="dk1"/>
              </a:solidFill>
              <a:latin typeface="IBM Plex Sans"/>
              <a:ea typeface="IBM Plex Sans"/>
              <a:cs typeface="IBM Plex Sans"/>
              <a:sym typeface="IBM Plex Sans"/>
            </a:endParaRPr>
          </a:p>
        </p:txBody>
      </p:sp>
      <p:sp>
        <p:nvSpPr>
          <p:cNvPr id="397" name="Google Shape;397;p14"/>
          <p:cNvSpPr/>
          <p:nvPr/>
        </p:nvSpPr>
        <p:spPr>
          <a:xfrm>
            <a:off x="3536950" y="5340350"/>
            <a:ext cx="1581150" cy="2032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10. new layout</a:t>
            </a:r>
            <a:endParaRPr b="0" i="0" sz="1200" u="none" cap="none" strike="noStrike">
              <a:solidFill>
                <a:schemeClr val="dk1"/>
              </a:solidFill>
              <a:latin typeface="IBM Plex Sans"/>
              <a:ea typeface="IBM Plex Sans"/>
              <a:cs typeface="IBM Plex Sans"/>
              <a:sym typeface="IBM Plex Sans"/>
            </a:endParaRPr>
          </a:p>
        </p:txBody>
      </p:sp>
      <p:sp>
        <p:nvSpPr>
          <p:cNvPr id="398" name="Google Shape;398;p14"/>
          <p:cNvSpPr/>
          <p:nvPr/>
        </p:nvSpPr>
        <p:spPr>
          <a:xfrm>
            <a:off x="1778000" y="5683250"/>
            <a:ext cx="1581300" cy="203100"/>
          </a:xfrm>
          <a:prstGeom prst="rect">
            <a:avLst/>
          </a:prstGeom>
          <a:noFill/>
          <a:ln>
            <a:noFill/>
          </a:ln>
        </p:spPr>
        <p:txBody>
          <a:bodyPr anchorCtr="0" anchor="t" bIns="0" lIns="0" spcFirstLastPara="1" rIns="0" wrap="square" tIns="0">
            <a:normAutofit/>
          </a:bodyPr>
          <a:lstStyle/>
          <a:p>
            <a:pPr indent="0" lvl="0" marL="0" marR="0" rtl="0" algn="ctr">
              <a:lnSpc>
                <a:spcPct val="120000"/>
              </a:lnSpc>
              <a:spcBef>
                <a:spcPts val="0"/>
              </a:spcBef>
              <a:spcAft>
                <a:spcPts val="0"/>
              </a:spcAft>
              <a:buClr>
                <a:srgbClr val="1B1F27"/>
              </a:buClr>
              <a:buSzPts val="1200"/>
              <a:buFont typeface="IBM Plex Sans"/>
              <a:buNone/>
            </a:pPr>
            <a:r>
              <a:rPr b="0" i="0" lang="en-US" sz="1200" u="none" cap="none" strike="noStrike">
                <a:solidFill>
                  <a:srgbClr val="1B1F27"/>
                </a:solidFill>
                <a:latin typeface="IBM Plex Sans"/>
                <a:ea typeface="IBM Plex Sans"/>
                <a:cs typeface="IBM Plex Sans"/>
                <a:sym typeface="IBM Plex Sans"/>
              </a:rPr>
              <a:t>11. draw panes</a:t>
            </a:r>
            <a:endParaRPr b="0" i="0" sz="1200" u="none" cap="none" strike="noStrike">
              <a:solidFill>
                <a:schemeClr val="dk1"/>
              </a:solidFill>
              <a:latin typeface="IBM Plex Sans"/>
              <a:ea typeface="IBM Plex Sans"/>
              <a:cs typeface="IBM Plex Sans"/>
              <a:sym typeface="IBM Plex Sans"/>
            </a:endParaRPr>
          </a:p>
        </p:txBody>
      </p:sp>
      <p:cxnSp>
        <p:nvCxnSpPr>
          <p:cNvPr id="399" name="Google Shape;399;p14"/>
          <p:cNvCxnSpPr/>
          <p:nvPr/>
        </p:nvCxnSpPr>
        <p:spPr>
          <a:xfrm rot="10800000">
            <a:off x="1638300" y="5886350"/>
            <a:ext cx="1775700" cy="4800"/>
          </a:xfrm>
          <a:prstGeom prst="straightConnector1">
            <a:avLst/>
          </a:prstGeom>
          <a:noFill/>
          <a:ln cap="flat" cmpd="sng" w="22225">
            <a:solidFill>
              <a:srgbClr val="1155CC"/>
            </a:solidFill>
            <a:prstDash val="dash"/>
            <a:round/>
            <a:headEnd len="sm" w="sm" type="none"/>
            <a:tailEnd len="med" w="med" type="triangle"/>
          </a:ln>
        </p:spPr>
      </p:cxnSp>
      <p:cxnSp>
        <p:nvCxnSpPr>
          <p:cNvPr id="400" name="Google Shape;400;p14"/>
          <p:cNvCxnSpPr/>
          <p:nvPr/>
        </p:nvCxnSpPr>
        <p:spPr>
          <a:xfrm rot="10800000">
            <a:off x="3439675" y="5549900"/>
            <a:ext cx="1775700" cy="4800"/>
          </a:xfrm>
          <a:prstGeom prst="straightConnector1">
            <a:avLst/>
          </a:prstGeom>
          <a:noFill/>
          <a:ln cap="flat" cmpd="sng" w="22225">
            <a:solidFill>
              <a:srgbClr val="1155CC"/>
            </a:solidFill>
            <a:prstDash val="dash"/>
            <a:round/>
            <a:headEnd len="sm" w="sm" type="none"/>
            <a:tailEnd len="med" w="med" type="triangle"/>
          </a:ln>
        </p:spPr>
      </p:cxnSp>
      <p:cxnSp>
        <p:nvCxnSpPr>
          <p:cNvPr id="401" name="Google Shape;401;p14"/>
          <p:cNvCxnSpPr/>
          <p:nvPr/>
        </p:nvCxnSpPr>
        <p:spPr>
          <a:xfrm rot="10800000">
            <a:off x="6957575" y="4959350"/>
            <a:ext cx="1775700" cy="4800"/>
          </a:xfrm>
          <a:prstGeom prst="straightConnector1">
            <a:avLst/>
          </a:prstGeom>
          <a:noFill/>
          <a:ln cap="flat" cmpd="sng" w="22225">
            <a:solidFill>
              <a:srgbClr val="1155CC"/>
            </a:solidFill>
            <a:prstDash val="dash"/>
            <a:round/>
            <a:headEnd len="sm" w="sm" type="none"/>
            <a:tailEnd len="med" w="med" type="triangle"/>
          </a:ln>
        </p:spPr>
      </p:cxnSp>
      <p:cxnSp>
        <p:nvCxnSpPr>
          <p:cNvPr id="402" name="Google Shape;402;p14"/>
          <p:cNvCxnSpPr/>
          <p:nvPr/>
        </p:nvCxnSpPr>
        <p:spPr>
          <a:xfrm rot="10800000">
            <a:off x="8686800" y="4563250"/>
            <a:ext cx="1775700" cy="4800"/>
          </a:xfrm>
          <a:prstGeom prst="straightConnector1">
            <a:avLst/>
          </a:prstGeom>
          <a:noFill/>
          <a:ln cap="flat" cmpd="sng" w="22225">
            <a:solidFill>
              <a:srgbClr val="1155CC"/>
            </a:solidFill>
            <a:prstDash val="dash"/>
            <a:round/>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h470f9343440a3d41_0_39"/>
          <p:cNvSpPr txBox="1"/>
          <p:nvPr>
            <p:ph type="title"/>
          </p:nvPr>
        </p:nvSpPr>
        <p:spPr>
          <a:xfrm>
            <a:off x="812800" y="1111083"/>
            <a:ext cx="10883400" cy="412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B1F27"/>
              </a:buClr>
              <a:buSzPct val="100000"/>
              <a:buFont typeface="IBM Plex Sans"/>
              <a:buNone/>
            </a:pPr>
            <a:r>
              <a:rPr b="1" lang="en-US"/>
              <a:t>ChatGPT as a Teammate, Not a Source</a:t>
            </a:r>
            <a:endParaRPr sz="2800"/>
          </a:p>
        </p:txBody>
      </p:sp>
      <p:pic>
        <p:nvPicPr>
          <p:cNvPr id="409" name="Google Shape;409;h470f9343440a3d41_0_39"/>
          <p:cNvPicPr preferRelativeResize="0"/>
          <p:nvPr/>
        </p:nvPicPr>
        <p:blipFill>
          <a:blip r:embed="rId3">
            <a:alphaModFix/>
          </a:blip>
          <a:stretch>
            <a:fillRect/>
          </a:stretch>
        </p:blipFill>
        <p:spPr>
          <a:xfrm>
            <a:off x="211225" y="1796719"/>
            <a:ext cx="3781425" cy="4829175"/>
          </a:xfrm>
          <a:prstGeom prst="rect">
            <a:avLst/>
          </a:prstGeom>
          <a:noFill/>
          <a:ln>
            <a:noFill/>
          </a:ln>
        </p:spPr>
      </p:pic>
      <p:pic>
        <p:nvPicPr>
          <p:cNvPr id="410" name="Google Shape;410;h470f9343440a3d41_0_39"/>
          <p:cNvPicPr preferRelativeResize="0"/>
          <p:nvPr/>
        </p:nvPicPr>
        <p:blipFill>
          <a:blip r:embed="rId3">
            <a:alphaModFix/>
          </a:blip>
          <a:stretch>
            <a:fillRect/>
          </a:stretch>
        </p:blipFill>
        <p:spPr>
          <a:xfrm>
            <a:off x="4205275" y="1843769"/>
            <a:ext cx="3781425" cy="4829175"/>
          </a:xfrm>
          <a:prstGeom prst="rect">
            <a:avLst/>
          </a:prstGeom>
          <a:noFill/>
          <a:ln>
            <a:noFill/>
          </a:ln>
        </p:spPr>
      </p:pic>
      <p:pic>
        <p:nvPicPr>
          <p:cNvPr id="411" name="Google Shape;411;h470f9343440a3d41_0_39"/>
          <p:cNvPicPr preferRelativeResize="0"/>
          <p:nvPr/>
        </p:nvPicPr>
        <p:blipFill>
          <a:blip r:embed="rId3">
            <a:alphaModFix/>
          </a:blip>
          <a:stretch>
            <a:fillRect/>
          </a:stretch>
        </p:blipFill>
        <p:spPr>
          <a:xfrm>
            <a:off x="8199325" y="1796719"/>
            <a:ext cx="3781425" cy="4829175"/>
          </a:xfrm>
          <a:prstGeom prst="rect">
            <a:avLst/>
          </a:prstGeom>
          <a:noFill/>
          <a:ln>
            <a:noFill/>
          </a:ln>
        </p:spPr>
      </p:pic>
      <p:sp>
        <p:nvSpPr>
          <p:cNvPr id="412" name="Google Shape;412;h470f9343440a3d41_0_39"/>
          <p:cNvSpPr txBox="1"/>
          <p:nvPr/>
        </p:nvSpPr>
        <p:spPr>
          <a:xfrm>
            <a:off x="439788" y="2137750"/>
            <a:ext cx="33243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B1F27"/>
                </a:solidFill>
                <a:latin typeface="IBM Plex Sans"/>
                <a:ea typeface="IBM Plex Sans"/>
                <a:cs typeface="IBM Plex Sans"/>
                <a:sym typeface="IBM Plex Sans"/>
              </a:rPr>
              <a:t>Why we chose ChatGPT</a:t>
            </a:r>
            <a:endParaRPr b="1" sz="1600">
              <a:solidFill>
                <a:srgbClr val="1B1F27"/>
              </a:solidFill>
              <a:latin typeface="IBM Plex Sans"/>
              <a:ea typeface="IBM Plex Sans"/>
              <a:cs typeface="IBM Plex Sans"/>
              <a:sym typeface="IBM Plex Sans"/>
            </a:endParaRPr>
          </a:p>
        </p:txBody>
      </p:sp>
      <p:sp>
        <p:nvSpPr>
          <p:cNvPr id="413" name="Google Shape;413;h470f9343440a3d41_0_39"/>
          <p:cNvSpPr txBox="1"/>
          <p:nvPr/>
        </p:nvSpPr>
        <p:spPr>
          <a:xfrm>
            <a:off x="4592350" y="2137750"/>
            <a:ext cx="33243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B1F27"/>
                </a:solidFill>
                <a:latin typeface="IBM Plex Sans"/>
                <a:ea typeface="IBM Plex Sans"/>
                <a:cs typeface="IBM Plex Sans"/>
                <a:sym typeface="IBM Plex Sans"/>
              </a:rPr>
              <a:t>Prompting &amp; quality checks</a:t>
            </a:r>
            <a:endParaRPr b="1" sz="1600">
              <a:solidFill>
                <a:srgbClr val="1B1F27"/>
              </a:solidFill>
              <a:latin typeface="IBM Plex Sans"/>
              <a:ea typeface="IBM Plex Sans"/>
              <a:cs typeface="IBM Plex Sans"/>
              <a:sym typeface="IBM Plex Sans"/>
            </a:endParaRPr>
          </a:p>
        </p:txBody>
      </p:sp>
      <p:sp>
        <p:nvSpPr>
          <p:cNvPr id="414" name="Google Shape;414;h470f9343440a3d41_0_39"/>
          <p:cNvSpPr txBox="1"/>
          <p:nvPr/>
        </p:nvSpPr>
        <p:spPr>
          <a:xfrm>
            <a:off x="8427875" y="2137750"/>
            <a:ext cx="33243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B1F27"/>
                </a:solidFill>
                <a:latin typeface="IBM Plex Sans"/>
                <a:ea typeface="IBM Plex Sans"/>
                <a:cs typeface="IBM Plex Sans"/>
                <a:sym typeface="IBM Plex Sans"/>
              </a:rPr>
              <a:t>Estimated AI contribution</a:t>
            </a:r>
            <a:endParaRPr b="1" sz="1600">
              <a:solidFill>
                <a:srgbClr val="1B1F27"/>
              </a:solidFill>
              <a:latin typeface="IBM Plex Sans"/>
              <a:ea typeface="IBM Plex Sans"/>
              <a:cs typeface="IBM Plex Sans"/>
              <a:sym typeface="IBM Plex Sans"/>
            </a:endParaRPr>
          </a:p>
        </p:txBody>
      </p:sp>
      <p:sp>
        <p:nvSpPr>
          <p:cNvPr id="415" name="Google Shape;415;h470f9343440a3d41_0_39"/>
          <p:cNvSpPr txBox="1"/>
          <p:nvPr/>
        </p:nvSpPr>
        <p:spPr>
          <a:xfrm>
            <a:off x="439800" y="2697600"/>
            <a:ext cx="3324300" cy="9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B1F27"/>
                </a:solidFill>
                <a:latin typeface="IBM Plex Sans"/>
                <a:ea typeface="IBM Plex Sans"/>
                <a:cs typeface="IBM Plex Sans"/>
                <a:sym typeface="IBM Plex Sans"/>
              </a:rPr>
              <a:t>GPT-5.6 Sol (October 2026)</a:t>
            </a:r>
            <a:endParaRPr sz="1600">
              <a:solidFill>
                <a:srgbClr val="1B1F27"/>
              </a:solidFill>
              <a:latin typeface="IBM Plex Sans"/>
              <a:ea typeface="IBM Plex Sans"/>
              <a:cs typeface="IBM Plex Sans"/>
              <a:sym typeface="IBM Plex Sans"/>
            </a:endParaRPr>
          </a:p>
          <a:p>
            <a:pPr indent="0" lvl="0" marL="0" rtl="0" algn="l">
              <a:spcBef>
                <a:spcPts val="0"/>
              </a:spcBef>
              <a:spcAft>
                <a:spcPts val="0"/>
              </a:spcAft>
              <a:buNone/>
            </a:pPr>
            <a:r>
              <a:rPr lang="en-US" sz="1600">
                <a:solidFill>
                  <a:srgbClr val="1B1F27"/>
                </a:solidFill>
                <a:latin typeface="IBM Plex Sans"/>
                <a:ea typeface="IBM Plex Sans"/>
                <a:cs typeface="IBM Plex Sans"/>
                <a:sym typeface="IBM Plex Sans"/>
              </a:rPr>
              <a:t>Clear explanations</a:t>
            </a:r>
            <a:br>
              <a:rPr lang="en-US" sz="1600">
                <a:solidFill>
                  <a:srgbClr val="1B1F27"/>
                </a:solidFill>
                <a:latin typeface="IBM Plex Sans"/>
                <a:ea typeface="IBM Plex Sans"/>
                <a:cs typeface="IBM Plex Sans"/>
                <a:sym typeface="IBM Plex Sans"/>
              </a:rPr>
            </a:br>
            <a:r>
              <a:rPr lang="en-US" sz="1600">
                <a:solidFill>
                  <a:srgbClr val="1B1F27"/>
                </a:solidFill>
                <a:latin typeface="IBM Plex Sans"/>
                <a:ea typeface="IBM Plex Sans"/>
                <a:cs typeface="IBM Plex Sans"/>
                <a:sym typeface="IBM Plex Sans"/>
              </a:rPr>
              <a:t>Familiar to our group</a:t>
            </a:r>
            <a:endParaRPr sz="1600">
              <a:solidFill>
                <a:srgbClr val="1B1F27"/>
              </a:solidFill>
              <a:latin typeface="IBM Plex Sans"/>
              <a:ea typeface="IBM Plex Sans"/>
              <a:cs typeface="IBM Plex Sans"/>
              <a:sym typeface="IBM Plex Sans"/>
            </a:endParaRPr>
          </a:p>
        </p:txBody>
      </p:sp>
      <p:sp>
        <p:nvSpPr>
          <p:cNvPr id="416" name="Google Shape;416;h470f9343440a3d41_0_39"/>
          <p:cNvSpPr txBox="1"/>
          <p:nvPr/>
        </p:nvSpPr>
        <p:spPr>
          <a:xfrm>
            <a:off x="509875" y="3751700"/>
            <a:ext cx="3324300" cy="16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B1F27"/>
                </a:solidFill>
                <a:latin typeface="IBM Plex Sans"/>
                <a:ea typeface="IBM Plex Sans"/>
                <a:cs typeface="IBM Plex Sans"/>
                <a:sym typeface="IBM Plex Sans"/>
              </a:rPr>
              <a:t>How we used it</a:t>
            </a:r>
            <a:endParaRPr b="1">
              <a:solidFill>
                <a:srgbClr val="1B1F27"/>
              </a:solidFill>
              <a:latin typeface="IBM Plex Sans"/>
              <a:ea typeface="IBM Plex Sans"/>
              <a:cs typeface="IBM Plex Sans"/>
              <a:sym typeface="IBM Plex Sans"/>
            </a:endParaRPr>
          </a:p>
          <a:p>
            <a:pPr indent="-317500" lvl="0" marL="457200" rtl="0" algn="l">
              <a:spcBef>
                <a:spcPts val="0"/>
              </a:spcBef>
              <a:spcAft>
                <a:spcPts val="0"/>
              </a:spcAft>
              <a:buClr>
                <a:srgbClr val="1B1F27"/>
              </a:buClr>
              <a:buSzPts val="1400"/>
              <a:buFont typeface="IBM Plex Sans"/>
              <a:buChar char="-"/>
            </a:pPr>
            <a:r>
              <a:rPr lang="en-US">
                <a:solidFill>
                  <a:srgbClr val="1B1F27"/>
                </a:solidFill>
                <a:latin typeface="IBM Plex Sans"/>
                <a:ea typeface="IBM Plex Sans"/>
                <a:cs typeface="IBM Plex Sans"/>
                <a:sym typeface="IBM Plex Sans"/>
              </a:rPr>
              <a:t>Organised report sections</a:t>
            </a:r>
            <a:endParaRPr>
              <a:solidFill>
                <a:srgbClr val="1B1F27"/>
              </a:solidFill>
              <a:latin typeface="IBM Plex Sans"/>
              <a:ea typeface="IBM Plex Sans"/>
              <a:cs typeface="IBM Plex Sans"/>
              <a:sym typeface="IBM Plex Sans"/>
            </a:endParaRPr>
          </a:p>
          <a:p>
            <a:pPr indent="-317500" lvl="0" marL="457200" rtl="0" algn="l">
              <a:spcBef>
                <a:spcPts val="0"/>
              </a:spcBef>
              <a:spcAft>
                <a:spcPts val="0"/>
              </a:spcAft>
              <a:buClr>
                <a:srgbClr val="1B1F27"/>
              </a:buClr>
              <a:buSzPts val="1400"/>
              <a:buFont typeface="IBM Plex Sans"/>
              <a:buChar char="-"/>
            </a:pPr>
            <a:r>
              <a:rPr lang="en-US">
                <a:solidFill>
                  <a:srgbClr val="1B1F27"/>
                </a:solidFill>
                <a:latin typeface="IBM Plex Sans"/>
                <a:ea typeface="IBM Plex Sans"/>
                <a:cs typeface="IBM Plex Sans"/>
                <a:sym typeface="IBM Plex Sans"/>
              </a:rPr>
              <a:t>Explained mux, pane and PTY</a:t>
            </a:r>
            <a:endParaRPr>
              <a:solidFill>
                <a:srgbClr val="1B1F27"/>
              </a:solidFill>
              <a:latin typeface="IBM Plex Sans"/>
              <a:ea typeface="IBM Plex Sans"/>
              <a:cs typeface="IBM Plex Sans"/>
              <a:sym typeface="IBM Plex Sans"/>
            </a:endParaRPr>
          </a:p>
          <a:p>
            <a:pPr indent="-317500" lvl="0" marL="457200" rtl="0" algn="l">
              <a:spcBef>
                <a:spcPts val="0"/>
              </a:spcBef>
              <a:spcAft>
                <a:spcPts val="0"/>
              </a:spcAft>
              <a:buClr>
                <a:srgbClr val="1B1F27"/>
              </a:buClr>
              <a:buSzPts val="1400"/>
              <a:buFont typeface="IBM Plex Sans"/>
              <a:buChar char="-"/>
            </a:pPr>
            <a:r>
              <a:rPr lang="en-US">
                <a:solidFill>
                  <a:srgbClr val="1B1F27"/>
                </a:solidFill>
                <a:latin typeface="IBM Plex Sans"/>
                <a:ea typeface="IBM Plex Sans"/>
                <a:cs typeface="IBM Plex Sans"/>
                <a:sym typeface="IBM Plex Sans"/>
              </a:rPr>
              <a:t>Improved wording and clarity</a:t>
            </a:r>
            <a:endParaRPr>
              <a:solidFill>
                <a:srgbClr val="1B1F27"/>
              </a:solidFill>
              <a:latin typeface="IBM Plex Sans"/>
              <a:ea typeface="IBM Plex Sans"/>
              <a:cs typeface="IBM Plex Sans"/>
              <a:sym typeface="IBM Plex Sans"/>
            </a:endParaRPr>
          </a:p>
          <a:p>
            <a:pPr indent="-317500" lvl="0" marL="457200" rtl="0" algn="l">
              <a:spcBef>
                <a:spcPts val="0"/>
              </a:spcBef>
              <a:spcAft>
                <a:spcPts val="0"/>
              </a:spcAft>
              <a:buClr>
                <a:srgbClr val="1B1F27"/>
              </a:buClr>
              <a:buSzPts val="1400"/>
              <a:buFont typeface="IBM Plex Sans"/>
              <a:buChar char="-"/>
            </a:pPr>
            <a:r>
              <a:rPr lang="en-US">
                <a:solidFill>
                  <a:srgbClr val="1B1F27"/>
                </a:solidFill>
                <a:latin typeface="IBM Plex Sans"/>
                <a:ea typeface="IBM Plex Sans"/>
                <a:cs typeface="IBM Plex Sans"/>
                <a:sym typeface="IBM Plex Sans"/>
              </a:rPr>
              <a:t>Brainstormed sequence steps</a:t>
            </a:r>
            <a:endParaRPr>
              <a:solidFill>
                <a:srgbClr val="1B1F27"/>
              </a:solidFill>
              <a:latin typeface="IBM Plex Sans"/>
              <a:ea typeface="IBM Plex Sans"/>
              <a:cs typeface="IBM Plex Sans"/>
              <a:sym typeface="IBM Plex Sans"/>
            </a:endParaRPr>
          </a:p>
        </p:txBody>
      </p:sp>
      <p:sp>
        <p:nvSpPr>
          <p:cNvPr id="417" name="Google Shape;417;h470f9343440a3d41_0_39"/>
          <p:cNvSpPr txBox="1"/>
          <p:nvPr/>
        </p:nvSpPr>
        <p:spPr>
          <a:xfrm>
            <a:off x="4496275" y="2697600"/>
            <a:ext cx="3324300" cy="3285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1B1F27"/>
              </a:buClr>
              <a:buSzPts val="1600"/>
              <a:buFont typeface="IBM Plex Sans"/>
              <a:buAutoNum type="arabicPeriod"/>
            </a:pPr>
            <a:r>
              <a:rPr lang="en-US" sz="1600">
                <a:solidFill>
                  <a:srgbClr val="1B1F27"/>
                </a:solidFill>
                <a:latin typeface="IBM Plex Sans"/>
                <a:ea typeface="IBM Plex Sans"/>
                <a:cs typeface="IBM Plex Sans"/>
                <a:sym typeface="IBM Plex Sans"/>
              </a:rPr>
              <a:t>Agree on a question and </a:t>
            </a:r>
            <a:r>
              <a:rPr lang="en-US" sz="1600">
                <a:solidFill>
                  <a:srgbClr val="1B1F27"/>
                </a:solidFill>
                <a:latin typeface="IBM Plex Sans"/>
                <a:ea typeface="IBM Plex Sans"/>
                <a:cs typeface="IBM Plex Sans"/>
                <a:sym typeface="IBM Plex Sans"/>
              </a:rPr>
              <a:t>research</a:t>
            </a:r>
            <a:r>
              <a:rPr lang="en-US" sz="1600">
                <a:solidFill>
                  <a:srgbClr val="1B1F27"/>
                </a:solidFill>
                <a:latin typeface="IBM Plex Sans"/>
                <a:ea typeface="IBM Plex Sans"/>
                <a:cs typeface="IBM Plex Sans"/>
                <a:sym typeface="IBM Plex Sans"/>
              </a:rPr>
              <a:t> it</a:t>
            </a:r>
            <a:endParaRPr sz="1600">
              <a:solidFill>
                <a:srgbClr val="1B1F27"/>
              </a:solidFill>
              <a:latin typeface="IBM Plex Sans"/>
              <a:ea typeface="IBM Plex Sans"/>
              <a:cs typeface="IBM Plex Sans"/>
              <a:sym typeface="IBM Plex Sans"/>
            </a:endParaRPr>
          </a:p>
          <a:p>
            <a:pPr indent="0" lvl="0" marL="0" rtl="0" algn="l">
              <a:spcBef>
                <a:spcPts val="0"/>
              </a:spcBef>
              <a:spcAft>
                <a:spcPts val="0"/>
              </a:spcAft>
              <a:buNone/>
            </a:pPr>
            <a:r>
              <a:t/>
            </a:r>
            <a:endParaRPr sz="1600">
              <a:solidFill>
                <a:srgbClr val="1B1F27"/>
              </a:solidFill>
              <a:latin typeface="IBM Plex Sans"/>
              <a:ea typeface="IBM Plex Sans"/>
              <a:cs typeface="IBM Plex Sans"/>
              <a:sym typeface="IBM Plex Sans"/>
            </a:endParaRPr>
          </a:p>
          <a:p>
            <a:pPr indent="-330200" lvl="0" marL="457200" rtl="0" algn="l">
              <a:spcBef>
                <a:spcPts val="0"/>
              </a:spcBef>
              <a:spcAft>
                <a:spcPts val="0"/>
              </a:spcAft>
              <a:buClr>
                <a:srgbClr val="1B1F27"/>
              </a:buClr>
              <a:buSzPts val="1600"/>
              <a:buFont typeface="IBM Plex Sans"/>
              <a:buAutoNum type="arabicPeriod"/>
            </a:pPr>
            <a:r>
              <a:rPr lang="en-US" sz="1600">
                <a:solidFill>
                  <a:srgbClr val="1B1F27"/>
                </a:solidFill>
                <a:latin typeface="IBM Plex Sans"/>
                <a:ea typeface="IBM Plex Sans"/>
                <a:cs typeface="IBM Plex Sans"/>
                <a:sym typeface="IBM Plex Sans"/>
              </a:rPr>
              <a:t>Give </a:t>
            </a:r>
            <a:r>
              <a:rPr lang="en-US" sz="1600">
                <a:solidFill>
                  <a:srgbClr val="1B1F27"/>
                </a:solidFill>
                <a:latin typeface="IBM Plex Sans"/>
                <a:ea typeface="IBM Plex Sans"/>
                <a:cs typeface="IBM Plex Sans"/>
                <a:sym typeface="IBM Plex Sans"/>
              </a:rPr>
              <a:t>c</a:t>
            </a:r>
            <a:r>
              <a:rPr lang="en-US" sz="1600">
                <a:solidFill>
                  <a:srgbClr val="1B1F27"/>
                </a:solidFill>
                <a:latin typeface="IBM Plex Sans"/>
                <a:ea typeface="IBM Plex Sans"/>
                <a:cs typeface="IBM Plex Sans"/>
                <a:sym typeface="IBM Plex Sans"/>
              </a:rPr>
              <a:t>ontext and clear limits</a:t>
            </a:r>
            <a:endParaRPr sz="1600">
              <a:solidFill>
                <a:srgbClr val="1B1F27"/>
              </a:solidFill>
              <a:latin typeface="IBM Plex Sans"/>
              <a:ea typeface="IBM Plex Sans"/>
              <a:cs typeface="IBM Plex Sans"/>
              <a:sym typeface="IBM Plex Sans"/>
            </a:endParaRPr>
          </a:p>
          <a:p>
            <a:pPr indent="0" lvl="0" marL="0" rtl="0" algn="l">
              <a:spcBef>
                <a:spcPts val="0"/>
              </a:spcBef>
              <a:spcAft>
                <a:spcPts val="0"/>
              </a:spcAft>
              <a:buNone/>
            </a:pPr>
            <a:r>
              <a:t/>
            </a:r>
            <a:endParaRPr sz="1600">
              <a:solidFill>
                <a:srgbClr val="1B1F27"/>
              </a:solidFill>
              <a:latin typeface="IBM Plex Sans"/>
              <a:ea typeface="IBM Plex Sans"/>
              <a:cs typeface="IBM Plex Sans"/>
              <a:sym typeface="IBM Plex Sans"/>
            </a:endParaRPr>
          </a:p>
          <a:p>
            <a:pPr indent="-330200" lvl="0" marL="457200" rtl="0" algn="l">
              <a:spcBef>
                <a:spcPts val="0"/>
              </a:spcBef>
              <a:spcAft>
                <a:spcPts val="0"/>
              </a:spcAft>
              <a:buClr>
                <a:srgbClr val="1B1F27"/>
              </a:buClr>
              <a:buSzPts val="1600"/>
              <a:buFont typeface="IBM Plex Sans"/>
              <a:buAutoNum type="arabicPeriod"/>
            </a:pPr>
            <a:r>
              <a:rPr lang="en-US" sz="1600">
                <a:solidFill>
                  <a:srgbClr val="1B1F27"/>
                </a:solidFill>
                <a:latin typeface="IBM Plex Sans"/>
                <a:ea typeface="IBM Plex Sans"/>
                <a:cs typeface="IBM Plex Sans"/>
                <a:sym typeface="IBM Plex Sans"/>
              </a:rPr>
              <a:t>Review and refine AI responses</a:t>
            </a:r>
            <a:endParaRPr sz="1600">
              <a:solidFill>
                <a:srgbClr val="1B1F27"/>
              </a:solidFill>
              <a:latin typeface="IBM Plex Sans"/>
              <a:ea typeface="IBM Plex Sans"/>
              <a:cs typeface="IBM Plex Sans"/>
              <a:sym typeface="IBM Plex Sans"/>
            </a:endParaRPr>
          </a:p>
          <a:p>
            <a:pPr indent="0" lvl="0" marL="0" rtl="0" algn="l">
              <a:spcBef>
                <a:spcPts val="0"/>
              </a:spcBef>
              <a:spcAft>
                <a:spcPts val="0"/>
              </a:spcAft>
              <a:buNone/>
            </a:pPr>
            <a:r>
              <a:t/>
            </a:r>
            <a:endParaRPr sz="1600">
              <a:solidFill>
                <a:srgbClr val="1B1F27"/>
              </a:solidFill>
              <a:latin typeface="IBM Plex Sans"/>
              <a:ea typeface="IBM Plex Sans"/>
              <a:cs typeface="IBM Plex Sans"/>
              <a:sym typeface="IBM Plex Sans"/>
            </a:endParaRPr>
          </a:p>
          <a:p>
            <a:pPr indent="-330200" lvl="0" marL="457200" rtl="0" algn="l">
              <a:spcBef>
                <a:spcPts val="0"/>
              </a:spcBef>
              <a:spcAft>
                <a:spcPts val="0"/>
              </a:spcAft>
              <a:buClr>
                <a:srgbClr val="1B1F27"/>
              </a:buClr>
              <a:buSzPts val="1600"/>
              <a:buFont typeface="IBM Plex Sans"/>
              <a:buAutoNum type="arabicPeriod"/>
            </a:pPr>
            <a:r>
              <a:rPr lang="en-US" sz="1600">
                <a:solidFill>
                  <a:srgbClr val="1B1F27"/>
                </a:solidFill>
                <a:latin typeface="IBM Plex Sans"/>
                <a:ea typeface="IBM Plex Sans"/>
                <a:cs typeface="IBM Plex Sans"/>
                <a:sym typeface="IBM Plex Sans"/>
              </a:rPr>
              <a:t>Verify claims against WezTerm docs</a:t>
            </a:r>
            <a:endParaRPr sz="1600">
              <a:solidFill>
                <a:srgbClr val="1B1F27"/>
              </a:solidFill>
              <a:latin typeface="IBM Plex Sans"/>
              <a:ea typeface="IBM Plex Sans"/>
              <a:cs typeface="IBM Plex Sans"/>
              <a:sym typeface="IBM Plex Sans"/>
            </a:endParaRPr>
          </a:p>
          <a:p>
            <a:pPr indent="0" lvl="0" marL="0" rtl="0" algn="l">
              <a:spcBef>
                <a:spcPts val="0"/>
              </a:spcBef>
              <a:spcAft>
                <a:spcPts val="0"/>
              </a:spcAft>
              <a:buNone/>
            </a:pPr>
            <a:r>
              <a:t/>
            </a:r>
            <a:endParaRPr sz="1600">
              <a:solidFill>
                <a:srgbClr val="1B1F27"/>
              </a:solidFill>
              <a:latin typeface="IBM Plex Sans"/>
              <a:ea typeface="IBM Plex Sans"/>
              <a:cs typeface="IBM Plex Sans"/>
              <a:sym typeface="IBM Plex Sans"/>
            </a:endParaRPr>
          </a:p>
          <a:p>
            <a:pPr indent="-330200" lvl="0" marL="457200" rtl="0" algn="l">
              <a:spcBef>
                <a:spcPts val="0"/>
              </a:spcBef>
              <a:spcAft>
                <a:spcPts val="0"/>
              </a:spcAft>
              <a:buClr>
                <a:srgbClr val="1B1F27"/>
              </a:buClr>
              <a:buSzPts val="1600"/>
              <a:buFont typeface="IBM Plex Sans"/>
              <a:buAutoNum type="arabicPeriod"/>
            </a:pPr>
            <a:r>
              <a:rPr lang="en-US" sz="1600">
                <a:solidFill>
                  <a:srgbClr val="1B1F27"/>
                </a:solidFill>
                <a:latin typeface="IBM Plex Sans"/>
                <a:ea typeface="IBM Plex Sans"/>
                <a:cs typeface="IBM Plex Sans"/>
                <a:sym typeface="IBM Plex Sans"/>
              </a:rPr>
              <a:t>Group reviews </a:t>
            </a:r>
            <a:r>
              <a:rPr lang="en-US" sz="1600">
                <a:solidFill>
                  <a:srgbClr val="1B1F27"/>
                </a:solidFill>
                <a:latin typeface="IBM Plex Sans"/>
                <a:ea typeface="IBM Plex Sans"/>
                <a:cs typeface="IBM Plex Sans"/>
                <a:sym typeface="IBM Plex Sans"/>
              </a:rPr>
              <a:t>accuracy</a:t>
            </a:r>
            <a:r>
              <a:rPr lang="en-US" sz="1600">
                <a:solidFill>
                  <a:srgbClr val="1B1F27"/>
                </a:solidFill>
                <a:latin typeface="IBM Plex Sans"/>
                <a:ea typeface="IBM Plex Sans"/>
                <a:cs typeface="IBM Plex Sans"/>
                <a:sym typeface="IBM Plex Sans"/>
              </a:rPr>
              <a:t> and diagrams</a:t>
            </a:r>
            <a:endParaRPr sz="1600">
              <a:solidFill>
                <a:srgbClr val="1B1F27"/>
              </a:solidFill>
              <a:latin typeface="IBM Plex Sans"/>
              <a:ea typeface="IBM Plex Sans"/>
              <a:cs typeface="IBM Plex Sans"/>
              <a:sym typeface="IBM Plex Sans"/>
            </a:endParaRPr>
          </a:p>
        </p:txBody>
      </p:sp>
      <p:sp>
        <p:nvSpPr>
          <p:cNvPr id="418" name="Google Shape;418;h470f9343440a3d41_0_39"/>
          <p:cNvSpPr/>
          <p:nvPr/>
        </p:nvSpPr>
        <p:spPr>
          <a:xfrm>
            <a:off x="8552750" y="3091350"/>
            <a:ext cx="2540100" cy="203100"/>
          </a:xfrm>
          <a:prstGeom prst="roundRect">
            <a:avLst>
              <a:gd fmla="val 18750" name="adj"/>
            </a:avLst>
          </a:prstGeom>
          <a:solidFill>
            <a:srgbClr val="B553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h470f9343440a3d41_0_39"/>
          <p:cNvSpPr txBox="1"/>
          <p:nvPr/>
        </p:nvSpPr>
        <p:spPr>
          <a:xfrm>
            <a:off x="8427875" y="2697600"/>
            <a:ext cx="19695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B1F27"/>
                </a:solidFill>
                <a:latin typeface="IBM Plex Sans"/>
                <a:ea typeface="IBM Plex Sans"/>
                <a:cs typeface="IBM Plex Sans"/>
                <a:sym typeface="IBM Plex Sans"/>
              </a:rPr>
              <a:t>Concepts 10%</a:t>
            </a:r>
            <a:endParaRPr sz="1600">
              <a:solidFill>
                <a:srgbClr val="1B1F27"/>
              </a:solidFill>
              <a:latin typeface="IBM Plex Sans"/>
              <a:ea typeface="IBM Plex Sans"/>
              <a:cs typeface="IBM Plex Sans"/>
              <a:sym typeface="IBM Plex Sans"/>
            </a:endParaRPr>
          </a:p>
        </p:txBody>
      </p:sp>
      <p:sp>
        <p:nvSpPr>
          <p:cNvPr id="420" name="Google Shape;420;h470f9343440a3d41_0_39"/>
          <p:cNvSpPr txBox="1"/>
          <p:nvPr/>
        </p:nvSpPr>
        <p:spPr>
          <a:xfrm>
            <a:off x="8427875" y="3417375"/>
            <a:ext cx="19695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B1F27"/>
                </a:solidFill>
                <a:latin typeface="IBM Plex Sans"/>
                <a:ea typeface="IBM Plex Sans"/>
                <a:cs typeface="IBM Plex Sans"/>
                <a:sym typeface="IBM Plex Sans"/>
              </a:rPr>
              <a:t>Organisation 8%</a:t>
            </a:r>
            <a:endParaRPr sz="1600">
              <a:solidFill>
                <a:srgbClr val="1B1F27"/>
              </a:solidFill>
              <a:latin typeface="IBM Plex Sans"/>
              <a:ea typeface="IBM Plex Sans"/>
              <a:cs typeface="IBM Plex Sans"/>
              <a:sym typeface="IBM Plex Sans"/>
            </a:endParaRPr>
          </a:p>
        </p:txBody>
      </p:sp>
      <p:sp>
        <p:nvSpPr>
          <p:cNvPr id="421" name="Google Shape;421;h470f9343440a3d41_0_39"/>
          <p:cNvSpPr txBox="1"/>
          <p:nvPr/>
        </p:nvSpPr>
        <p:spPr>
          <a:xfrm>
            <a:off x="8427875" y="4036089"/>
            <a:ext cx="19695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B1F27"/>
                </a:solidFill>
                <a:latin typeface="IBM Plex Sans"/>
                <a:ea typeface="IBM Plex Sans"/>
                <a:cs typeface="IBM Plex Sans"/>
                <a:sym typeface="IBM Plex Sans"/>
              </a:rPr>
              <a:t>Wording 8</a:t>
            </a:r>
            <a:r>
              <a:rPr lang="en-US" sz="1600">
                <a:solidFill>
                  <a:srgbClr val="1B1F27"/>
                </a:solidFill>
                <a:latin typeface="IBM Plex Sans"/>
                <a:ea typeface="IBM Plex Sans"/>
                <a:cs typeface="IBM Plex Sans"/>
                <a:sym typeface="IBM Plex Sans"/>
              </a:rPr>
              <a:t>%</a:t>
            </a:r>
            <a:endParaRPr sz="1600">
              <a:solidFill>
                <a:srgbClr val="1B1F27"/>
              </a:solidFill>
              <a:latin typeface="IBM Plex Sans"/>
              <a:ea typeface="IBM Plex Sans"/>
              <a:cs typeface="IBM Plex Sans"/>
              <a:sym typeface="IBM Plex Sans"/>
            </a:endParaRPr>
          </a:p>
        </p:txBody>
      </p:sp>
      <p:sp>
        <p:nvSpPr>
          <p:cNvPr id="422" name="Google Shape;422;h470f9343440a3d41_0_39"/>
          <p:cNvSpPr txBox="1"/>
          <p:nvPr/>
        </p:nvSpPr>
        <p:spPr>
          <a:xfrm>
            <a:off x="8482675" y="4673355"/>
            <a:ext cx="19695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B1F27"/>
                </a:solidFill>
                <a:latin typeface="IBM Plex Sans"/>
                <a:ea typeface="IBM Plex Sans"/>
                <a:cs typeface="IBM Plex Sans"/>
                <a:sym typeface="IBM Plex Sans"/>
              </a:rPr>
              <a:t>Diagrams 5%</a:t>
            </a:r>
            <a:endParaRPr sz="1600">
              <a:solidFill>
                <a:srgbClr val="1B1F27"/>
              </a:solidFill>
              <a:latin typeface="IBM Plex Sans"/>
              <a:ea typeface="IBM Plex Sans"/>
              <a:cs typeface="IBM Plex Sans"/>
              <a:sym typeface="IBM Plex Sans"/>
            </a:endParaRPr>
          </a:p>
        </p:txBody>
      </p:sp>
      <p:sp>
        <p:nvSpPr>
          <p:cNvPr id="423" name="Google Shape;423;h470f9343440a3d41_0_39"/>
          <p:cNvSpPr txBox="1"/>
          <p:nvPr/>
        </p:nvSpPr>
        <p:spPr>
          <a:xfrm>
            <a:off x="8482675" y="5323673"/>
            <a:ext cx="19695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B1F27"/>
                </a:solidFill>
                <a:latin typeface="IBM Plex Sans"/>
                <a:ea typeface="IBM Plex Sans"/>
                <a:cs typeface="IBM Plex Sans"/>
                <a:sym typeface="IBM Plex Sans"/>
              </a:rPr>
              <a:t>Clarity 4</a:t>
            </a:r>
            <a:r>
              <a:rPr lang="en-US" sz="1600">
                <a:solidFill>
                  <a:srgbClr val="1B1F27"/>
                </a:solidFill>
                <a:latin typeface="IBM Plex Sans"/>
                <a:ea typeface="IBM Plex Sans"/>
                <a:cs typeface="IBM Plex Sans"/>
                <a:sym typeface="IBM Plex Sans"/>
              </a:rPr>
              <a:t>%</a:t>
            </a:r>
            <a:endParaRPr sz="1600">
              <a:solidFill>
                <a:srgbClr val="1B1F27"/>
              </a:solidFill>
              <a:latin typeface="IBM Plex Sans"/>
              <a:ea typeface="IBM Plex Sans"/>
              <a:cs typeface="IBM Plex Sans"/>
              <a:sym typeface="IBM Plex Sans"/>
            </a:endParaRPr>
          </a:p>
        </p:txBody>
      </p:sp>
      <p:sp>
        <p:nvSpPr>
          <p:cNvPr id="424" name="Google Shape;424;h470f9343440a3d41_0_39"/>
          <p:cNvSpPr/>
          <p:nvPr/>
        </p:nvSpPr>
        <p:spPr>
          <a:xfrm>
            <a:off x="8552750" y="3876092"/>
            <a:ext cx="2031900" cy="203100"/>
          </a:xfrm>
          <a:prstGeom prst="roundRect">
            <a:avLst>
              <a:gd fmla="val 18750" name="adj"/>
            </a:avLst>
          </a:prstGeom>
          <a:solidFill>
            <a:srgbClr val="B553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h470f9343440a3d41_0_39"/>
          <p:cNvSpPr/>
          <p:nvPr/>
        </p:nvSpPr>
        <p:spPr>
          <a:xfrm>
            <a:off x="8552750" y="4449184"/>
            <a:ext cx="2031900" cy="203100"/>
          </a:xfrm>
          <a:prstGeom prst="roundRect">
            <a:avLst>
              <a:gd fmla="val 18750" name="adj"/>
            </a:avLst>
          </a:prstGeom>
          <a:solidFill>
            <a:srgbClr val="B553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h470f9343440a3d41_0_39"/>
          <p:cNvSpPr/>
          <p:nvPr/>
        </p:nvSpPr>
        <p:spPr>
          <a:xfrm>
            <a:off x="8552750" y="5047342"/>
            <a:ext cx="1269900" cy="203100"/>
          </a:xfrm>
          <a:prstGeom prst="roundRect">
            <a:avLst>
              <a:gd fmla="val 18750" name="adj"/>
            </a:avLst>
          </a:prstGeom>
          <a:solidFill>
            <a:srgbClr val="B553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h470f9343440a3d41_0_39"/>
          <p:cNvSpPr/>
          <p:nvPr/>
        </p:nvSpPr>
        <p:spPr>
          <a:xfrm>
            <a:off x="8552750" y="5750811"/>
            <a:ext cx="1016100" cy="203100"/>
          </a:xfrm>
          <a:prstGeom prst="roundRect">
            <a:avLst>
              <a:gd fmla="val 18750" name="adj"/>
            </a:avLst>
          </a:prstGeom>
          <a:solidFill>
            <a:srgbClr val="B553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h470f9343440a3d41_0_39"/>
          <p:cNvSpPr/>
          <p:nvPr/>
        </p:nvSpPr>
        <p:spPr>
          <a:xfrm>
            <a:off x="812800" y="660825"/>
            <a:ext cx="10883400" cy="234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AI TEAMMATE · SELECTION AND </a:t>
            </a:r>
            <a:r>
              <a:rPr lang="en-US" spc="100" sz="1200">
                <a:solidFill>
                  <a:srgbClr val="B5530F"/>
                </a:solidFill>
                <a:latin typeface="JetBrains Mono"/>
                <a:ea typeface="JetBrains Mono"/>
                <a:cs typeface="JetBrains Mono"/>
                <a:sym typeface="JetBrains Mono"/>
              </a:rPr>
              <a:t>CONTROLS</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8"/>
        </a:solidFill>
      </p:bgPr>
    </p:bg>
    <p:spTree>
      <p:nvGrpSpPr>
        <p:cNvPr id="433" name="Shape 433"/>
        <p:cNvGrpSpPr/>
        <p:nvPr/>
      </p:nvGrpSpPr>
      <p:grpSpPr>
        <a:xfrm>
          <a:off x="0" y="0"/>
          <a:ext cx="0" cy="0"/>
          <a:chOff x="0" y="0"/>
          <a:chExt cx="0" cy="0"/>
        </a:xfrm>
      </p:grpSpPr>
      <p:sp>
        <p:nvSpPr>
          <p:cNvPr id="434" name="Google Shape;434;p17"/>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30F"/>
              </a:buClr>
              <a:buSzPts val="1200"/>
              <a:buFont typeface="JetBrains Mono"/>
              <a:buNone/>
            </a:pPr>
            <a:r>
              <a:rPr b="0" i="0" lang="en-US" spc="100" sz="1200" u="none" cap="none" strike="noStrike">
                <a:solidFill>
                  <a:srgbClr val="B5530F"/>
                </a:solidFill>
                <a:latin typeface="JetBrains Mono"/>
                <a:ea typeface="JetBrains Mono"/>
                <a:cs typeface="JetBrains Mono"/>
                <a:sym typeface="JetBrains Mono"/>
              </a:rPr>
              <a:t>LIMITATIONS</a:t>
            </a:r>
            <a:endParaRPr b="0" i="0" sz="1200" u="none" cap="none" strike="noStrike">
              <a:solidFill>
                <a:schemeClr val="dk1"/>
              </a:solidFill>
              <a:latin typeface="IBM Plex Sans"/>
              <a:ea typeface="IBM Plex Sans"/>
              <a:cs typeface="IBM Plex Sans"/>
              <a:sym typeface="IBM Plex Sans"/>
            </a:endParaRPr>
          </a:p>
        </p:txBody>
      </p:sp>
      <p:sp>
        <p:nvSpPr>
          <p:cNvPr id="435" name="Google Shape;435;p17"/>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1F27"/>
              </a:buClr>
              <a:buSzPts val="2800"/>
              <a:buFont typeface="IBM Plex Sans"/>
              <a:buNone/>
            </a:pPr>
            <a:r>
              <a:rPr b="1" i="0" lang="en-US" sz="2800">
                <a:solidFill>
                  <a:srgbClr val="1B1F27"/>
                </a:solidFill>
                <a:latin typeface="IBM Plex Sans"/>
                <a:ea typeface="IBM Plex Sans"/>
                <a:cs typeface="IBM Plex Sans"/>
                <a:sym typeface="IBM Plex Sans"/>
              </a:rPr>
              <a:t>What our findings can't claim yet</a:t>
            </a:r>
            <a:endParaRPr sz="2800"/>
          </a:p>
        </p:txBody>
      </p:sp>
      <p:sp>
        <p:nvSpPr>
          <p:cNvPr id="436" name="Google Shape;436;p17"/>
          <p:cNvSpPr/>
          <p:nvPr/>
        </p:nvSpPr>
        <p:spPr>
          <a:xfrm>
            <a:off x="815975" y="1793875"/>
            <a:ext cx="3380284" cy="1358900"/>
          </a:xfrm>
          <a:prstGeom prst="roundRect">
            <a:avLst>
              <a:gd fmla="val 7243"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7"/>
          <p:cNvSpPr/>
          <p:nvPr/>
        </p:nvSpPr>
        <p:spPr>
          <a:xfrm>
            <a:off x="1047750" y="2000250"/>
            <a:ext cx="3004236"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Mostly from docs</a:t>
            </a:r>
            <a:endParaRPr b="0" i="0" sz="1600" u="none" cap="none" strike="noStrike">
              <a:solidFill>
                <a:schemeClr val="dk1"/>
              </a:solidFill>
              <a:latin typeface="IBM Plex Sans"/>
              <a:ea typeface="IBM Plex Sans"/>
              <a:cs typeface="IBM Plex Sans"/>
              <a:sym typeface="IBM Plex Sans"/>
            </a:endParaRPr>
          </a:p>
        </p:txBody>
      </p:sp>
      <p:sp>
        <p:nvSpPr>
          <p:cNvPr id="438" name="Google Shape;438;p17"/>
          <p:cNvSpPr/>
          <p:nvPr/>
        </p:nvSpPr>
        <p:spPr>
          <a:xfrm>
            <a:off x="1047750" y="2317750"/>
            <a:ext cx="3004236" cy="654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Built from documentation and one source file. The real code may split things differently.</a:t>
            </a:r>
            <a:endParaRPr b="0" i="0" sz="1200" u="none" cap="none" strike="noStrike">
              <a:solidFill>
                <a:schemeClr val="dk1"/>
              </a:solidFill>
              <a:latin typeface="IBM Plex Sans"/>
              <a:ea typeface="IBM Plex Sans"/>
              <a:cs typeface="IBM Plex Sans"/>
              <a:sym typeface="IBM Plex Sans"/>
            </a:endParaRPr>
          </a:p>
        </p:txBody>
      </p:sp>
      <p:sp>
        <p:nvSpPr>
          <p:cNvPr id="439" name="Google Shape;439;p17"/>
          <p:cNvSpPr/>
          <p:nvPr/>
        </p:nvSpPr>
        <p:spPr>
          <a:xfrm>
            <a:off x="4405809" y="1793875"/>
            <a:ext cx="3380284" cy="1358900"/>
          </a:xfrm>
          <a:prstGeom prst="roundRect">
            <a:avLst>
              <a:gd fmla="val 7243"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7"/>
          <p:cNvSpPr/>
          <p:nvPr/>
        </p:nvSpPr>
        <p:spPr>
          <a:xfrm>
            <a:off x="4637584" y="2000250"/>
            <a:ext cx="3004236"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Not run-time checked</a:t>
            </a:r>
            <a:endParaRPr b="0" i="0" sz="1600" u="none" cap="none" strike="noStrike">
              <a:solidFill>
                <a:schemeClr val="dk1"/>
              </a:solidFill>
              <a:latin typeface="IBM Plex Sans"/>
              <a:ea typeface="IBM Plex Sans"/>
              <a:cs typeface="IBM Plex Sans"/>
              <a:sym typeface="IBM Plex Sans"/>
            </a:endParaRPr>
          </a:p>
        </p:txBody>
      </p:sp>
      <p:sp>
        <p:nvSpPr>
          <p:cNvPr id="441" name="Google Shape;441;p17"/>
          <p:cNvSpPr/>
          <p:nvPr/>
        </p:nvSpPr>
        <p:spPr>
          <a:xfrm>
            <a:off x="4637584" y="2317750"/>
            <a:ext cx="3004236" cy="654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We did not trace or profile WezTerm; the thread model comes from source and maintainer notes.</a:t>
            </a:r>
            <a:endParaRPr b="0" i="0" sz="1200" u="none" cap="none" strike="noStrike">
              <a:solidFill>
                <a:schemeClr val="dk1"/>
              </a:solidFill>
              <a:latin typeface="IBM Plex Sans"/>
              <a:ea typeface="IBM Plex Sans"/>
              <a:cs typeface="IBM Plex Sans"/>
              <a:sym typeface="IBM Plex Sans"/>
            </a:endParaRPr>
          </a:p>
        </p:txBody>
      </p:sp>
      <p:sp>
        <p:nvSpPr>
          <p:cNvPr id="442" name="Google Shape;442;p17"/>
          <p:cNvSpPr/>
          <p:nvPr/>
        </p:nvSpPr>
        <p:spPr>
          <a:xfrm>
            <a:off x="7995642" y="1793875"/>
            <a:ext cx="3380383" cy="1358900"/>
          </a:xfrm>
          <a:prstGeom prst="roundRect">
            <a:avLst>
              <a:gd fmla="val 7243"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a:off x="8227417" y="2000250"/>
            <a:ext cx="3004338"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Ownership is assumed</a:t>
            </a:r>
            <a:endParaRPr b="0" i="0" sz="1600" u="none" cap="none" strike="noStrike">
              <a:solidFill>
                <a:schemeClr val="dk1"/>
              </a:solidFill>
              <a:latin typeface="IBM Plex Sans"/>
              <a:ea typeface="IBM Plex Sans"/>
              <a:cs typeface="IBM Plex Sans"/>
              <a:sym typeface="IBM Plex Sans"/>
            </a:endParaRPr>
          </a:p>
        </p:txBody>
      </p:sp>
      <p:sp>
        <p:nvSpPr>
          <p:cNvPr id="444" name="Google Shape;444;p17"/>
          <p:cNvSpPr/>
          <p:nvPr/>
        </p:nvSpPr>
        <p:spPr>
          <a:xfrm>
            <a:off x="8227417" y="2317750"/>
            <a:ext cx="3004338" cy="444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The developer split follows the architecture, not actual contributor roles.</a:t>
            </a:r>
            <a:endParaRPr b="0" i="0" sz="1200" u="none" cap="none" strike="noStrike">
              <a:solidFill>
                <a:schemeClr val="dk1"/>
              </a:solidFill>
              <a:latin typeface="IBM Plex Sans"/>
              <a:ea typeface="IBM Plex Sans"/>
              <a:cs typeface="IBM Plex Sans"/>
              <a:sym typeface="IBM Plex Sans"/>
            </a:endParaRPr>
          </a:p>
        </p:txBody>
      </p:sp>
      <p:sp>
        <p:nvSpPr>
          <p:cNvPr id="445" name="Google Shape;445;p17"/>
          <p:cNvSpPr/>
          <p:nvPr/>
        </p:nvSpPr>
        <p:spPr>
          <a:xfrm>
            <a:off x="815975" y="3362325"/>
            <a:ext cx="3380284" cy="1358900"/>
          </a:xfrm>
          <a:prstGeom prst="roundRect">
            <a:avLst>
              <a:gd fmla="val 7243"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1047750" y="3568700"/>
            <a:ext cx="3004236"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A moving target</a:t>
            </a:r>
            <a:endParaRPr b="0" i="0" sz="1600" u="none" cap="none" strike="noStrike">
              <a:solidFill>
                <a:schemeClr val="dk1"/>
              </a:solidFill>
              <a:latin typeface="IBM Plex Sans"/>
              <a:ea typeface="IBM Plex Sans"/>
              <a:cs typeface="IBM Plex Sans"/>
              <a:sym typeface="IBM Plex Sans"/>
            </a:endParaRPr>
          </a:p>
        </p:txBody>
      </p:sp>
      <p:sp>
        <p:nvSpPr>
          <p:cNvPr id="447" name="Google Shape;447;p17"/>
          <p:cNvSpPr/>
          <p:nvPr/>
        </p:nvSpPr>
        <p:spPr>
          <a:xfrm>
            <a:off x="1047750" y="3886200"/>
            <a:ext cx="3004236" cy="444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No stable release since February 2024; nightly changes may not be documented.</a:t>
            </a:r>
            <a:endParaRPr b="0" i="0" sz="1200" u="none" cap="none" strike="noStrike">
              <a:solidFill>
                <a:schemeClr val="dk1"/>
              </a:solidFill>
              <a:latin typeface="IBM Plex Sans"/>
              <a:ea typeface="IBM Plex Sans"/>
              <a:cs typeface="IBM Plex Sans"/>
              <a:sym typeface="IBM Plex Sans"/>
            </a:endParaRPr>
          </a:p>
        </p:txBody>
      </p:sp>
      <p:sp>
        <p:nvSpPr>
          <p:cNvPr id="448" name="Google Shape;448;p17"/>
          <p:cNvSpPr/>
          <p:nvPr/>
        </p:nvSpPr>
        <p:spPr>
          <a:xfrm>
            <a:off x="4405809" y="3362325"/>
            <a:ext cx="3380284" cy="1358900"/>
          </a:xfrm>
          <a:prstGeom prst="roundRect">
            <a:avLst>
              <a:gd fmla="val 7243" name="adj"/>
            </a:avLst>
          </a:prstGeom>
          <a:solidFill>
            <a:srgbClr val="FFFDF9"/>
          </a:solidFill>
          <a:ln cap="flat" cmpd="sng" w="9525">
            <a:solidFill>
              <a:srgbClr val="E2D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
          <p:cNvSpPr/>
          <p:nvPr/>
        </p:nvSpPr>
        <p:spPr>
          <a:xfrm>
            <a:off x="4637584" y="3568700"/>
            <a:ext cx="3004236"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1F27"/>
              </a:buClr>
              <a:buSzPts val="1600"/>
              <a:buFont typeface="IBM Plex Sans"/>
              <a:buNone/>
            </a:pPr>
            <a:r>
              <a:rPr b="1" i="0" lang="en-US" sz="1600" u="none" cap="none" strike="noStrike">
                <a:solidFill>
                  <a:srgbClr val="1B1F27"/>
                </a:solidFill>
                <a:latin typeface="IBM Plex Sans"/>
                <a:ea typeface="IBM Plex Sans"/>
                <a:cs typeface="IBM Plex Sans"/>
                <a:sym typeface="IBM Plex Sans"/>
              </a:rPr>
              <a:t>Local cases only</a:t>
            </a:r>
            <a:endParaRPr b="0" i="0" sz="1600" u="none" cap="none" strike="noStrike">
              <a:solidFill>
                <a:schemeClr val="dk1"/>
              </a:solidFill>
              <a:latin typeface="IBM Plex Sans"/>
              <a:ea typeface="IBM Plex Sans"/>
              <a:cs typeface="IBM Plex Sans"/>
              <a:sym typeface="IBM Plex Sans"/>
            </a:endParaRPr>
          </a:p>
        </p:txBody>
      </p:sp>
      <p:sp>
        <p:nvSpPr>
          <p:cNvPr id="450" name="Google Shape;450;p17"/>
          <p:cNvSpPr/>
          <p:nvPr/>
        </p:nvSpPr>
        <p:spPr>
          <a:xfrm>
            <a:off x="4637584" y="3886200"/>
            <a:ext cx="3004236" cy="6540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05C"/>
              </a:buClr>
              <a:buSzPts val="1200"/>
              <a:buFont typeface="IBM Plex Sans"/>
              <a:buNone/>
            </a:pPr>
            <a:r>
              <a:rPr b="0" i="0" lang="en-US" sz="1200" u="none" cap="none" strike="noStrike">
                <a:solidFill>
                  <a:srgbClr val="4A505C"/>
                </a:solidFill>
                <a:latin typeface="IBM Plex Sans"/>
                <a:ea typeface="IBM Plex Sans"/>
                <a:cs typeface="IBM Plex Sans"/>
                <a:sym typeface="IBM Plex Sans"/>
              </a:rPr>
              <a:t>Both sequence diagrams are local sessions; the remote path is described but not diagrammed.</a:t>
            </a:r>
            <a:endParaRPr b="0" i="0" sz="1200" u="none" cap="none" strike="noStrike">
              <a:solidFill>
                <a:schemeClr val="dk1"/>
              </a:solidFill>
              <a:latin typeface="IBM Plex Sans"/>
              <a:ea typeface="IBM Plex Sans"/>
              <a:cs typeface="IBM Plex Sans"/>
              <a:sym typeface="IBM Plex Sans"/>
            </a:endParaRPr>
          </a:p>
        </p:txBody>
      </p:sp>
      <p:sp>
        <p:nvSpPr>
          <p:cNvPr id="451" name="Google Shape;451;p17"/>
          <p:cNvSpPr/>
          <p:nvPr/>
        </p:nvSpPr>
        <p:spPr>
          <a:xfrm>
            <a:off x="7992467" y="3359150"/>
            <a:ext cx="3386733" cy="1365250"/>
          </a:xfrm>
          <a:prstGeom prst="roundRect">
            <a:avLst>
              <a:gd fmla="val 7442" name="adj"/>
            </a:avLst>
          </a:prstGeom>
          <a:solidFill>
            <a:srgbClr val="151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7"/>
          <p:cNvSpPr/>
          <p:nvPr/>
        </p:nvSpPr>
        <p:spPr>
          <a:xfrm>
            <a:off x="8221067" y="3562350"/>
            <a:ext cx="3017419"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0A35E"/>
              </a:buClr>
              <a:buSzPts val="1600"/>
              <a:buFont typeface="IBM Plex Sans"/>
              <a:buNone/>
            </a:pPr>
            <a:r>
              <a:rPr b="1" i="0" lang="en-US" sz="1600" u="none" cap="none" strike="noStrike">
                <a:solidFill>
                  <a:srgbClr val="F0A35E"/>
                </a:solidFill>
                <a:latin typeface="IBM Plex Sans"/>
                <a:ea typeface="IBM Plex Sans"/>
                <a:cs typeface="IBM Plex Sans"/>
                <a:sym typeface="IBM Plex Sans"/>
              </a:rPr>
              <a:t>Next time</a:t>
            </a:r>
            <a:endParaRPr b="0" i="0" sz="1600" u="none" cap="none" strike="noStrike">
              <a:solidFill>
                <a:schemeClr val="dk1"/>
              </a:solidFill>
              <a:latin typeface="IBM Plex Sans"/>
              <a:ea typeface="IBM Plex Sans"/>
              <a:cs typeface="IBM Plex Sans"/>
              <a:sym typeface="IBM Plex Sans"/>
            </a:endParaRPr>
          </a:p>
        </p:txBody>
      </p:sp>
      <p:sp>
        <p:nvSpPr>
          <p:cNvPr id="453" name="Google Shape;453;p17"/>
          <p:cNvSpPr/>
          <p:nvPr/>
        </p:nvSpPr>
        <p:spPr>
          <a:xfrm>
            <a:off x="8221067" y="3879850"/>
            <a:ext cx="3017419" cy="444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0E8"/>
              </a:buClr>
              <a:buSzPts val="1200"/>
              <a:buFont typeface="IBM Plex Sans"/>
              <a:buNone/>
            </a:pPr>
            <a:r>
              <a:rPr b="0" i="0" lang="en-US" sz="1200" u="none" cap="none" strike="noStrike">
                <a:solidFill>
                  <a:srgbClr val="F4F0E8"/>
                </a:solidFill>
                <a:latin typeface="IBM Plex Sans"/>
                <a:ea typeface="IBM Plex Sans"/>
                <a:cs typeface="IBM Plex Sans"/>
                <a:sym typeface="IBM Plex Sans"/>
              </a:rPr>
              <a:t>Read the GUI and PTY source, and add a remote-session sequence diagram.</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8" name="Shape 458"/>
        <p:cNvGrpSpPr/>
        <p:nvPr/>
      </p:nvGrpSpPr>
      <p:grpSpPr>
        <a:xfrm>
          <a:off x="0" y="0"/>
          <a:ext cx="0" cy="0"/>
          <a:chOff x="0" y="0"/>
          <a:chExt cx="0" cy="0"/>
        </a:xfrm>
      </p:grpSpPr>
      <p:sp>
        <p:nvSpPr>
          <p:cNvPr id="459" name="Google Shape;459;p18"/>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5181E"/>
              </a:buClr>
              <a:buSzPts val="1200"/>
              <a:buFont typeface="JetBrains Mono"/>
              <a:buNone/>
            </a:pPr>
            <a:r>
              <a:rPr b="0" i="0" lang="en-US" spc="100" sz="1200" u="none" cap="none" strike="noStrike">
                <a:solidFill>
                  <a:srgbClr val="15181E"/>
                </a:solidFill>
                <a:latin typeface="JetBrains Mono"/>
                <a:ea typeface="JetBrains Mono"/>
                <a:cs typeface="JetBrains Mono"/>
                <a:sym typeface="JetBrains Mono"/>
              </a:rPr>
              <a:t>LESSONS  LEARNED</a:t>
            </a:r>
            <a:endParaRPr b="0" i="0" sz="1200" u="none" cap="none" strike="noStrike">
              <a:solidFill>
                <a:schemeClr val="dk1"/>
              </a:solidFill>
              <a:latin typeface="IBM Plex Sans"/>
              <a:ea typeface="IBM Plex Sans"/>
              <a:cs typeface="IBM Plex Sans"/>
              <a:sym typeface="IBM Plex Sans"/>
            </a:endParaRPr>
          </a:p>
        </p:txBody>
      </p:sp>
      <p:sp>
        <p:nvSpPr>
          <p:cNvPr id="460" name="Google Shape;460;p18"/>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5181E"/>
              </a:buClr>
              <a:buSzPts val="2800"/>
              <a:buFont typeface="IBM Plex Sans"/>
              <a:buNone/>
            </a:pPr>
            <a:r>
              <a:rPr b="1" i="0" lang="en-US" sz="2800">
                <a:solidFill>
                  <a:srgbClr val="15181E"/>
                </a:solidFill>
                <a:latin typeface="IBM Plex Sans"/>
                <a:ea typeface="IBM Plex Sans"/>
                <a:cs typeface="IBM Plex Sans"/>
                <a:sym typeface="IBM Plex Sans"/>
              </a:rPr>
              <a:t>What this project taught us</a:t>
            </a:r>
            <a:endParaRPr sz="2800"/>
          </a:p>
        </p:txBody>
      </p:sp>
      <p:sp>
        <p:nvSpPr>
          <p:cNvPr id="461" name="Google Shape;461;p18"/>
          <p:cNvSpPr/>
          <p:nvPr/>
        </p:nvSpPr>
        <p:spPr>
          <a:xfrm>
            <a:off x="812800" y="1841500"/>
            <a:ext cx="512088" cy="812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5181E"/>
              </a:buClr>
              <a:buSzPts val="2800"/>
              <a:buFont typeface="JetBrains Mono"/>
              <a:buNone/>
            </a:pPr>
            <a:r>
              <a:rPr b="1" i="0" lang="en-US" sz="2800" u="none" cap="none" strike="noStrike">
                <a:solidFill>
                  <a:srgbClr val="15181E"/>
                </a:solidFill>
                <a:latin typeface="JetBrains Mono"/>
                <a:ea typeface="JetBrains Mono"/>
                <a:cs typeface="JetBrains Mono"/>
                <a:sym typeface="JetBrains Mono"/>
              </a:rPr>
              <a:t>01</a:t>
            </a:r>
            <a:endParaRPr b="0" i="0" sz="2800" u="none" cap="none" strike="noStrike">
              <a:solidFill>
                <a:schemeClr val="dk1"/>
              </a:solidFill>
              <a:latin typeface="IBM Plex Sans"/>
              <a:ea typeface="IBM Plex Sans"/>
              <a:cs typeface="IBM Plex Sans"/>
              <a:sym typeface="IBM Plex Sans"/>
            </a:endParaRPr>
          </a:p>
        </p:txBody>
      </p:sp>
      <p:sp>
        <p:nvSpPr>
          <p:cNvPr id="462" name="Google Shape;462;p18"/>
          <p:cNvSpPr/>
          <p:nvPr/>
        </p:nvSpPr>
        <p:spPr>
          <a:xfrm>
            <a:off x="1417340" y="1841500"/>
            <a:ext cx="4819020"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5181E"/>
              </a:buClr>
              <a:buSzPts val="1600"/>
              <a:buFont typeface="IBM Plex Sans"/>
              <a:buNone/>
            </a:pPr>
            <a:r>
              <a:rPr b="1" i="0" lang="en-US" sz="1600" u="none" cap="none" strike="noStrike">
                <a:solidFill>
                  <a:srgbClr val="15181E"/>
                </a:solidFill>
                <a:latin typeface="IBM Plex Sans"/>
                <a:ea typeface="IBM Plex Sans"/>
                <a:cs typeface="IBM Plex Sans"/>
                <a:sym typeface="IBM Plex Sans"/>
              </a:rPr>
              <a:t>The split is the architecture</a:t>
            </a:r>
            <a:endParaRPr b="0" i="0" sz="1600" u="none" cap="none" strike="noStrike">
              <a:solidFill>
                <a:schemeClr val="dk1"/>
              </a:solidFill>
              <a:latin typeface="IBM Plex Sans"/>
              <a:ea typeface="IBM Plex Sans"/>
              <a:cs typeface="IBM Plex Sans"/>
              <a:sym typeface="IBM Plex Sans"/>
            </a:endParaRPr>
          </a:p>
        </p:txBody>
      </p:sp>
      <p:sp>
        <p:nvSpPr>
          <p:cNvPr id="463" name="Google Shape;463;p18"/>
          <p:cNvSpPr/>
          <p:nvPr/>
        </p:nvSpPr>
        <p:spPr>
          <a:xfrm>
            <a:off x="1417340" y="2133600"/>
            <a:ext cx="4819020"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2118"/>
              </a:buClr>
              <a:buSzPts val="1400"/>
              <a:buFont typeface="IBM Plex Sans"/>
              <a:buNone/>
            </a:pPr>
            <a:r>
              <a:rPr b="0" i="0" lang="en-US" sz="1400" u="none" cap="none" strike="noStrike">
                <a:solidFill>
                  <a:srgbClr val="2A2118"/>
                </a:solidFill>
                <a:latin typeface="IBM Plex Sans"/>
                <a:ea typeface="IBM Plex Sans"/>
                <a:cs typeface="IBM Plex Sans"/>
                <a:sym typeface="IBM Plex Sans"/>
              </a:rPr>
              <a:t>Separating the GUI from the mux explained remote sessions, headless use and the evolution history.</a:t>
            </a:r>
            <a:endParaRPr b="0" i="0" sz="1400" u="none" cap="none" strike="noStrike">
              <a:solidFill>
                <a:schemeClr val="dk1"/>
              </a:solidFill>
              <a:latin typeface="IBM Plex Sans"/>
              <a:ea typeface="IBM Plex Sans"/>
              <a:cs typeface="IBM Plex Sans"/>
              <a:sym typeface="IBM Plex Sans"/>
            </a:endParaRPr>
          </a:p>
        </p:txBody>
      </p:sp>
      <p:sp>
        <p:nvSpPr>
          <p:cNvPr id="464" name="Google Shape;464;p18"/>
          <p:cNvSpPr/>
          <p:nvPr/>
        </p:nvSpPr>
        <p:spPr>
          <a:xfrm>
            <a:off x="6096000" y="1841500"/>
            <a:ext cx="512088" cy="812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5181E"/>
              </a:buClr>
              <a:buSzPts val="2800"/>
              <a:buFont typeface="JetBrains Mono"/>
              <a:buNone/>
            </a:pPr>
            <a:r>
              <a:rPr b="1" i="0" lang="en-US" sz="2800" u="none" cap="none" strike="noStrike">
                <a:solidFill>
                  <a:srgbClr val="15181E"/>
                </a:solidFill>
                <a:latin typeface="JetBrains Mono"/>
                <a:ea typeface="JetBrains Mono"/>
                <a:cs typeface="JetBrains Mono"/>
                <a:sym typeface="JetBrains Mono"/>
              </a:rPr>
              <a:t>02</a:t>
            </a:r>
            <a:endParaRPr b="0" i="0" sz="2800" u="none" cap="none" strike="noStrike">
              <a:solidFill>
                <a:schemeClr val="dk1"/>
              </a:solidFill>
              <a:latin typeface="IBM Plex Sans"/>
              <a:ea typeface="IBM Plex Sans"/>
              <a:cs typeface="IBM Plex Sans"/>
              <a:sym typeface="IBM Plex Sans"/>
            </a:endParaRPr>
          </a:p>
        </p:txBody>
      </p:sp>
      <p:sp>
        <p:nvSpPr>
          <p:cNvPr id="465" name="Google Shape;465;p18"/>
          <p:cNvSpPr/>
          <p:nvPr/>
        </p:nvSpPr>
        <p:spPr>
          <a:xfrm>
            <a:off x="6700540" y="1841500"/>
            <a:ext cx="4819020"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5181E"/>
              </a:buClr>
              <a:buSzPts val="1600"/>
              <a:buFont typeface="IBM Plex Sans"/>
              <a:buNone/>
            </a:pPr>
            <a:r>
              <a:rPr b="1" i="0" lang="en-US" sz="1600" u="none" cap="none" strike="noStrike">
                <a:solidFill>
                  <a:srgbClr val="15181E"/>
                </a:solidFill>
                <a:latin typeface="IBM Plex Sans"/>
                <a:ea typeface="IBM Plex Sans"/>
                <a:cs typeface="IBM Plex Sans"/>
                <a:sym typeface="IBM Plex Sans"/>
              </a:rPr>
              <a:t>Use cases reveal roles</a:t>
            </a:r>
            <a:endParaRPr b="0" i="0" sz="1600" u="none" cap="none" strike="noStrike">
              <a:solidFill>
                <a:schemeClr val="dk1"/>
              </a:solidFill>
              <a:latin typeface="IBM Plex Sans"/>
              <a:ea typeface="IBM Plex Sans"/>
              <a:cs typeface="IBM Plex Sans"/>
              <a:sym typeface="IBM Plex Sans"/>
            </a:endParaRPr>
          </a:p>
        </p:txBody>
      </p:sp>
      <p:sp>
        <p:nvSpPr>
          <p:cNvPr id="466" name="Google Shape;466;p18"/>
          <p:cNvSpPr/>
          <p:nvPr/>
        </p:nvSpPr>
        <p:spPr>
          <a:xfrm>
            <a:off x="6700540" y="2133600"/>
            <a:ext cx="4819020"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2118"/>
              </a:buClr>
              <a:buSzPts val="1400"/>
              <a:buFont typeface="IBM Plex Sans"/>
              <a:buNone/>
            </a:pPr>
            <a:r>
              <a:rPr b="0" i="0" lang="en-US" sz="1400" u="none" cap="none" strike="noStrike">
                <a:solidFill>
                  <a:srgbClr val="2A2118"/>
                </a:solidFill>
                <a:latin typeface="IBM Plex Sans"/>
                <a:ea typeface="IBM Plex Sans"/>
                <a:cs typeface="IBM Plex Sans"/>
                <a:sym typeface="IBM Plex Sans"/>
              </a:rPr>
              <a:t>Tracing one keystroke and one split showed which part does what better than reading descriptions.</a:t>
            </a:r>
            <a:endParaRPr b="0" i="0" sz="1400" u="none" cap="none" strike="noStrike">
              <a:solidFill>
                <a:schemeClr val="dk1"/>
              </a:solidFill>
              <a:latin typeface="IBM Plex Sans"/>
              <a:ea typeface="IBM Plex Sans"/>
              <a:cs typeface="IBM Plex Sans"/>
              <a:sym typeface="IBM Plex Sans"/>
            </a:endParaRPr>
          </a:p>
        </p:txBody>
      </p:sp>
      <p:sp>
        <p:nvSpPr>
          <p:cNvPr id="467" name="Google Shape;467;p18"/>
          <p:cNvSpPr/>
          <p:nvPr/>
        </p:nvSpPr>
        <p:spPr>
          <a:xfrm>
            <a:off x="812800" y="2628900"/>
            <a:ext cx="512088" cy="812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5181E"/>
              </a:buClr>
              <a:buSzPts val="2800"/>
              <a:buFont typeface="JetBrains Mono"/>
              <a:buNone/>
            </a:pPr>
            <a:r>
              <a:rPr b="1" i="0" lang="en-US" sz="2800" u="none" cap="none" strike="noStrike">
                <a:solidFill>
                  <a:srgbClr val="15181E"/>
                </a:solidFill>
                <a:latin typeface="JetBrains Mono"/>
                <a:ea typeface="JetBrains Mono"/>
                <a:cs typeface="JetBrains Mono"/>
                <a:sym typeface="JetBrains Mono"/>
              </a:rPr>
              <a:t>03</a:t>
            </a:r>
            <a:endParaRPr b="0" i="0" sz="2800" u="none" cap="none" strike="noStrike">
              <a:solidFill>
                <a:schemeClr val="dk1"/>
              </a:solidFill>
              <a:latin typeface="IBM Plex Sans"/>
              <a:ea typeface="IBM Plex Sans"/>
              <a:cs typeface="IBM Plex Sans"/>
              <a:sym typeface="IBM Plex Sans"/>
            </a:endParaRPr>
          </a:p>
        </p:txBody>
      </p:sp>
      <p:sp>
        <p:nvSpPr>
          <p:cNvPr id="468" name="Google Shape;468;p18"/>
          <p:cNvSpPr/>
          <p:nvPr/>
        </p:nvSpPr>
        <p:spPr>
          <a:xfrm>
            <a:off x="1417340" y="2628900"/>
            <a:ext cx="4819020"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5181E"/>
              </a:buClr>
              <a:buSzPts val="1600"/>
              <a:buFont typeface="IBM Plex Sans"/>
              <a:buNone/>
            </a:pPr>
            <a:r>
              <a:rPr b="1" i="0" lang="en-US" sz="1600" u="none" cap="none" strike="noStrike">
                <a:solidFill>
                  <a:srgbClr val="15181E"/>
                </a:solidFill>
                <a:latin typeface="IBM Plex Sans"/>
                <a:ea typeface="IBM Plex Sans"/>
                <a:cs typeface="IBM Plex Sans"/>
                <a:sym typeface="IBM Plex Sans"/>
              </a:rPr>
              <a:t>Diagrams check each other</a:t>
            </a:r>
            <a:endParaRPr b="0" i="0" sz="1600" u="none" cap="none" strike="noStrike">
              <a:solidFill>
                <a:schemeClr val="dk1"/>
              </a:solidFill>
              <a:latin typeface="IBM Plex Sans"/>
              <a:ea typeface="IBM Plex Sans"/>
              <a:cs typeface="IBM Plex Sans"/>
              <a:sym typeface="IBM Plex Sans"/>
            </a:endParaRPr>
          </a:p>
        </p:txBody>
      </p:sp>
      <p:sp>
        <p:nvSpPr>
          <p:cNvPr id="469" name="Google Shape;469;p18"/>
          <p:cNvSpPr/>
          <p:nvPr/>
        </p:nvSpPr>
        <p:spPr>
          <a:xfrm>
            <a:off x="1417340" y="2921000"/>
            <a:ext cx="4819020"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2118"/>
              </a:buClr>
              <a:buSzPts val="1400"/>
              <a:buFont typeface="IBM Plex Sans"/>
              <a:buNone/>
            </a:pPr>
            <a:r>
              <a:rPr b="0" i="0" lang="en-US" sz="1400" u="none" cap="none" strike="noStrike">
                <a:solidFill>
                  <a:srgbClr val="2A2118"/>
                </a:solidFill>
                <a:latin typeface="IBM Plex Sans"/>
                <a:ea typeface="IBM Plex Sans"/>
                <a:cs typeface="IBM Plex Sans"/>
                <a:sym typeface="IBM Plex Sans"/>
              </a:rPr>
              <a:t>Matching the sequence diagrams to the box diagram kept names and arrows consistent.</a:t>
            </a:r>
            <a:endParaRPr b="0" i="0" sz="1400" u="none" cap="none" strike="noStrike">
              <a:solidFill>
                <a:schemeClr val="dk1"/>
              </a:solidFill>
              <a:latin typeface="IBM Plex Sans"/>
              <a:ea typeface="IBM Plex Sans"/>
              <a:cs typeface="IBM Plex Sans"/>
              <a:sym typeface="IBM Plex Sans"/>
            </a:endParaRPr>
          </a:p>
        </p:txBody>
      </p:sp>
      <p:sp>
        <p:nvSpPr>
          <p:cNvPr id="470" name="Google Shape;470;p18"/>
          <p:cNvSpPr/>
          <p:nvPr/>
        </p:nvSpPr>
        <p:spPr>
          <a:xfrm>
            <a:off x="6096000" y="2628900"/>
            <a:ext cx="512088" cy="812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5181E"/>
              </a:buClr>
              <a:buSzPts val="2800"/>
              <a:buFont typeface="JetBrains Mono"/>
              <a:buNone/>
            </a:pPr>
            <a:r>
              <a:rPr b="1" i="0" lang="en-US" sz="2800" u="none" cap="none" strike="noStrike">
                <a:solidFill>
                  <a:srgbClr val="15181E"/>
                </a:solidFill>
                <a:latin typeface="JetBrains Mono"/>
                <a:ea typeface="JetBrains Mono"/>
                <a:cs typeface="JetBrains Mono"/>
                <a:sym typeface="JetBrains Mono"/>
              </a:rPr>
              <a:t>04</a:t>
            </a:r>
            <a:endParaRPr b="0" i="0" sz="2800" u="none" cap="none" strike="noStrike">
              <a:solidFill>
                <a:schemeClr val="dk1"/>
              </a:solidFill>
              <a:latin typeface="IBM Plex Sans"/>
              <a:ea typeface="IBM Plex Sans"/>
              <a:cs typeface="IBM Plex Sans"/>
              <a:sym typeface="IBM Plex Sans"/>
            </a:endParaRPr>
          </a:p>
        </p:txBody>
      </p:sp>
      <p:sp>
        <p:nvSpPr>
          <p:cNvPr id="471" name="Google Shape;471;p18"/>
          <p:cNvSpPr/>
          <p:nvPr/>
        </p:nvSpPr>
        <p:spPr>
          <a:xfrm>
            <a:off x="6700540" y="2628900"/>
            <a:ext cx="4819020" cy="266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5181E"/>
              </a:buClr>
              <a:buSzPts val="1600"/>
              <a:buFont typeface="IBM Plex Sans"/>
              <a:buNone/>
            </a:pPr>
            <a:r>
              <a:rPr b="1" i="0" lang="en-US" sz="1600" u="none" cap="none" strike="noStrike">
                <a:solidFill>
                  <a:srgbClr val="15181E"/>
                </a:solidFill>
                <a:latin typeface="IBM Plex Sans"/>
                <a:ea typeface="IBM Plex Sans"/>
                <a:cs typeface="IBM Plex Sans"/>
                <a:sym typeface="IBM Plex Sans"/>
              </a:rPr>
              <a:t>AI explains, people decide</a:t>
            </a:r>
            <a:endParaRPr b="0" i="0" sz="1600" u="none" cap="none" strike="noStrike">
              <a:solidFill>
                <a:schemeClr val="dk1"/>
              </a:solidFill>
              <a:latin typeface="IBM Plex Sans"/>
              <a:ea typeface="IBM Plex Sans"/>
              <a:cs typeface="IBM Plex Sans"/>
              <a:sym typeface="IBM Plex Sans"/>
            </a:endParaRPr>
          </a:p>
        </p:txBody>
      </p:sp>
      <p:sp>
        <p:nvSpPr>
          <p:cNvPr id="472" name="Google Shape;472;p18"/>
          <p:cNvSpPr/>
          <p:nvPr/>
        </p:nvSpPr>
        <p:spPr>
          <a:xfrm>
            <a:off x="6700540" y="2921000"/>
            <a:ext cx="4819020" cy="520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2118"/>
              </a:buClr>
              <a:buSzPts val="1400"/>
              <a:buFont typeface="IBM Plex Sans"/>
              <a:buNone/>
            </a:pPr>
            <a:r>
              <a:rPr b="0" i="0" lang="en-US" sz="1400" u="none" cap="none" strike="noStrike">
                <a:solidFill>
                  <a:srgbClr val="2A2118"/>
                </a:solidFill>
                <a:latin typeface="IBM Plex Sans"/>
                <a:ea typeface="IBM Plex Sans"/>
                <a:cs typeface="IBM Plex Sans"/>
                <a:sym typeface="IBM Plex Sans"/>
              </a:rPr>
              <a:t>Clear prompts and source checks made the AI useful; unchecked answers were too generic.</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7" name="Shape 477"/>
        <p:cNvGrpSpPr/>
        <p:nvPr/>
      </p:nvGrpSpPr>
      <p:grpSpPr>
        <a:xfrm>
          <a:off x="0" y="0"/>
          <a:ext cx="0" cy="0"/>
          <a:chOff x="0" y="0"/>
          <a:chExt cx="0" cy="0"/>
        </a:xfrm>
      </p:grpSpPr>
      <p:sp>
        <p:nvSpPr>
          <p:cNvPr id="478" name="Google Shape;478;p19"/>
          <p:cNvSpPr/>
          <p:nvPr/>
        </p:nvSpPr>
        <p:spPr>
          <a:xfrm>
            <a:off x="812800" y="812800"/>
            <a:ext cx="10883392" cy="2349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A35E"/>
              </a:buClr>
              <a:buSzPts val="1200"/>
              <a:buFont typeface="JetBrains Mono"/>
              <a:buNone/>
            </a:pPr>
            <a:r>
              <a:rPr b="0" i="0" lang="en-US" spc="100" sz="1200" u="none" cap="none" strike="noStrike">
                <a:solidFill>
                  <a:srgbClr val="F0A35E"/>
                </a:solidFill>
                <a:latin typeface="JetBrains Mono"/>
                <a:ea typeface="JetBrains Mono"/>
                <a:cs typeface="JetBrains Mono"/>
                <a:sym typeface="JetBrains Mono"/>
              </a:rPr>
              <a:t>SOURCES</a:t>
            </a:r>
            <a:endParaRPr b="0" i="0" sz="1200" u="none" cap="none" strike="noStrike">
              <a:solidFill>
                <a:schemeClr val="dk1"/>
              </a:solidFill>
              <a:latin typeface="IBM Plex Sans"/>
              <a:ea typeface="IBM Plex Sans"/>
              <a:cs typeface="IBM Plex Sans"/>
              <a:sym typeface="IBM Plex Sans"/>
            </a:endParaRPr>
          </a:p>
        </p:txBody>
      </p:sp>
      <p:sp>
        <p:nvSpPr>
          <p:cNvPr id="479" name="Google Shape;479;p19"/>
          <p:cNvSpPr txBox="1"/>
          <p:nvPr>
            <p:ph type="title"/>
          </p:nvPr>
        </p:nvSpPr>
        <p:spPr>
          <a:xfrm>
            <a:off x="812800" y="1098550"/>
            <a:ext cx="10883392" cy="41275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4F0E8"/>
              </a:buClr>
              <a:buSzPct val="100000"/>
              <a:buFont typeface="IBM Plex Sans"/>
              <a:buNone/>
            </a:pPr>
            <a:r>
              <a:rPr b="1" i="0" lang="en-US" sz="2800">
                <a:solidFill>
                  <a:schemeClr val="dk1"/>
                </a:solidFill>
                <a:latin typeface="IBM Plex Sans"/>
                <a:ea typeface="IBM Plex Sans"/>
                <a:cs typeface="IBM Plex Sans"/>
                <a:sym typeface="IBM Plex Sans"/>
              </a:rPr>
              <a:t>References</a:t>
            </a:r>
            <a:endParaRPr sz="2800">
              <a:solidFill>
                <a:schemeClr val="dk1"/>
              </a:solidFill>
            </a:endParaRPr>
          </a:p>
        </p:txBody>
      </p:sp>
      <p:sp>
        <p:nvSpPr>
          <p:cNvPr id="480" name="Google Shape;480;p19"/>
          <p:cNvSpPr/>
          <p:nvPr/>
        </p:nvSpPr>
        <p:spPr>
          <a:xfrm>
            <a:off x="812800" y="1790700"/>
            <a:ext cx="5441696"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[1] WezTerm, "What is a Terminal?" — wezterm.org/what-is-a-terminal.html</a:t>
            </a:r>
            <a:endParaRPr b="0" i="0" sz="1200" u="none" cap="none" strike="noStrike">
              <a:solidFill>
                <a:schemeClr val="dk1"/>
              </a:solidFill>
              <a:latin typeface="IBM Plex Sans"/>
              <a:ea typeface="IBM Plex Sans"/>
              <a:cs typeface="IBM Plex Sans"/>
              <a:sym typeface="IBM Plex Sans"/>
            </a:endParaRPr>
          </a:p>
        </p:txBody>
      </p:sp>
      <p:sp>
        <p:nvSpPr>
          <p:cNvPr id="481" name="Google Shape;481;p19"/>
          <p:cNvSpPr/>
          <p:nvPr/>
        </p:nvSpPr>
        <p:spPr>
          <a:xfrm>
            <a:off x="6096000" y="1790700"/>
            <a:ext cx="5441696"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[8] WezTerm, "Shell Integration" — wezterm.org/shell-integration.html</a:t>
            </a:r>
            <a:endParaRPr b="0" i="0" sz="1200" u="none" cap="none" strike="noStrike">
              <a:solidFill>
                <a:schemeClr val="dk1"/>
              </a:solidFill>
              <a:latin typeface="IBM Plex Sans"/>
              <a:ea typeface="IBM Plex Sans"/>
              <a:cs typeface="IBM Plex Sans"/>
              <a:sym typeface="IBM Plex Sans"/>
            </a:endParaRPr>
          </a:p>
        </p:txBody>
      </p:sp>
      <p:sp>
        <p:nvSpPr>
          <p:cNvPr id="482" name="Google Shape;482;p19"/>
          <p:cNvSpPr/>
          <p:nvPr/>
        </p:nvSpPr>
        <p:spPr>
          <a:xfrm>
            <a:off x="812800" y="1987550"/>
            <a:ext cx="5441696"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[2] WezTerm, "Multiplexing" — wezterm.org/multiplexing.html</a:t>
            </a:r>
            <a:endParaRPr b="0" i="0" sz="1200" u="none" cap="none" strike="noStrike">
              <a:solidFill>
                <a:schemeClr val="dk1"/>
              </a:solidFill>
              <a:latin typeface="IBM Plex Sans"/>
              <a:ea typeface="IBM Plex Sans"/>
              <a:cs typeface="IBM Plex Sans"/>
              <a:sym typeface="IBM Plex Sans"/>
            </a:endParaRPr>
          </a:p>
        </p:txBody>
      </p:sp>
      <p:sp>
        <p:nvSpPr>
          <p:cNvPr id="483" name="Google Shape;483;p19"/>
          <p:cNvSpPr/>
          <p:nvPr/>
        </p:nvSpPr>
        <p:spPr>
          <a:xfrm>
            <a:off x="6096000" y="1987550"/>
            <a:ext cx="5441696"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[9] WezTerm contributors, mux/src/lib.rs — github.com/wezterm/wezterm</a:t>
            </a:r>
            <a:endParaRPr b="0" i="0" sz="1200" u="none" cap="none" strike="noStrike">
              <a:solidFill>
                <a:schemeClr val="dk1"/>
              </a:solidFill>
              <a:latin typeface="IBM Plex Sans"/>
              <a:ea typeface="IBM Plex Sans"/>
              <a:cs typeface="IBM Plex Sans"/>
              <a:sym typeface="IBM Plex Sans"/>
            </a:endParaRPr>
          </a:p>
        </p:txBody>
      </p:sp>
      <p:sp>
        <p:nvSpPr>
          <p:cNvPr id="484" name="Google Shape;484;p19"/>
          <p:cNvSpPr/>
          <p:nvPr/>
        </p:nvSpPr>
        <p:spPr>
          <a:xfrm>
            <a:off x="812800" y="2184400"/>
            <a:ext cx="5441696" cy="4191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[3] WezTerm, "Pane Object" — wezterm.org/config/lua/pane/</a:t>
            </a:r>
            <a:endParaRPr b="0" i="0" sz="1200" u="none" cap="none" strike="noStrike">
              <a:solidFill>
                <a:schemeClr val="dk1"/>
              </a:solidFill>
              <a:latin typeface="IBM Plex Sans"/>
              <a:ea typeface="IBM Plex Sans"/>
              <a:cs typeface="IBM Plex Sans"/>
              <a:sym typeface="IBM Plex Sans"/>
            </a:endParaRPr>
          </a:p>
        </p:txBody>
      </p:sp>
      <p:sp>
        <p:nvSpPr>
          <p:cNvPr id="485" name="Google Shape;485;p19"/>
          <p:cNvSpPr/>
          <p:nvPr/>
        </p:nvSpPr>
        <p:spPr>
          <a:xfrm>
            <a:off x="6096000" y="2184400"/>
            <a:ext cx="5441696" cy="4191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[10] WezTerm contributors, source repository — github.com/wezterm/wezterm</a:t>
            </a:r>
            <a:endParaRPr b="0" i="0" sz="1200" u="none" cap="none" strike="noStrike">
              <a:solidFill>
                <a:schemeClr val="dk1"/>
              </a:solidFill>
              <a:latin typeface="IBM Plex Sans"/>
              <a:ea typeface="IBM Plex Sans"/>
              <a:cs typeface="IBM Plex Sans"/>
              <a:sym typeface="IBM Plex Sans"/>
            </a:endParaRPr>
          </a:p>
        </p:txBody>
      </p:sp>
      <p:sp>
        <p:nvSpPr>
          <p:cNvPr id="486" name="Google Shape;486;p19"/>
          <p:cNvSpPr/>
          <p:nvPr/>
        </p:nvSpPr>
        <p:spPr>
          <a:xfrm>
            <a:off x="812800" y="2578100"/>
            <a:ext cx="5441696" cy="4191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[4] WezTerm, "wezterm.mux Module" — wezterm.org/config/lua/wezterm.mux/</a:t>
            </a:r>
            <a:endParaRPr b="0" i="0" sz="1200" u="none" cap="none" strike="noStrike">
              <a:solidFill>
                <a:schemeClr val="dk1"/>
              </a:solidFill>
              <a:latin typeface="IBM Plex Sans"/>
              <a:ea typeface="IBM Plex Sans"/>
              <a:cs typeface="IBM Plex Sans"/>
              <a:sym typeface="IBM Plex Sans"/>
            </a:endParaRPr>
          </a:p>
        </p:txBody>
      </p:sp>
      <p:sp>
        <p:nvSpPr>
          <p:cNvPr id="487" name="Google Shape;487;p19"/>
          <p:cNvSpPr/>
          <p:nvPr/>
        </p:nvSpPr>
        <p:spPr>
          <a:xfrm>
            <a:off x="6096000" y="2578100"/>
            <a:ext cx="5441696" cy="4191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[11] WezTerm, "Configuration" — wezterm.org/config/files.html</a:t>
            </a:r>
            <a:endParaRPr b="0" i="0" sz="1200" u="none" cap="none" strike="noStrike">
              <a:solidFill>
                <a:schemeClr val="dk1"/>
              </a:solidFill>
              <a:latin typeface="IBM Plex Sans"/>
              <a:ea typeface="IBM Plex Sans"/>
              <a:cs typeface="IBM Plex Sans"/>
              <a:sym typeface="IBM Plex Sans"/>
            </a:endParaRPr>
          </a:p>
        </p:txBody>
      </p:sp>
      <p:sp>
        <p:nvSpPr>
          <p:cNvPr id="488" name="Google Shape;488;p19"/>
          <p:cNvSpPr/>
          <p:nvPr/>
        </p:nvSpPr>
        <p:spPr>
          <a:xfrm>
            <a:off x="812800" y="2971800"/>
            <a:ext cx="5441696" cy="4191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[5] WezTerm, "SplitPane" — wezterm.org/config/lua/keyassignment/SplitPane.html</a:t>
            </a:r>
            <a:endParaRPr b="0" i="0" sz="1200" u="none" cap="none" strike="noStrike">
              <a:solidFill>
                <a:schemeClr val="dk1"/>
              </a:solidFill>
              <a:latin typeface="IBM Plex Sans"/>
              <a:ea typeface="IBM Plex Sans"/>
              <a:cs typeface="IBM Plex Sans"/>
              <a:sym typeface="IBM Plex Sans"/>
            </a:endParaRPr>
          </a:p>
        </p:txBody>
      </p:sp>
      <p:sp>
        <p:nvSpPr>
          <p:cNvPr id="489" name="Google Shape;489;p19"/>
          <p:cNvSpPr/>
          <p:nvPr/>
        </p:nvSpPr>
        <p:spPr>
          <a:xfrm>
            <a:off x="6096000" y="2971800"/>
            <a:ext cx="5441696" cy="4191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[12] W. Furlong, reply in discussion #3181 (Mar 2, 2023) — GitHub</a:t>
            </a:r>
            <a:endParaRPr b="0" i="0" sz="1200" u="none" cap="none" strike="noStrike">
              <a:solidFill>
                <a:schemeClr val="dk1"/>
              </a:solidFill>
              <a:latin typeface="IBM Plex Sans"/>
              <a:ea typeface="IBM Plex Sans"/>
              <a:cs typeface="IBM Plex Sans"/>
              <a:sym typeface="IBM Plex Sans"/>
            </a:endParaRPr>
          </a:p>
        </p:txBody>
      </p:sp>
      <p:sp>
        <p:nvSpPr>
          <p:cNvPr id="490" name="Google Shape;490;p19"/>
          <p:cNvSpPr/>
          <p:nvPr/>
        </p:nvSpPr>
        <p:spPr>
          <a:xfrm>
            <a:off x="812800" y="3365500"/>
            <a:ext cx="5441696"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[6] WezTerm, "Escape Sequences" — wezterm.org/escape-sequences.html</a:t>
            </a:r>
            <a:endParaRPr b="0" i="0" sz="1200" u="none" cap="none" strike="noStrike">
              <a:solidFill>
                <a:schemeClr val="dk1"/>
              </a:solidFill>
              <a:latin typeface="IBM Plex Sans"/>
              <a:ea typeface="IBM Plex Sans"/>
              <a:cs typeface="IBM Plex Sans"/>
              <a:sym typeface="IBM Plex Sans"/>
            </a:endParaRPr>
          </a:p>
        </p:txBody>
      </p:sp>
      <p:sp>
        <p:nvSpPr>
          <p:cNvPr id="491" name="Google Shape;491;p19"/>
          <p:cNvSpPr/>
          <p:nvPr/>
        </p:nvSpPr>
        <p:spPr>
          <a:xfrm>
            <a:off x="6096000" y="3365500"/>
            <a:ext cx="5441696" cy="2222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[13] WezTerm, "wezterm cli" — wezterm.org/cli/cli/index.html</a:t>
            </a:r>
            <a:endParaRPr b="0" i="0" sz="1200" u="none" cap="none" strike="noStrike">
              <a:solidFill>
                <a:schemeClr val="dk1"/>
              </a:solidFill>
              <a:latin typeface="IBM Plex Sans"/>
              <a:ea typeface="IBM Plex Sans"/>
              <a:cs typeface="IBM Plex Sans"/>
              <a:sym typeface="IBM Plex Sans"/>
            </a:endParaRPr>
          </a:p>
        </p:txBody>
      </p:sp>
      <p:sp>
        <p:nvSpPr>
          <p:cNvPr id="492" name="Google Shape;492;p19"/>
          <p:cNvSpPr/>
          <p:nvPr/>
        </p:nvSpPr>
        <p:spPr>
          <a:xfrm>
            <a:off x="812800" y="3562350"/>
            <a:ext cx="5441696" cy="4191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[7] WezTerm, "Keyboard Concepts" — wezterm.org/config/keyboard-concepts.html</a:t>
            </a:r>
            <a:endParaRPr b="0" i="0" sz="1200" u="none" cap="none" strike="noStrike">
              <a:solidFill>
                <a:schemeClr val="dk1"/>
              </a:solidFill>
              <a:latin typeface="IBM Plex Sans"/>
              <a:ea typeface="IBM Plex Sans"/>
              <a:cs typeface="IBM Plex Sans"/>
              <a:sym typeface="IBM Plex Sans"/>
            </a:endParaRPr>
          </a:p>
        </p:txBody>
      </p:sp>
      <p:sp>
        <p:nvSpPr>
          <p:cNvPr id="493" name="Google Shape;493;p19"/>
          <p:cNvSpPr/>
          <p:nvPr/>
        </p:nvSpPr>
        <p:spPr>
          <a:xfrm>
            <a:off x="6096000" y="3562350"/>
            <a:ext cx="5441696" cy="4191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B9BFCA"/>
              </a:buClr>
              <a:buSzPts val="1200"/>
              <a:buFont typeface="IBM Plex Sans"/>
              <a:buNone/>
            </a:pPr>
            <a:r>
              <a:rPr b="0" i="0" lang="en-US" sz="1200" u="none" cap="none" strike="noStrike">
                <a:solidFill>
                  <a:schemeClr val="dk1"/>
                </a:solidFill>
                <a:latin typeface="IBM Plex Sans"/>
                <a:ea typeface="IBM Plex Sans"/>
                <a:cs typeface="IBM Plex Sans"/>
                <a:sym typeface="IBM Plex Sans"/>
              </a:rPr>
              <a:t>[14] WezTerm, "Plugins" — wezterm.org/config/plugins.html</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onceptual Architecture of WezTerm">
  <a:themeElements>
    <a:clrScheme name="Conceptual Architecture of WezTerm">
      <a:dk1>
        <a:srgbClr val="1B1F27"/>
      </a:dk1>
      <a:lt1>
        <a:srgbClr val="F4F0E8"/>
      </a:lt1>
      <a:dk2>
        <a:srgbClr val="515357"/>
      </a:dk2>
      <a:lt2>
        <a:srgbClr val="DEDBD5"/>
      </a:lt2>
      <a:accent1>
        <a:srgbClr val="B5530F"/>
      </a:accent1>
      <a:accent2>
        <a:srgbClr val="F0A35E"/>
      </a:accent2>
      <a:accent3>
        <a:srgbClr val="8A4A12"/>
      </a:accent3>
      <a:accent4>
        <a:srgbClr val="E8964A"/>
      </a:accent4>
      <a:accent5>
        <a:srgbClr val="4A505C"/>
      </a:accent5>
      <a:accent6>
        <a:srgbClr val="B9BFC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nceptual Architecture of WezTerm">
  <a:themeElements>
    <a:clrScheme name="Conceptual Architecture of WezTerm">
      <a:dk1>
        <a:srgbClr val="1B1F27"/>
      </a:dk1>
      <a:lt1>
        <a:srgbClr val="F4F0E8"/>
      </a:lt1>
      <a:dk2>
        <a:srgbClr val="515357"/>
      </a:dk2>
      <a:lt2>
        <a:srgbClr val="DEDBD5"/>
      </a:lt2>
      <a:accent1>
        <a:srgbClr val="B5530F"/>
      </a:accent1>
      <a:accent2>
        <a:srgbClr val="F0A35E"/>
      </a:accent2>
      <a:accent3>
        <a:srgbClr val="8A4A12"/>
      </a:accent3>
      <a:accent4>
        <a:srgbClr val="E8964A"/>
      </a:accent4>
      <a:accent5>
        <a:srgbClr val="4A505C"/>
      </a:accent5>
      <a:accent6>
        <a:srgbClr val="B9BFC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2026-10-08T00:47:17Z</dcterms:created>
</cp:coreProperties>
</file>